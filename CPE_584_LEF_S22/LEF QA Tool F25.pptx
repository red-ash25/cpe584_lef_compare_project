
<file path=[Content_Types].xml><?xml version="1.0" encoding="utf-8"?>
<Types xmlns="http://schemas.openxmlformats.org/package/2006/content-types">
  <Default Extension="emf" ContentType="image/x-emf"/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55"/>
  </p:notesMasterIdLst>
  <p:handoutMasterIdLst>
    <p:handoutMasterId r:id="rId56"/>
  </p:handoutMasterIdLst>
  <p:sldIdLst>
    <p:sldId id="257" r:id="rId2"/>
    <p:sldId id="466" r:id="rId3"/>
    <p:sldId id="511" r:id="rId4"/>
    <p:sldId id="518" r:id="rId5"/>
    <p:sldId id="509" r:id="rId6"/>
    <p:sldId id="499" r:id="rId7"/>
    <p:sldId id="517" r:id="rId8"/>
    <p:sldId id="512" r:id="rId9"/>
    <p:sldId id="526" r:id="rId10"/>
    <p:sldId id="436" r:id="rId11"/>
    <p:sldId id="527" r:id="rId12"/>
    <p:sldId id="514" r:id="rId13"/>
    <p:sldId id="519" r:id="rId14"/>
    <p:sldId id="469" r:id="rId15"/>
    <p:sldId id="556" r:id="rId16"/>
    <p:sldId id="480" r:id="rId17"/>
    <p:sldId id="501" r:id="rId18"/>
    <p:sldId id="553" r:id="rId19"/>
    <p:sldId id="554" r:id="rId20"/>
    <p:sldId id="541" r:id="rId21"/>
    <p:sldId id="539" r:id="rId22"/>
    <p:sldId id="555" r:id="rId23"/>
    <p:sldId id="545" r:id="rId24"/>
    <p:sldId id="557" r:id="rId25"/>
    <p:sldId id="558" r:id="rId26"/>
    <p:sldId id="559" r:id="rId27"/>
    <p:sldId id="560" r:id="rId28"/>
    <p:sldId id="561" r:id="rId29"/>
    <p:sldId id="547" r:id="rId30"/>
    <p:sldId id="481" r:id="rId31"/>
    <p:sldId id="494" r:id="rId32"/>
    <p:sldId id="528" r:id="rId33"/>
    <p:sldId id="520" r:id="rId34"/>
    <p:sldId id="521" r:id="rId35"/>
    <p:sldId id="523" r:id="rId36"/>
    <p:sldId id="535" r:id="rId37"/>
    <p:sldId id="495" r:id="rId38"/>
    <p:sldId id="504" r:id="rId39"/>
    <p:sldId id="482" r:id="rId40"/>
    <p:sldId id="524" r:id="rId41"/>
    <p:sldId id="525" r:id="rId42"/>
    <p:sldId id="538" r:id="rId43"/>
    <p:sldId id="529" r:id="rId44"/>
    <p:sldId id="500" r:id="rId45"/>
    <p:sldId id="498" r:id="rId46"/>
    <p:sldId id="531" r:id="rId47"/>
    <p:sldId id="530" r:id="rId48"/>
    <p:sldId id="479" r:id="rId49"/>
    <p:sldId id="424" r:id="rId50"/>
    <p:sldId id="426" r:id="rId51"/>
    <p:sldId id="427" r:id="rId52"/>
    <p:sldId id="532" r:id="rId53"/>
    <p:sldId id="536" r:id="rId54"/>
  </p:sldIdLst>
  <p:sldSz cx="12192000" cy="6858000"/>
  <p:notesSz cx="6858000" cy="9144000"/>
  <p:embeddedFontLst>
    <p:embeddedFont>
      <p:font typeface="Cambria" panose="02040503050406030204" pitchFamily="18" charset="0"/>
      <p:regular r:id="rId57"/>
      <p:bold r:id="rId58"/>
      <p:italic r:id="rId59"/>
      <p:boldItalic r:id="rId60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15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85328" autoAdjust="0"/>
  </p:normalViewPr>
  <p:slideViewPr>
    <p:cSldViewPr snapToGrid="0">
      <p:cViewPr varScale="1">
        <p:scale>
          <a:sx n="54" d="100"/>
          <a:sy n="54" d="100"/>
        </p:scale>
        <p:origin x="1148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48" d="100"/>
          <a:sy n="48" d="100"/>
        </p:scale>
        <p:origin x="2752" y="32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notesMaster" Target="notesMasters/notesMaster1.xml"/><Relationship Id="rId63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font" Target="fonts/font2.fntdata"/><Relationship Id="rId5" Type="http://schemas.openxmlformats.org/officeDocument/2006/relationships/slide" Target="slides/slide4.xml"/><Relationship Id="rId61" Type="http://schemas.openxmlformats.org/officeDocument/2006/relationships/presProps" Target="presProps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handoutMaster" Target="handoutMasters/handoutMaster1.xml"/><Relationship Id="rId64" Type="http://schemas.openxmlformats.org/officeDocument/2006/relationships/tableStyles" Target="tableStyle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font" Target="fonts/font3.fntdata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font" Target="fonts/font1.fntdata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font" Target="fonts/font4.fntdata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069D70F4-B57F-7C3F-DB66-07B5CD32EBFB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2F1236C-8408-B2CF-CD6B-335B9E7C1504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6C08B83-071E-474E-B6A8-23E5A7F727E7}" type="datetimeFigureOut">
              <a:rPr lang="en-US" smtClean="0"/>
              <a:t>12/19/2025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934D477-02FA-0628-1446-6326BBBDB7C5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4C83169-B85C-C214-53E0-F9DDBE420455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DA1FD6A-4C56-411F-BACE-355709F6961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242040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01B3498-8113-4ED3-923D-998484EF3BF1}" type="datetimeFigureOut">
              <a:rPr lang="en-US" smtClean="0"/>
              <a:t>12/19/2025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6BC8253-1D9E-411B-B2AD-3A5567BC5C3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286311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6BC8253-1D9E-411B-B2AD-3A5567BC5C30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653857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3981062-4AC5-4C03-94AB-1EF547F203C2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736993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1602DB-67DB-D1DB-A03F-310EFA1EC6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F8B1C18-B05B-87F3-8D4B-9B3327CD787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9FDF0E7-2503-85D0-2F6B-ED37386F5C3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Bobby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DA57B62-55B4-55EA-970F-52E8CE53B1F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3981062-4AC5-4C03-94AB-1EF547F203C2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848695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7953B58-A5AF-47A8-84E9-927AC127368E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835329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Define what the error is , what caused it before and how </a:t>
            </a:r>
            <a:r>
              <a:rPr lang="en-US" err="1"/>
              <a:t>i</a:t>
            </a:r>
            <a:r>
              <a:rPr lang="en-US"/>
              <a:t> fixed it up. Highlight the errors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7953B58-A5AF-47A8-84E9-927AC127368E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495028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33C948-F956-0DA6-63A9-C13CEF5BA2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0CF8AF7-1258-E8CA-6439-A4631CF534B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F177708-1415-8BB5-36D5-7237CA44604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FFE90D3-09BE-4611-A69D-97F0A2263EF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7953B58-A5AF-47A8-84E9-927AC127368E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972007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33CBCD-8910-7E74-08CE-779A5E23A7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6BB129B-78D9-B3C5-4177-D1D3182E0C0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E55E97D-E016-4794-8E84-9E58EF2EA9F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961F75D-FFE7-CBCE-8E67-641CCC3EFB9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7953B58-A5AF-47A8-84E9-927AC127368E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292464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7953B58-A5AF-47A8-84E9-927AC127368E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599242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3981062-4AC5-4C03-94AB-1EF547F203C2}" type="slidenum">
              <a:rPr lang="en-US" smtClean="0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54333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3981062-4AC5-4C03-94AB-1EF547F203C2}" type="slidenum">
              <a:rPr lang="en-US" smtClean="0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402756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3981062-4AC5-4C03-94AB-1EF547F203C2}" type="slidenum">
              <a:rPr lang="en-US" smtClean="0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614240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i="1" dirty="0">
              <a:latin typeface="Times New Roman"/>
              <a:cs typeface="Times New Roman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3981062-4AC5-4C03-94AB-1EF547F203C2}" type="slidenum">
              <a:rPr lang="en-US" smtClean="0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670067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A13E92-EA4D-D183-A055-F2222EE9967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FB6057D-72CE-66AC-E4FB-B23010E0A78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20CDF37-718C-AD82-53BE-AE66A0B31A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CF4AD2-523F-46E0-B54C-81C1FB8C9417}" type="datetimeFigureOut">
              <a:rPr lang="en-US" smtClean="0"/>
              <a:t>12/19/2025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E29D86-2901-7B26-0F82-1942B7C92F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285C06D-E9AD-B900-ED4A-6BF8C233BD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1DA2D7-94E5-4AC5-ADDD-1C09E128ED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195630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7B45B6-B8EB-C0A3-EBBA-E9F71550BD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F10F9B6-9AB9-DED1-AF46-9179494C200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1BBD515-D5D5-5BEC-406E-B73D91C416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CF4AD2-523F-46E0-B54C-81C1FB8C9417}" type="datetimeFigureOut">
              <a:rPr lang="en-US" smtClean="0"/>
              <a:t>12/19/2025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7123B91-CAE5-711A-A2C1-F2FBCA5688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44D7DC5-7FCF-CF4A-9B0B-C91B69BC5C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1DA2D7-94E5-4AC5-ADDD-1C09E128ED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764346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A6A3F0-5A21-382E-1C75-4E3471203A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7E0A270-AFF7-46C6-6496-B5F83EAE464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C69DFBA-1CC7-C05C-D6B3-910F283EF7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CF4AD2-523F-46E0-B54C-81C1FB8C9417}" type="datetimeFigureOut">
              <a:rPr lang="en-US" smtClean="0"/>
              <a:t>12/19/2025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DF97A2D-8794-884E-EDC2-B4544D096F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E9DD364-AC84-6891-4BED-7A87C81FCB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1DA2D7-94E5-4AC5-ADDD-1C09E128ED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185241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0C9343-8275-BC26-FB33-498974A123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A7B29F-A6D1-FDD6-CFEA-FDDB0433426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2DE1AB0-A806-A45A-6D55-F61BC54E7E8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A132122-C3C5-51B2-69A2-F4F821FA07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CF4AD2-523F-46E0-B54C-81C1FB8C9417}" type="datetimeFigureOut">
              <a:rPr lang="en-US" smtClean="0"/>
              <a:t>12/19/2025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AAAFF10-7B7E-0EDC-1FAD-2BECB1968A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64B01E9-34F1-9EB4-ACFA-7D4AE63835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1DA2D7-94E5-4AC5-ADDD-1C09E128ED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346220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D4CAE4-EF0C-2ACB-94AD-1451FC0B67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B17BB01-022A-AA05-6E6D-2658ACA7719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04CD71E-D24F-186B-1B68-FBDAD83C94B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83AD49F-8859-B47A-26E3-377C7AA014F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C097C9F-F952-077B-442E-BE1F9BB35BE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752E4D3-E7E2-D582-C31F-B2781AA4A0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CF4AD2-523F-46E0-B54C-81C1FB8C9417}" type="datetimeFigureOut">
              <a:rPr lang="en-US" smtClean="0"/>
              <a:t>12/19/2025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847BDAC-F136-2741-C875-9186B3DA01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C417A87-37B4-F207-9FA9-162D6171C7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1DA2D7-94E5-4AC5-ADDD-1C09E128ED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983287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5F59BF-5F34-8F4E-D259-E8FA3A7342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3F7D67E-C8CB-3F02-E406-7CE489A3B7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CF4AD2-523F-46E0-B54C-81C1FB8C9417}" type="datetimeFigureOut">
              <a:rPr lang="en-US" smtClean="0"/>
              <a:t>12/19/2025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495349C-8DDF-2CC2-9C00-9EA998A15C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0830FB1-CB6B-43C5-D6FA-A90CD82EE1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1DA2D7-94E5-4AC5-ADDD-1C09E128ED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988062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0F7F215-E90C-AD73-3A04-8C5ACA4ABE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CF4AD2-523F-46E0-B54C-81C1FB8C9417}" type="datetimeFigureOut">
              <a:rPr lang="en-US" smtClean="0"/>
              <a:t>12/19/2025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C3523E1-311E-047B-1993-089181DD8F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411565C-5B62-5709-26A0-99446EA420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1DA2D7-94E5-4AC5-ADDD-1C09E128ED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60038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A50B40-173B-DA1E-6A9C-DABADE8159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C971F9D-76F4-BB56-BE80-478656B36FF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760B0BA-01DF-6999-EA60-B989E5660E6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986CC21-31A6-AC85-8835-1887BFBE4A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CF4AD2-523F-46E0-B54C-81C1FB8C9417}" type="datetimeFigureOut">
              <a:rPr lang="en-US" smtClean="0"/>
              <a:t>12/19/2025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A5FAFE7-CCFD-3778-11DA-DC9067C026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C4EBD70-6B13-E1DC-309E-68B3E67226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1DA2D7-94E5-4AC5-ADDD-1C09E128ED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665514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B5685F-AF26-15DE-B52F-E0D1A5BBA5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4C210AE-9207-9482-FD47-AFE97F37356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33FB738-7B65-9E10-9DC4-67E8F1CC6CA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C8EF45F-939A-E50A-1C78-7426902D85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CF4AD2-523F-46E0-B54C-81C1FB8C9417}" type="datetimeFigureOut">
              <a:rPr lang="en-US" smtClean="0"/>
              <a:t>12/19/2025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FD4DFCF-AA16-893D-E03A-49ABFC5FEC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B862153-64BA-4AA7-EB05-5E47C606F2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1DA2D7-94E5-4AC5-ADDD-1C09E128ED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02028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6C0CDF-AFB2-C6AD-3FE0-4B1FD79F66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D604203-58F6-4766-57E5-17E2D5C046D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A215BB3-CC9D-DE3A-3709-30FFEF551C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CF4AD2-523F-46E0-B54C-81C1FB8C9417}" type="datetimeFigureOut">
              <a:rPr lang="en-US" smtClean="0"/>
              <a:t>12/19/2025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DC798DD-2B62-E78B-9F36-7D06D16301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A9F8F0-8734-D2C3-D15A-2AED6AB28D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1DA2D7-94E5-4AC5-ADDD-1C09E128ED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240718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8770919-5D43-9061-E420-79736815CB0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367F1E0-449D-E939-2AF3-45C92ED300A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FCAC215-3407-8C1C-9416-A47C8E9DFB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CF4AD2-523F-46E0-B54C-81C1FB8C9417}" type="datetimeFigureOut">
              <a:rPr lang="en-US" smtClean="0"/>
              <a:t>12/19/2025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4093865-F0F9-5844-0B00-4A7D3B35B6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12BD0FA-157E-7AFD-886A-F65D5FA007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1DA2D7-94E5-4AC5-ADDD-1C09E128ED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947226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F2931AF8-A450-440A-B050-E1EB29E97C0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4465" y="681036"/>
            <a:ext cx="11543070" cy="5811204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defRPr>
            </a:lvl1pPr>
            <a:lvl2pPr>
              <a:defRPr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defRPr>
            </a:lvl2pPr>
            <a:lvl3pPr>
              <a:defRPr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defRPr>
            </a:lvl3pPr>
            <a:lvl4pPr>
              <a:defRPr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defRPr>
            </a:lvl4pPr>
            <a:lvl5pPr>
              <a:defRPr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6">
            <a:extLst>
              <a:ext uri="{FF2B5EF4-FFF2-40B4-BE49-F238E27FC236}">
                <a16:creationId xmlns:a16="http://schemas.microsoft.com/office/drawing/2014/main" id="{EEA2A226-C158-4094-BD22-E675EE7B497A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24465" y="0"/>
            <a:ext cx="11543070" cy="681036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4000" b="1">
                <a:solidFill>
                  <a:srgbClr val="0070C0"/>
                </a:solidFill>
                <a:latin typeface="Cambria" panose="02040503050406030204" pitchFamily="18" charset="0"/>
                <a:ea typeface="Cambria" panose="02040503050406030204" pitchFamily="18" charset="0"/>
              </a:defRPr>
            </a:lvl1pPr>
          </a:lstStyle>
          <a:p>
            <a:pPr lvl="0"/>
            <a:r>
              <a:rPr lang="en-US"/>
              <a:t>Title</a:t>
            </a:r>
          </a:p>
        </p:txBody>
      </p:sp>
    </p:spTree>
    <p:extLst>
      <p:ext uri="{BB962C8B-B14F-4D97-AF65-F5344CB8AC3E}">
        <p14:creationId xmlns:p14="http://schemas.microsoft.com/office/powerpoint/2010/main" val="152974373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93C8DCE-53CE-5B40-0926-01EA07F4EF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E756926-4AC3-D1E4-C30B-0B1EC258386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4013CDE-80E5-A53A-A35D-2D8BBD554BA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0CF4AD2-523F-46E0-B54C-81C1FB8C9417}" type="datetimeFigureOut">
              <a:rPr lang="en-US" smtClean="0"/>
              <a:t>12/19/2025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D865153-B409-B94A-A0C4-06B37BFA8D9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B32622-9E40-0BA3-DC9E-F2E6B9CCDB4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81DA2D7-94E5-4AC5-ADDD-1C09E128ED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91764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pngall.com/university-of-kentucky-logo-png/download/162170" TargetMode="Externa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emf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7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hyperlink" Target="https://si2.org/" TargetMode="External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2E7CE3-B88C-2A4F-696E-454BF472C09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>
                <a:solidFill>
                  <a:srgbClr val="0070C0"/>
                </a:solidFill>
                <a:latin typeface="+mn-lt"/>
                <a:ea typeface="Cambria" panose="02040503050406030204" pitchFamily="18" charset="0"/>
              </a:rPr>
              <a:t>LEF Quality Assurance Tool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A0C6D35-AF76-A611-0D67-ABBDF07A04D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>
                <a:ea typeface="Cambria"/>
              </a:rPr>
              <a:t>Abrahim Hamdan</a:t>
            </a:r>
          </a:p>
          <a:p>
            <a:r>
              <a:rPr lang="en-US" dirty="0">
                <a:ea typeface="Cambria"/>
              </a:rPr>
              <a:t>Ash Huang</a:t>
            </a:r>
          </a:p>
          <a:p>
            <a:r>
              <a:rPr lang="en-US" dirty="0">
                <a:ea typeface="Cambria"/>
              </a:rPr>
              <a:t>Benjamin Perry </a:t>
            </a:r>
          </a:p>
          <a:p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34FC26D-4F22-A719-8467-A51E557EBDF8}"/>
              </a:ext>
            </a:extLst>
          </p:cNvPr>
          <p:cNvSpPr txBox="1"/>
          <p:nvPr/>
        </p:nvSpPr>
        <p:spPr>
          <a:xfrm>
            <a:off x="597624" y="239486"/>
            <a:ext cx="185275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0070C0"/>
                </a:solidFill>
                <a:ea typeface="Cambria" panose="02040503050406030204" pitchFamily="18" charset="0"/>
              </a:rPr>
              <a:t>ECE Department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862B076-88FC-CDB1-663E-56ED4045EFF1}"/>
              </a:ext>
            </a:extLst>
          </p:cNvPr>
          <p:cNvSpPr txBox="1"/>
          <p:nvPr/>
        </p:nvSpPr>
        <p:spPr>
          <a:xfrm>
            <a:off x="8817765" y="239486"/>
            <a:ext cx="314361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>
                <a:solidFill>
                  <a:srgbClr val="0070C0"/>
                </a:solidFill>
                <a:ea typeface="Cambria" panose="02040503050406030204" pitchFamily="18" charset="0"/>
              </a:rPr>
              <a:t>EE/CPE584 Introduction VLSI</a:t>
            </a:r>
          </a:p>
        </p:txBody>
      </p:sp>
      <p:pic>
        <p:nvPicPr>
          <p:cNvPr id="7" name="Picture 6" descr="A blue and white letter x on a black background&#10;&#10;AI-generated content may be incorrect.">
            <a:extLst>
              <a:ext uri="{FF2B5EF4-FFF2-40B4-BE49-F238E27FC236}">
                <a16:creationId xmlns:a16="http://schemas.microsoft.com/office/drawing/2014/main" id="{BED10CA2-B80D-074F-0D50-51FC72EDE311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0" y="4732640"/>
            <a:ext cx="3777343" cy="2123772"/>
          </a:xfrm>
          <a:prstGeom prst="rect">
            <a:avLst/>
          </a:prstGeom>
        </p:spPr>
      </p:pic>
      <p:pic>
        <p:nvPicPr>
          <p:cNvPr id="1026" name="Picture 2" descr="Infineon Technologies Austria - Wikipedia">
            <a:extLst>
              <a:ext uri="{FF2B5EF4-FFF2-40B4-BE49-F238E27FC236}">
                <a16:creationId xmlns:a16="http://schemas.microsoft.com/office/drawing/2014/main" id="{C1FB34E2-32C3-2DB6-F855-B734487DE15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8754201" y="4937125"/>
            <a:ext cx="3219450" cy="14192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4735558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3F0CFAA-DCB5-4A2F-0621-30596079F2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CEE1AB-5E79-4041-BFFA-F9F6DE0A4A26}" type="datetime1">
              <a:rPr lang="en-US" sz="1400" smtClean="0">
                <a:solidFill>
                  <a:srgbClr val="0070C0"/>
                </a:solidFill>
                <a:ea typeface="Cambria" panose="02040503050406030204" pitchFamily="18" charset="0"/>
              </a:rPr>
              <a:t>12/19/2025</a:t>
            </a:fld>
            <a:endParaRPr lang="en-US" sz="1400" dirty="0">
              <a:solidFill>
                <a:srgbClr val="0070C0"/>
              </a:solidFill>
              <a:ea typeface="Cambria" panose="02040503050406030204" pitchFamily="18" charset="0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AF3D327-4EAB-E4A7-D02E-17195EBEDA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8A6112-8193-45F5-863E-CC8218595965}" type="slidenum">
              <a:rPr lang="en-US" sz="1400" smtClean="0">
                <a:solidFill>
                  <a:srgbClr val="0070C0"/>
                </a:solidFill>
                <a:ea typeface="Cambria" panose="02040503050406030204" pitchFamily="18" charset="0"/>
              </a:rPr>
              <a:t>2</a:t>
            </a:fld>
            <a:endParaRPr lang="en-US" sz="1400">
              <a:solidFill>
                <a:srgbClr val="0070C0"/>
              </a:solidFill>
              <a:ea typeface="Cambria" panose="02040503050406030204" pitchFamily="18" charset="0"/>
            </a:endParaRP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035BF3F-D80F-1198-B101-AFE1794A2F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 sz="1400" dirty="0">
                <a:solidFill>
                  <a:srgbClr val="0070C0"/>
                </a:solidFill>
                <a:ea typeface="Cambria" panose="02040503050406030204" pitchFamily="18" charset="0"/>
              </a:rPr>
              <a:t>EE/CPE584 </a:t>
            </a:r>
            <a:r>
              <a:rPr lang="es-ES" sz="1400" dirty="0" err="1">
                <a:solidFill>
                  <a:srgbClr val="0070C0"/>
                </a:solidFill>
                <a:ea typeface="Cambria" panose="02040503050406030204" pitchFamily="18" charset="0"/>
              </a:rPr>
              <a:t>Intro</a:t>
            </a:r>
            <a:r>
              <a:rPr lang="es-ES" sz="1400" dirty="0">
                <a:solidFill>
                  <a:srgbClr val="0070C0"/>
                </a:solidFill>
                <a:ea typeface="Cambria" panose="02040503050406030204" pitchFamily="18" charset="0"/>
              </a:rPr>
              <a:t> </a:t>
            </a:r>
            <a:r>
              <a:rPr lang="es-ES" sz="1400" dirty="0" err="1">
                <a:solidFill>
                  <a:srgbClr val="0070C0"/>
                </a:solidFill>
                <a:ea typeface="Cambria" panose="02040503050406030204" pitchFamily="18" charset="0"/>
              </a:rPr>
              <a:t>to</a:t>
            </a:r>
            <a:r>
              <a:rPr lang="es-ES" sz="1400" dirty="0">
                <a:solidFill>
                  <a:srgbClr val="0070C0"/>
                </a:solidFill>
                <a:ea typeface="Cambria" panose="02040503050406030204" pitchFamily="18" charset="0"/>
              </a:rPr>
              <a:t> VLSI</a:t>
            </a:r>
            <a:endParaRPr lang="en-US" sz="1400" dirty="0">
              <a:solidFill>
                <a:srgbClr val="0070C0"/>
              </a:solidFill>
              <a:ea typeface="Cambria" panose="02040503050406030204" pitchFamily="18" charset="0"/>
            </a:endParaRPr>
          </a:p>
        </p:txBody>
      </p:sp>
      <p:sp>
        <p:nvSpPr>
          <p:cNvPr id="7" name="Text Placeholder 2">
            <a:extLst>
              <a:ext uri="{FF2B5EF4-FFF2-40B4-BE49-F238E27FC236}">
                <a16:creationId xmlns:a16="http://schemas.microsoft.com/office/drawing/2014/main" id="{D5367877-AAD6-D6C9-C6F2-DB881E56C7DF}"/>
              </a:ext>
            </a:extLst>
          </p:cNvPr>
          <p:cNvSpPr txBox="1">
            <a:spLocks/>
          </p:cNvSpPr>
          <p:nvPr/>
        </p:nvSpPr>
        <p:spPr>
          <a:xfrm>
            <a:off x="324465" y="241980"/>
            <a:ext cx="11543070" cy="681036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4000" dirty="0">
                <a:solidFill>
                  <a:srgbClr val="0070C0"/>
                </a:solidFill>
                <a:ea typeface="Cambria" panose="02040503050406030204" pitchFamily="18" charset="0"/>
              </a:rPr>
              <a:t>Background</a:t>
            </a:r>
          </a:p>
        </p:txBody>
      </p:sp>
      <p:sp>
        <p:nvSpPr>
          <p:cNvPr id="8" name="Content Placeholder 1">
            <a:extLst>
              <a:ext uri="{FF2B5EF4-FFF2-40B4-BE49-F238E27FC236}">
                <a16:creationId xmlns:a16="http://schemas.microsoft.com/office/drawing/2014/main" id="{88574A03-0D87-192C-A83A-B6AE276E96CA}"/>
              </a:ext>
            </a:extLst>
          </p:cNvPr>
          <p:cNvSpPr txBox="1">
            <a:spLocks/>
          </p:cNvSpPr>
          <p:nvPr/>
        </p:nvSpPr>
        <p:spPr>
          <a:xfrm>
            <a:off x="324465" y="1252881"/>
            <a:ext cx="6631506" cy="4991317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000" b="1" dirty="0">
                <a:ea typeface="Cambria" panose="02040503050406030204" pitchFamily="18" charset="0"/>
              </a:rPr>
              <a:t>LEF (Library Exchange Format) file</a:t>
            </a:r>
          </a:p>
          <a:p>
            <a:pPr lvl="1"/>
            <a:r>
              <a:rPr lang="en-US" sz="1800" dirty="0">
                <a:ea typeface="Cambria" panose="02040503050406030204" pitchFamily="18" charset="0"/>
              </a:rPr>
              <a:t>Contains abstract layout views of the cells in an IC</a:t>
            </a:r>
          </a:p>
          <a:p>
            <a:pPr lvl="1"/>
            <a:r>
              <a:rPr lang="en-US" sz="1800" dirty="0">
                <a:ea typeface="Cambria" panose="02040503050406030204" pitchFamily="18" charset="0"/>
              </a:rPr>
              <a:t>Used by P&amp;R tools to route cells properly.</a:t>
            </a:r>
          </a:p>
          <a:p>
            <a:pPr lvl="1"/>
            <a:r>
              <a:rPr lang="en-US" sz="1800" dirty="0">
                <a:ea typeface="Cambria" panose="02040503050406030204" pitchFamily="18" charset="0"/>
              </a:rPr>
              <a:t>Inverter Example ---&gt;</a:t>
            </a:r>
          </a:p>
          <a:p>
            <a:pPr lvl="1"/>
            <a:endParaRPr lang="en-US" sz="1800" dirty="0">
              <a:ea typeface="Cambria" panose="02040503050406030204" pitchFamily="18" charset="0"/>
            </a:endParaRPr>
          </a:p>
          <a:p>
            <a:r>
              <a:rPr lang="en-US" sz="2000" b="1" dirty="0">
                <a:ea typeface="Cambria" panose="02040503050406030204" pitchFamily="18" charset="0"/>
              </a:rPr>
              <a:t>TLEF (Technology LEF) Files</a:t>
            </a:r>
          </a:p>
          <a:p>
            <a:pPr lvl="1"/>
            <a:r>
              <a:rPr lang="en-US" sz="1800" dirty="0">
                <a:ea typeface="Cambria" panose="02040503050406030204" pitchFamily="18" charset="0"/>
              </a:rPr>
              <a:t>Contains layer definitions, via definitions, and design rules.</a:t>
            </a:r>
          </a:p>
          <a:p>
            <a:pPr lvl="1"/>
            <a:r>
              <a:rPr lang="en-US" sz="1800" dirty="0">
                <a:ea typeface="Cambria" panose="02040503050406030204" pitchFamily="18" charset="0"/>
              </a:rPr>
              <a:t>Provides layer types and manufacturing constraints. </a:t>
            </a:r>
          </a:p>
          <a:p>
            <a:pPr lvl="1"/>
            <a:endParaRPr lang="en-US" sz="1800" dirty="0">
              <a:ea typeface="Cambria" panose="02040503050406030204" pitchFamily="18" charset="0"/>
            </a:endParaRPr>
          </a:p>
          <a:p>
            <a:r>
              <a:rPr lang="en-US" sz="2000" b="1" dirty="0">
                <a:ea typeface="Cambria" panose="02040503050406030204" pitchFamily="18" charset="0"/>
              </a:rPr>
              <a:t>Liberty (LIB) Files</a:t>
            </a:r>
          </a:p>
          <a:p>
            <a:pPr lvl="1"/>
            <a:r>
              <a:rPr lang="en-US" sz="1800" dirty="0">
                <a:ea typeface="Cambria" panose="02040503050406030204" pitchFamily="18" charset="0"/>
              </a:rPr>
              <a:t>Contain timing and electrical info associated with standard library cells.</a:t>
            </a:r>
          </a:p>
          <a:p>
            <a:pPr lvl="1"/>
            <a:r>
              <a:rPr lang="en-US" sz="1800" dirty="0">
                <a:ea typeface="Cambria" panose="02040503050406030204" pitchFamily="18" charset="0"/>
              </a:rPr>
              <a:t>Used by timing and power analysis tools to verify circuit performance.</a:t>
            </a:r>
          </a:p>
          <a:p>
            <a:pPr marL="457200" lvl="1" indent="0">
              <a:buNone/>
            </a:pPr>
            <a:endParaRPr lang="en-US" sz="1600" dirty="0">
              <a:ea typeface="Cambria" panose="02040503050406030204" pitchFamily="18" charset="0"/>
            </a:endParaRP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2C62635E-5ECE-C405-2362-B85CCAFD761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19938" y="966886"/>
            <a:ext cx="1559422" cy="5277313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CAEFAA33-4126-8C51-DD84-F83B2D7B3E6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44157" y="971465"/>
            <a:ext cx="1605152" cy="5272733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636A76DB-29E9-C8B5-6F35-14C00C81FDB6}"/>
              </a:ext>
            </a:extLst>
          </p:cNvPr>
          <p:cNvSpPr txBox="1"/>
          <p:nvPr/>
        </p:nvSpPr>
        <p:spPr>
          <a:xfrm>
            <a:off x="7228796" y="529271"/>
            <a:ext cx="150403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>
                <a:ea typeface="Cambria" panose="02040503050406030204" pitchFamily="18" charset="0"/>
              </a:rPr>
              <a:t>Layout View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50E034A9-9F2D-6F2C-88C0-076C4B4CD5BE}"/>
              </a:ext>
            </a:extLst>
          </p:cNvPr>
          <p:cNvSpPr txBox="1"/>
          <p:nvPr/>
        </p:nvSpPr>
        <p:spPr>
          <a:xfrm>
            <a:off x="9064774" y="556493"/>
            <a:ext cx="154948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>
                <a:ea typeface="Cambria" panose="02040503050406030204" pitchFamily="18" charset="0"/>
              </a:rPr>
              <a:t>Abstract View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CFBA3F1-4B41-0197-57E8-D881D12E0D9B}"/>
              </a:ext>
            </a:extLst>
          </p:cNvPr>
          <p:cNvSpPr txBox="1"/>
          <p:nvPr/>
        </p:nvSpPr>
        <p:spPr>
          <a:xfrm>
            <a:off x="10876787" y="3085685"/>
            <a:ext cx="103936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>
                <a:ea typeface="Cambria" panose="02040503050406030204" pitchFamily="18" charset="0"/>
              </a:rPr>
              <a:t>I/O Pins</a:t>
            </a:r>
          </a:p>
        </p:txBody>
      </p:sp>
      <p:cxnSp>
        <p:nvCxnSpPr>
          <p:cNvPr id="3" name="Straight Arrow Connector 2">
            <a:extLst>
              <a:ext uri="{FF2B5EF4-FFF2-40B4-BE49-F238E27FC236}">
                <a16:creationId xmlns:a16="http://schemas.microsoft.com/office/drawing/2014/main" id="{5E5A03F9-A4BA-02FA-AFDC-FD0407AC7AFC}"/>
              </a:ext>
            </a:extLst>
          </p:cNvPr>
          <p:cNvCxnSpPr>
            <a:cxnSpLocks/>
          </p:cNvCxnSpPr>
          <p:nvPr/>
        </p:nvCxnSpPr>
        <p:spPr>
          <a:xfrm flipH="1" flipV="1">
            <a:off x="10156371" y="3128782"/>
            <a:ext cx="720416" cy="135168"/>
          </a:xfrm>
          <a:prstGeom prst="straightConnector1">
            <a:avLst/>
          </a:prstGeom>
          <a:ln w="508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A803D20A-F82A-C0F2-4DC9-3F646EC68F91}"/>
              </a:ext>
            </a:extLst>
          </p:cNvPr>
          <p:cNvCxnSpPr>
            <a:cxnSpLocks/>
          </p:cNvCxnSpPr>
          <p:nvPr/>
        </p:nvCxnSpPr>
        <p:spPr>
          <a:xfrm flipH="1">
            <a:off x="9741846" y="3255903"/>
            <a:ext cx="1134941" cy="786351"/>
          </a:xfrm>
          <a:prstGeom prst="straightConnector1">
            <a:avLst/>
          </a:prstGeom>
          <a:ln w="508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3F0516E5-14D0-434A-DBF7-41CB657913CB}"/>
              </a:ext>
            </a:extLst>
          </p:cNvPr>
          <p:cNvSpPr txBox="1"/>
          <p:nvPr/>
        </p:nvSpPr>
        <p:spPr>
          <a:xfrm>
            <a:off x="10649308" y="5260826"/>
            <a:ext cx="154269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ea typeface="Cambria" panose="02040503050406030204" pitchFamily="18" charset="0"/>
              </a:rPr>
              <a:t>Obstructions</a:t>
            </a: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5137D377-4FA3-A8C3-42B2-17502A18E700}"/>
              </a:ext>
            </a:extLst>
          </p:cNvPr>
          <p:cNvCxnSpPr>
            <a:cxnSpLocks/>
          </p:cNvCxnSpPr>
          <p:nvPr/>
        </p:nvCxnSpPr>
        <p:spPr>
          <a:xfrm flipH="1" flipV="1">
            <a:off x="10031406" y="5222240"/>
            <a:ext cx="696919" cy="247476"/>
          </a:xfrm>
          <a:prstGeom prst="straightConnector1">
            <a:avLst/>
          </a:prstGeom>
          <a:ln w="508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A3A2F18C-D516-2AF7-5F2C-9333CBEE25BD}"/>
              </a:ext>
            </a:extLst>
          </p:cNvPr>
          <p:cNvCxnSpPr>
            <a:cxnSpLocks/>
          </p:cNvCxnSpPr>
          <p:nvPr/>
        </p:nvCxnSpPr>
        <p:spPr>
          <a:xfrm flipH="1">
            <a:off x="10156371" y="5469716"/>
            <a:ext cx="571954" cy="416819"/>
          </a:xfrm>
          <a:prstGeom prst="straightConnector1">
            <a:avLst/>
          </a:prstGeom>
          <a:ln w="508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1888789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CF109A-26D3-AD25-975F-67F8BF591B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7347C92-3C23-C677-19AF-16508E16CB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CEE1AB-5E79-4041-BFFA-F9F6DE0A4A26}" type="datetime1">
              <a:rPr lang="en-US" sz="1400" smtClean="0">
                <a:solidFill>
                  <a:srgbClr val="0070C0"/>
                </a:solidFill>
                <a:ea typeface="Cambria" panose="02040503050406030204" pitchFamily="18" charset="0"/>
              </a:rPr>
              <a:t>12/19/2025</a:t>
            </a:fld>
            <a:endParaRPr lang="en-US" sz="1400" dirty="0">
              <a:solidFill>
                <a:srgbClr val="0070C0"/>
              </a:solidFill>
              <a:ea typeface="Cambria" panose="02040503050406030204" pitchFamily="18" charset="0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3ECE7C8-5EB1-9004-FEA1-72EA1FE3C6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8A6112-8193-45F5-863E-CC8218595965}" type="slidenum">
              <a:rPr lang="en-US" sz="1400" smtClean="0">
                <a:solidFill>
                  <a:srgbClr val="0070C0"/>
                </a:solidFill>
                <a:ea typeface="Cambria" panose="02040503050406030204" pitchFamily="18" charset="0"/>
              </a:rPr>
              <a:t>3</a:t>
            </a:fld>
            <a:endParaRPr lang="en-US" sz="1400" dirty="0">
              <a:solidFill>
                <a:srgbClr val="0070C0"/>
              </a:solidFill>
              <a:ea typeface="Cambria" panose="02040503050406030204" pitchFamily="18" charset="0"/>
            </a:endParaRP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9ABFF9E-EA75-419B-2CB5-8428E96F6C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 sz="1400" dirty="0">
                <a:solidFill>
                  <a:srgbClr val="0070C0"/>
                </a:solidFill>
                <a:ea typeface="Cambria" panose="02040503050406030204" pitchFamily="18" charset="0"/>
              </a:rPr>
              <a:t>EE/CPE584 </a:t>
            </a:r>
            <a:r>
              <a:rPr lang="es-ES" sz="1400" dirty="0" err="1">
                <a:solidFill>
                  <a:srgbClr val="0070C0"/>
                </a:solidFill>
                <a:ea typeface="Cambria" panose="02040503050406030204" pitchFamily="18" charset="0"/>
              </a:rPr>
              <a:t>Intro</a:t>
            </a:r>
            <a:r>
              <a:rPr lang="es-ES" sz="1400" dirty="0">
                <a:solidFill>
                  <a:srgbClr val="0070C0"/>
                </a:solidFill>
                <a:ea typeface="Cambria" panose="02040503050406030204" pitchFamily="18" charset="0"/>
              </a:rPr>
              <a:t> </a:t>
            </a:r>
            <a:r>
              <a:rPr lang="es-ES" sz="1400" dirty="0" err="1">
                <a:solidFill>
                  <a:srgbClr val="0070C0"/>
                </a:solidFill>
                <a:ea typeface="Cambria" panose="02040503050406030204" pitchFamily="18" charset="0"/>
              </a:rPr>
              <a:t>to</a:t>
            </a:r>
            <a:r>
              <a:rPr lang="es-ES" sz="1400" dirty="0">
                <a:solidFill>
                  <a:srgbClr val="0070C0"/>
                </a:solidFill>
                <a:ea typeface="Cambria" panose="02040503050406030204" pitchFamily="18" charset="0"/>
              </a:rPr>
              <a:t> VLSI</a:t>
            </a:r>
            <a:endParaRPr lang="en-US" sz="1400" dirty="0">
              <a:solidFill>
                <a:srgbClr val="0070C0"/>
              </a:solidFill>
              <a:ea typeface="Cambria" panose="02040503050406030204" pitchFamily="18" charset="0"/>
            </a:endParaRPr>
          </a:p>
        </p:txBody>
      </p:sp>
      <p:sp>
        <p:nvSpPr>
          <p:cNvPr id="7" name="Text Placeholder 2">
            <a:extLst>
              <a:ext uri="{FF2B5EF4-FFF2-40B4-BE49-F238E27FC236}">
                <a16:creationId xmlns:a16="http://schemas.microsoft.com/office/drawing/2014/main" id="{74EB8014-B903-7D75-7055-03912BD0B33D}"/>
              </a:ext>
            </a:extLst>
          </p:cNvPr>
          <p:cNvSpPr txBox="1">
            <a:spLocks/>
          </p:cNvSpPr>
          <p:nvPr/>
        </p:nvSpPr>
        <p:spPr>
          <a:xfrm>
            <a:off x="324465" y="241980"/>
            <a:ext cx="11543070" cy="681036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4000" dirty="0">
                <a:solidFill>
                  <a:srgbClr val="0070C0"/>
                </a:solidFill>
                <a:ea typeface="Cambria" panose="02040503050406030204" pitchFamily="18" charset="0"/>
              </a:rPr>
              <a:t>Background – LEF Files Hierarchy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132DA9DA-0FAD-2A11-3CB9-E34BB3AE63A0}"/>
              </a:ext>
            </a:extLst>
          </p:cNvPr>
          <p:cNvSpPr/>
          <p:nvPr/>
        </p:nvSpPr>
        <p:spPr>
          <a:xfrm>
            <a:off x="4038600" y="1437326"/>
            <a:ext cx="4771896" cy="4644123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marL="285750" indent="-285750">
              <a:buFontTx/>
              <a:buChar char="-"/>
            </a:pPr>
            <a:r>
              <a:rPr lang="en-US" sz="2400"/>
              <a:t>VERSION</a:t>
            </a:r>
          </a:p>
          <a:p>
            <a:pPr marL="285750" indent="-285750">
              <a:buFontTx/>
              <a:buChar char="-"/>
            </a:pPr>
            <a:r>
              <a:rPr lang="en-US" sz="2400"/>
              <a:t>BUSBITCHAR</a:t>
            </a:r>
          </a:p>
          <a:p>
            <a:pPr marL="285750" indent="-285750">
              <a:buFontTx/>
              <a:buChar char="-"/>
            </a:pPr>
            <a:r>
              <a:rPr lang="en-US" sz="2400"/>
              <a:t>DIVIDERCHAR</a:t>
            </a:r>
          </a:p>
          <a:p>
            <a:pPr marL="285750" indent="-285750">
              <a:buFontTx/>
              <a:buChar char="-"/>
            </a:pPr>
            <a:r>
              <a:rPr lang="en-US" sz="2400"/>
              <a:t>MACRO 1    </a:t>
            </a:r>
          </a:p>
          <a:p>
            <a:r>
              <a:rPr lang="en-US" sz="2400"/>
              <a:t>	- CLASS / SIZE / SYMMETRY    </a:t>
            </a:r>
          </a:p>
          <a:p>
            <a:r>
              <a:rPr lang="en-US" sz="2400"/>
              <a:t>	- PIN Statements    </a:t>
            </a:r>
          </a:p>
          <a:p>
            <a:r>
              <a:rPr lang="en-US" sz="2400"/>
              <a:t>	- OBS</a:t>
            </a:r>
          </a:p>
          <a:p>
            <a:pPr marL="285750" indent="-285750">
              <a:buFontTx/>
              <a:buChar char="-"/>
            </a:pPr>
            <a:r>
              <a:rPr lang="en-US" sz="2400"/>
              <a:t>MACRO 2</a:t>
            </a:r>
          </a:p>
          <a:p>
            <a:pPr marL="285750" indent="-285750">
              <a:buFontTx/>
              <a:buChar char="-"/>
            </a:pPr>
            <a:r>
              <a:rPr lang="en-US" sz="2400"/>
              <a:t>MACRO 3     </a:t>
            </a:r>
          </a:p>
          <a:p>
            <a:r>
              <a:rPr lang="en-US" sz="2400"/>
              <a:t>	⋮</a:t>
            </a:r>
          </a:p>
          <a:p>
            <a:pPr marL="285750" indent="-285750">
              <a:buFontTx/>
              <a:buChar char="-"/>
            </a:pPr>
            <a:r>
              <a:rPr lang="en-US" sz="2400"/>
              <a:t>MACRO N</a:t>
            </a:r>
          </a:p>
          <a:p>
            <a:pPr marL="285750" indent="-285750">
              <a:buFontTx/>
              <a:buChar char="-"/>
            </a:pPr>
            <a:r>
              <a:rPr lang="en-US" sz="2400"/>
              <a:t>END LIBRARY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15DE21C5-D73E-570B-7EAE-B9E0E2CE93FA}"/>
              </a:ext>
            </a:extLst>
          </p:cNvPr>
          <p:cNvCxnSpPr>
            <a:cxnSpLocks/>
          </p:cNvCxnSpPr>
          <p:nvPr/>
        </p:nvCxnSpPr>
        <p:spPr>
          <a:xfrm flipH="1">
            <a:off x="2823582" y="1755328"/>
            <a:ext cx="1215018" cy="0"/>
          </a:xfrm>
          <a:prstGeom prst="line">
            <a:avLst/>
          </a:prstGeom>
          <a:ln w="28575" cap="flat" cmpd="sng" algn="ctr">
            <a:solidFill>
              <a:schemeClr val="tx2">
                <a:lumMod val="50000"/>
                <a:lumOff val="50000"/>
              </a:schemeClr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ED0BC716-921D-D8A4-BD58-7BAA64834E55}"/>
              </a:ext>
            </a:extLst>
          </p:cNvPr>
          <p:cNvCxnSpPr>
            <a:cxnSpLocks/>
          </p:cNvCxnSpPr>
          <p:nvPr/>
        </p:nvCxnSpPr>
        <p:spPr>
          <a:xfrm flipH="1">
            <a:off x="3352800" y="2494168"/>
            <a:ext cx="685800" cy="0"/>
          </a:xfrm>
          <a:prstGeom prst="line">
            <a:avLst/>
          </a:prstGeom>
          <a:ln w="28575" cap="flat" cmpd="sng" algn="ctr">
            <a:solidFill>
              <a:schemeClr val="tx2">
                <a:lumMod val="50000"/>
                <a:lumOff val="50000"/>
              </a:schemeClr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66F822A5-FFE3-2BCC-F7DF-0576B4E45C27}"/>
              </a:ext>
            </a:extLst>
          </p:cNvPr>
          <p:cNvCxnSpPr>
            <a:cxnSpLocks/>
          </p:cNvCxnSpPr>
          <p:nvPr/>
        </p:nvCxnSpPr>
        <p:spPr>
          <a:xfrm flipH="1">
            <a:off x="2976940" y="2129802"/>
            <a:ext cx="1061660" cy="0"/>
          </a:xfrm>
          <a:prstGeom prst="line">
            <a:avLst/>
          </a:prstGeom>
          <a:ln w="28575" cap="flat" cmpd="sng" algn="ctr">
            <a:solidFill>
              <a:schemeClr val="tx2">
                <a:lumMod val="50000"/>
                <a:lumOff val="50000"/>
              </a:schemeClr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CEA1FD75-ADB4-A746-7559-F4B29EA2DD04}"/>
              </a:ext>
            </a:extLst>
          </p:cNvPr>
          <p:cNvSpPr txBox="1"/>
          <p:nvPr/>
        </p:nvSpPr>
        <p:spPr>
          <a:xfrm>
            <a:off x="424503" y="2305468"/>
            <a:ext cx="284193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000" dirty="0">
                <a:ea typeface="Cambria" panose="02040503050406030204" pitchFamily="18" charset="0"/>
              </a:rPr>
              <a:t>Hierarchy separation “/”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99ECC9AF-BF7B-4769-E6CD-71924B690206}"/>
              </a:ext>
            </a:extLst>
          </p:cNvPr>
          <p:cNvSpPr txBox="1"/>
          <p:nvPr/>
        </p:nvSpPr>
        <p:spPr>
          <a:xfrm>
            <a:off x="479524" y="1529637"/>
            <a:ext cx="234365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000" dirty="0">
                <a:ea typeface="Cambria" panose="02040503050406030204" pitchFamily="18" charset="0"/>
              </a:rPr>
              <a:t>LEF Format Version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AE2FC384-2779-0FDD-E2EE-82577900053E}"/>
              </a:ext>
            </a:extLst>
          </p:cNvPr>
          <p:cNvSpPr txBox="1"/>
          <p:nvPr/>
        </p:nvSpPr>
        <p:spPr>
          <a:xfrm>
            <a:off x="557632" y="1929747"/>
            <a:ext cx="244509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000">
                <a:ea typeface="Cambria" panose="02040503050406030204" pitchFamily="18" charset="0"/>
              </a:rPr>
              <a:t>Bus Bit indexing “[]” 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2884F0C6-FECE-5CCD-6D84-297649E9C82B}"/>
              </a:ext>
            </a:extLst>
          </p:cNvPr>
          <p:cNvSpPr txBox="1"/>
          <p:nvPr/>
        </p:nvSpPr>
        <p:spPr>
          <a:xfrm>
            <a:off x="9080500" y="2247512"/>
            <a:ext cx="17620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>
                <a:ea typeface="Cambria" panose="02040503050406030204" pitchFamily="18" charset="0"/>
              </a:rPr>
              <a:t>Cell Definition</a:t>
            </a:r>
          </a:p>
        </p:txBody>
      </p:sp>
      <p:cxnSp>
        <p:nvCxnSpPr>
          <p:cNvPr id="60" name="Straight Connector 59">
            <a:extLst>
              <a:ext uri="{FF2B5EF4-FFF2-40B4-BE49-F238E27FC236}">
                <a16:creationId xmlns:a16="http://schemas.microsoft.com/office/drawing/2014/main" id="{07B8BCCB-0FD9-205A-CF84-B593BBD4F7F7}"/>
              </a:ext>
            </a:extLst>
          </p:cNvPr>
          <p:cNvCxnSpPr>
            <a:cxnSpLocks/>
            <a:endCxn id="61" idx="1"/>
          </p:cNvCxnSpPr>
          <p:nvPr/>
        </p:nvCxnSpPr>
        <p:spPr>
          <a:xfrm flipV="1">
            <a:off x="7479030" y="3585445"/>
            <a:ext cx="1627364" cy="18031"/>
          </a:xfrm>
          <a:prstGeom prst="line">
            <a:avLst/>
          </a:prstGeom>
          <a:ln w="28575" cap="flat" cmpd="sng" algn="ctr">
            <a:solidFill>
              <a:schemeClr val="tx2">
                <a:lumMod val="50000"/>
                <a:lumOff val="50000"/>
              </a:schemeClr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61" name="TextBox 60">
            <a:extLst>
              <a:ext uri="{FF2B5EF4-FFF2-40B4-BE49-F238E27FC236}">
                <a16:creationId xmlns:a16="http://schemas.microsoft.com/office/drawing/2014/main" id="{D1729E52-8640-B836-A59B-02E29B39623D}"/>
              </a:ext>
            </a:extLst>
          </p:cNvPr>
          <p:cNvSpPr txBox="1"/>
          <p:nvPr/>
        </p:nvSpPr>
        <p:spPr>
          <a:xfrm>
            <a:off x="9106394" y="3231502"/>
            <a:ext cx="276114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000">
                <a:ea typeface="Cambria" panose="02040503050406030204" pitchFamily="18" charset="0"/>
              </a:rPr>
              <a:t>I/O Pins with direction,</a:t>
            </a:r>
          </a:p>
          <a:p>
            <a:pPr algn="ctr"/>
            <a:r>
              <a:rPr lang="en-US" sz="2000">
                <a:ea typeface="Cambria" panose="02040503050406030204" pitchFamily="18" charset="0"/>
              </a:rPr>
              <a:t>use, and port geometry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9E6103E6-E57B-8F83-B4F5-74398976D56A}"/>
              </a:ext>
            </a:extLst>
          </p:cNvPr>
          <p:cNvSpPr txBox="1"/>
          <p:nvPr/>
        </p:nvSpPr>
        <p:spPr>
          <a:xfrm>
            <a:off x="723255" y="4578646"/>
            <a:ext cx="227947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>
                <a:ea typeface="Cambria" panose="02040503050406030204" pitchFamily="18" charset="0"/>
              </a:rPr>
              <a:t>Obstruction layers </a:t>
            </a:r>
          </a:p>
          <a:p>
            <a:pPr algn="ctr"/>
            <a:r>
              <a:rPr lang="en-US" sz="2000">
                <a:ea typeface="Cambria" panose="02040503050406030204" pitchFamily="18" charset="0"/>
              </a:rPr>
              <a:t>with geometries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CCF2F478-60F9-3277-EF3E-2EAB6BEA9DCE}"/>
              </a:ext>
            </a:extLst>
          </p:cNvPr>
          <p:cNvSpPr txBox="1"/>
          <p:nvPr/>
        </p:nvSpPr>
        <p:spPr>
          <a:xfrm>
            <a:off x="434706" y="3405445"/>
            <a:ext cx="3146694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000">
                <a:ea typeface="Cambria" panose="02040503050406030204" pitchFamily="18" charset="0"/>
              </a:rPr>
              <a:t>Defines the cell properties </a:t>
            </a:r>
          </a:p>
          <a:p>
            <a:pPr algn="ctr"/>
            <a:r>
              <a:rPr lang="en-US" sz="2000">
                <a:ea typeface="Cambria" panose="02040503050406030204" pitchFamily="18" charset="0"/>
              </a:rPr>
              <a:t>and dimensions</a:t>
            </a:r>
          </a:p>
        </p:txBody>
      </p:sp>
      <p:cxnSp>
        <p:nvCxnSpPr>
          <p:cNvPr id="73" name="Connector: Curved 72">
            <a:extLst>
              <a:ext uri="{FF2B5EF4-FFF2-40B4-BE49-F238E27FC236}">
                <a16:creationId xmlns:a16="http://schemas.microsoft.com/office/drawing/2014/main" id="{C11BD8AB-438F-75D6-5BB6-EEDD06FABD52}"/>
              </a:ext>
            </a:extLst>
          </p:cNvPr>
          <p:cNvCxnSpPr>
            <a:cxnSpLocks/>
            <a:endCxn id="59" idx="1"/>
          </p:cNvCxnSpPr>
          <p:nvPr/>
        </p:nvCxnSpPr>
        <p:spPr>
          <a:xfrm flipV="1">
            <a:off x="5877560" y="2447567"/>
            <a:ext cx="3202940" cy="402313"/>
          </a:xfrm>
          <a:prstGeom prst="curvedConnector3">
            <a:avLst/>
          </a:prstGeom>
          <a:ln w="28575" cap="flat" cmpd="sng" algn="ctr">
            <a:solidFill>
              <a:schemeClr val="tx2">
                <a:lumMod val="50000"/>
                <a:lumOff val="50000"/>
              </a:schemeClr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75" name="Connector: Curved 74">
            <a:extLst>
              <a:ext uri="{FF2B5EF4-FFF2-40B4-BE49-F238E27FC236}">
                <a16:creationId xmlns:a16="http://schemas.microsoft.com/office/drawing/2014/main" id="{7F38D0BB-E9A0-D09A-559E-A31324C5088A}"/>
              </a:ext>
            </a:extLst>
          </p:cNvPr>
          <p:cNvCxnSpPr>
            <a:cxnSpLocks/>
          </p:cNvCxnSpPr>
          <p:nvPr/>
        </p:nvCxnSpPr>
        <p:spPr>
          <a:xfrm rot="10800000" flipV="1">
            <a:off x="2946473" y="3979071"/>
            <a:ext cx="1923910" cy="937774"/>
          </a:xfrm>
          <a:prstGeom prst="curvedConnector3">
            <a:avLst/>
          </a:prstGeom>
          <a:ln w="28575" cap="flat" cmpd="sng" algn="ctr">
            <a:solidFill>
              <a:schemeClr val="tx2">
                <a:lumMod val="50000"/>
                <a:lumOff val="50000"/>
              </a:schemeClr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1" name="Connector: Curved 10">
            <a:extLst>
              <a:ext uri="{FF2B5EF4-FFF2-40B4-BE49-F238E27FC236}">
                <a16:creationId xmlns:a16="http://schemas.microsoft.com/office/drawing/2014/main" id="{F1D9D131-44AC-E336-368A-93790760BBEA}"/>
              </a:ext>
            </a:extLst>
          </p:cNvPr>
          <p:cNvCxnSpPr>
            <a:cxnSpLocks/>
          </p:cNvCxnSpPr>
          <p:nvPr/>
        </p:nvCxnSpPr>
        <p:spPr>
          <a:xfrm rot="10800000" flipV="1">
            <a:off x="3456971" y="3240231"/>
            <a:ext cx="1483330" cy="601764"/>
          </a:xfrm>
          <a:prstGeom prst="curvedConnector3">
            <a:avLst/>
          </a:prstGeom>
          <a:ln w="28575" cap="flat" cmpd="sng" algn="ctr">
            <a:solidFill>
              <a:schemeClr val="tx2">
                <a:lumMod val="50000"/>
                <a:lumOff val="50000"/>
              </a:schemeClr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6120782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C2D196-F29C-B283-C409-D4EF5C5B7D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572E7C8-E406-DF2C-C0B5-3B5EE2E6E5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CEE1AB-5E79-4041-BFFA-F9F6DE0A4A26}" type="datetime1">
              <a:rPr lang="en-US" sz="1400" smtClean="0">
                <a:solidFill>
                  <a:srgbClr val="0070C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12/19/2025</a:t>
            </a:fld>
            <a:endParaRPr lang="en-US" sz="1400" dirty="0">
              <a:solidFill>
                <a:srgbClr val="0070C0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879A0C8-233B-5267-965A-492076CD1E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8A6112-8193-45F5-863E-CC8218595965}" type="slidenum">
              <a:rPr lang="en-US" sz="1400" smtClean="0">
                <a:solidFill>
                  <a:srgbClr val="0070C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4</a:t>
            </a:fld>
            <a:endParaRPr lang="en-US" sz="1400">
              <a:solidFill>
                <a:srgbClr val="0070C0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F5DD4AA-0C1D-A0A1-EF1A-91C5D81F90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 sz="1400">
                <a:solidFill>
                  <a:srgbClr val="0070C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EE/CPE584 Intro to VLSI</a:t>
            </a:r>
            <a:endParaRPr lang="en-US" sz="1400">
              <a:solidFill>
                <a:srgbClr val="0070C0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7" name="Text Placeholder 2">
            <a:extLst>
              <a:ext uri="{FF2B5EF4-FFF2-40B4-BE49-F238E27FC236}">
                <a16:creationId xmlns:a16="http://schemas.microsoft.com/office/drawing/2014/main" id="{EE4F1C81-B31C-ED18-184C-4638C8C126CF}"/>
              </a:ext>
            </a:extLst>
          </p:cNvPr>
          <p:cNvSpPr txBox="1">
            <a:spLocks/>
          </p:cNvSpPr>
          <p:nvPr/>
        </p:nvSpPr>
        <p:spPr>
          <a:xfrm>
            <a:off x="324465" y="241980"/>
            <a:ext cx="11543070" cy="681036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4000" dirty="0">
                <a:solidFill>
                  <a:srgbClr val="0070C0"/>
                </a:solidFill>
                <a:ea typeface="Cambria" panose="02040503050406030204" pitchFamily="18" charset="0"/>
              </a:rPr>
              <a:t>Background – TLEF Hierarchy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2992EFC1-E9EF-49E4-741D-BFF374CC0B2A}"/>
              </a:ext>
            </a:extLst>
          </p:cNvPr>
          <p:cNvSpPr/>
          <p:nvPr/>
        </p:nvSpPr>
        <p:spPr>
          <a:xfrm>
            <a:off x="3855815" y="997044"/>
            <a:ext cx="4942114" cy="5359306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marL="285750" indent="-285750">
              <a:buFontTx/>
              <a:buChar char="-"/>
            </a:pPr>
            <a:r>
              <a:rPr lang="en-US" sz="2000"/>
              <a:t>VERSION</a:t>
            </a:r>
          </a:p>
          <a:p>
            <a:pPr marL="285750" indent="-285750">
              <a:buFontTx/>
              <a:buChar char="-"/>
            </a:pPr>
            <a:r>
              <a:rPr lang="en-US" sz="2000"/>
              <a:t>BUSBITCHAR</a:t>
            </a:r>
          </a:p>
          <a:p>
            <a:pPr marL="285750" indent="-285750">
              <a:buFontTx/>
              <a:buChar char="-"/>
            </a:pPr>
            <a:r>
              <a:rPr lang="en-US" sz="2000"/>
              <a:t>DIVIDERCHAR</a:t>
            </a:r>
            <a:endParaRPr lang="en-US" sz="2200"/>
          </a:p>
          <a:p>
            <a:pPr marL="285750" indent="-285750">
              <a:buFontTx/>
              <a:buChar char="-"/>
            </a:pPr>
            <a:r>
              <a:rPr lang="en-US" sz="2000"/>
              <a:t>UNITS</a:t>
            </a:r>
          </a:p>
          <a:p>
            <a:pPr marL="285750" indent="-285750">
              <a:buFontTx/>
              <a:buChar char="-"/>
            </a:pPr>
            <a:r>
              <a:rPr lang="en-US" sz="2000"/>
              <a:t>SITE</a:t>
            </a:r>
          </a:p>
          <a:p>
            <a:pPr marL="285750" indent="-285750">
              <a:buFontTx/>
              <a:buChar char="-"/>
            </a:pPr>
            <a:r>
              <a:rPr lang="en-US" sz="2000"/>
              <a:t>LAYER</a:t>
            </a:r>
          </a:p>
          <a:p>
            <a:pPr marL="742950" lvl="1" indent="-285750">
              <a:buFontTx/>
              <a:buChar char="-"/>
            </a:pPr>
            <a:r>
              <a:rPr lang="en-US" sz="2000"/>
              <a:t>MASTERSLICE</a:t>
            </a:r>
          </a:p>
          <a:p>
            <a:pPr marL="1200150" lvl="2" indent="-285750">
              <a:buFontTx/>
              <a:buChar char="-"/>
            </a:pPr>
            <a:r>
              <a:rPr lang="en-US" sz="2000"/>
              <a:t>PWELL, NWELL</a:t>
            </a:r>
          </a:p>
          <a:p>
            <a:pPr marL="742950" lvl="1" indent="-285750">
              <a:buFontTx/>
              <a:buChar char="-"/>
            </a:pPr>
            <a:r>
              <a:rPr lang="en-US" sz="2000"/>
              <a:t>IMPLANT </a:t>
            </a:r>
          </a:p>
          <a:p>
            <a:pPr marL="1200150" lvl="2" indent="-285750">
              <a:buFontTx/>
              <a:buChar char="-"/>
            </a:pPr>
            <a:r>
              <a:rPr lang="en-US" sz="2000"/>
              <a:t>VTL_N/P, VTH_N/P</a:t>
            </a:r>
          </a:p>
          <a:p>
            <a:pPr marL="742950" lvl="1" indent="-285750">
              <a:buFontTx/>
              <a:buChar char="-"/>
            </a:pPr>
            <a:r>
              <a:rPr lang="en-US" sz="2000"/>
              <a:t>CUT</a:t>
            </a:r>
          </a:p>
          <a:p>
            <a:pPr marL="1200150" lvl="2" indent="-285750">
              <a:buFontTx/>
              <a:buChar char="-"/>
            </a:pPr>
            <a:r>
              <a:rPr lang="en-US" sz="2000"/>
              <a:t>CO, VIA1-VIA8</a:t>
            </a:r>
          </a:p>
          <a:p>
            <a:pPr marL="742950" lvl="1" indent="-285750">
              <a:buFontTx/>
              <a:buChar char="-"/>
            </a:pPr>
            <a:r>
              <a:rPr lang="en-US" sz="2000"/>
              <a:t>ROUTING</a:t>
            </a:r>
          </a:p>
          <a:p>
            <a:pPr marL="1200150" lvl="2" indent="-285750">
              <a:buFontTx/>
              <a:buChar char="-"/>
            </a:pPr>
            <a:r>
              <a:rPr lang="en-US" sz="2000"/>
              <a:t>MET1-MET8</a:t>
            </a:r>
          </a:p>
          <a:p>
            <a:pPr marL="285750" indent="-285750">
              <a:buFontTx/>
              <a:buChar char="-"/>
            </a:pPr>
            <a:r>
              <a:rPr lang="en-US" sz="2000"/>
              <a:t>VIARULE </a:t>
            </a:r>
          </a:p>
        </p:txBody>
      </p:sp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D9077101-250A-B6FA-CF57-C418A78E80FC}"/>
              </a:ext>
            </a:extLst>
          </p:cNvPr>
          <p:cNvCxnSpPr>
            <a:cxnSpLocks/>
          </p:cNvCxnSpPr>
          <p:nvPr/>
        </p:nvCxnSpPr>
        <p:spPr>
          <a:xfrm flipH="1">
            <a:off x="2640797" y="1576299"/>
            <a:ext cx="1215018" cy="0"/>
          </a:xfrm>
          <a:prstGeom prst="line">
            <a:avLst/>
          </a:prstGeom>
          <a:ln w="28575" cap="flat" cmpd="sng" algn="ctr">
            <a:solidFill>
              <a:schemeClr val="tx2">
                <a:lumMod val="50000"/>
                <a:lumOff val="50000"/>
              </a:schemeClr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3A71C076-BA4C-0233-8BD7-084F366DF804}"/>
              </a:ext>
            </a:extLst>
          </p:cNvPr>
          <p:cNvCxnSpPr>
            <a:cxnSpLocks/>
          </p:cNvCxnSpPr>
          <p:nvPr/>
        </p:nvCxnSpPr>
        <p:spPr>
          <a:xfrm flipH="1">
            <a:off x="3170015" y="2187360"/>
            <a:ext cx="685800" cy="0"/>
          </a:xfrm>
          <a:prstGeom prst="line">
            <a:avLst/>
          </a:prstGeom>
          <a:ln w="28575" cap="flat" cmpd="sng" algn="ctr">
            <a:solidFill>
              <a:schemeClr val="tx2">
                <a:lumMod val="50000"/>
                <a:lumOff val="50000"/>
              </a:schemeClr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BB55F973-35FA-6585-3FD8-3404B559D794}"/>
              </a:ext>
            </a:extLst>
          </p:cNvPr>
          <p:cNvCxnSpPr>
            <a:cxnSpLocks/>
          </p:cNvCxnSpPr>
          <p:nvPr/>
        </p:nvCxnSpPr>
        <p:spPr>
          <a:xfrm flipH="1">
            <a:off x="2794155" y="1861094"/>
            <a:ext cx="1061660" cy="0"/>
          </a:xfrm>
          <a:prstGeom prst="line">
            <a:avLst/>
          </a:prstGeom>
          <a:ln w="28575" cap="flat" cmpd="sng" algn="ctr">
            <a:solidFill>
              <a:schemeClr val="tx2">
                <a:lumMod val="50000"/>
                <a:lumOff val="50000"/>
              </a:schemeClr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EF81412A-F836-7998-0A65-1B01BE261196}"/>
              </a:ext>
            </a:extLst>
          </p:cNvPr>
          <p:cNvSpPr txBox="1"/>
          <p:nvPr/>
        </p:nvSpPr>
        <p:spPr>
          <a:xfrm>
            <a:off x="346912" y="2061149"/>
            <a:ext cx="284193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000">
                <a:ea typeface="Cambria" panose="02040503050406030204" pitchFamily="18" charset="0"/>
              </a:rPr>
              <a:t>Hierarchy separation “/”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84BDB49-6ABF-13E7-023D-2033A589B680}"/>
              </a:ext>
            </a:extLst>
          </p:cNvPr>
          <p:cNvSpPr txBox="1"/>
          <p:nvPr/>
        </p:nvSpPr>
        <p:spPr>
          <a:xfrm>
            <a:off x="346912" y="1326526"/>
            <a:ext cx="234365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000">
                <a:ea typeface="Cambria" panose="02040503050406030204" pitchFamily="18" charset="0"/>
              </a:rPr>
              <a:t>LEF Format Version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5F78C4C-2176-F518-3376-D0F5190111DA}"/>
              </a:ext>
            </a:extLst>
          </p:cNvPr>
          <p:cNvSpPr txBox="1"/>
          <p:nvPr/>
        </p:nvSpPr>
        <p:spPr>
          <a:xfrm>
            <a:off x="440137" y="1676524"/>
            <a:ext cx="244509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000">
                <a:ea typeface="Cambria" panose="02040503050406030204" pitchFamily="18" charset="0"/>
              </a:rPr>
              <a:t>Bus Bit indexing “[]” 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1E3BD56E-4169-8FB6-A4DF-CFB47B0B2B45}"/>
              </a:ext>
            </a:extLst>
          </p:cNvPr>
          <p:cNvCxnSpPr>
            <a:cxnSpLocks/>
          </p:cNvCxnSpPr>
          <p:nvPr/>
        </p:nvCxnSpPr>
        <p:spPr>
          <a:xfrm>
            <a:off x="5149861" y="2474024"/>
            <a:ext cx="3829957" cy="0"/>
          </a:xfrm>
          <a:prstGeom prst="line">
            <a:avLst/>
          </a:prstGeom>
          <a:ln w="28575" cap="flat" cmpd="sng" algn="ctr">
            <a:solidFill>
              <a:schemeClr val="tx2">
                <a:lumMod val="50000"/>
                <a:lumOff val="50000"/>
              </a:schemeClr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F06B83D5-114B-149A-94A1-314A15642518}"/>
              </a:ext>
            </a:extLst>
          </p:cNvPr>
          <p:cNvSpPr txBox="1"/>
          <p:nvPr/>
        </p:nvSpPr>
        <p:spPr>
          <a:xfrm>
            <a:off x="8896844" y="2273969"/>
            <a:ext cx="276793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000">
                <a:ea typeface="Cambria" panose="02040503050406030204" pitchFamily="18" charset="0"/>
              </a:rPr>
              <a:t>Units of measurements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BB814CE3-1783-66BB-A871-641A1DC232F5}"/>
              </a:ext>
            </a:extLst>
          </p:cNvPr>
          <p:cNvSpPr txBox="1"/>
          <p:nvPr/>
        </p:nvSpPr>
        <p:spPr>
          <a:xfrm>
            <a:off x="187451" y="2737031"/>
            <a:ext cx="3078150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000" dirty="0">
                <a:ea typeface="Cambria" panose="02040503050406030204" pitchFamily="18" charset="0"/>
              </a:rPr>
              <a:t>Defines placement grid for</a:t>
            </a:r>
          </a:p>
          <a:p>
            <a:pPr algn="ctr"/>
            <a:r>
              <a:rPr lang="en-US" sz="2000" dirty="0">
                <a:ea typeface="Cambria" panose="02040503050406030204" pitchFamily="18" charset="0"/>
              </a:rPr>
              <a:t>Std cells. </a:t>
            </a:r>
          </a:p>
        </p:txBody>
      </p:sp>
      <p:cxnSp>
        <p:nvCxnSpPr>
          <p:cNvPr id="17" name="Connector: Curved 16">
            <a:extLst>
              <a:ext uri="{FF2B5EF4-FFF2-40B4-BE49-F238E27FC236}">
                <a16:creationId xmlns:a16="http://schemas.microsoft.com/office/drawing/2014/main" id="{1C05907C-BA4D-0BD9-F58F-49325E55F153}"/>
              </a:ext>
            </a:extLst>
          </p:cNvPr>
          <p:cNvCxnSpPr>
            <a:cxnSpLocks/>
            <a:endCxn id="16" idx="3"/>
          </p:cNvCxnSpPr>
          <p:nvPr/>
        </p:nvCxnSpPr>
        <p:spPr>
          <a:xfrm rot="10800000" flipV="1">
            <a:off x="3265601" y="2809836"/>
            <a:ext cx="590214" cy="281137"/>
          </a:xfrm>
          <a:prstGeom prst="curvedConnector3">
            <a:avLst/>
          </a:prstGeom>
          <a:ln w="28575" cap="flat" cmpd="sng" algn="ctr">
            <a:solidFill>
              <a:schemeClr val="tx2">
                <a:lumMod val="50000"/>
                <a:lumOff val="50000"/>
              </a:schemeClr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187A10DA-0040-C5A6-5D26-4ED54F94C960}"/>
              </a:ext>
            </a:extLst>
          </p:cNvPr>
          <p:cNvSpPr txBox="1"/>
          <p:nvPr/>
        </p:nvSpPr>
        <p:spPr>
          <a:xfrm>
            <a:off x="187451" y="3650216"/>
            <a:ext cx="302627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000">
                <a:ea typeface="Cambria" panose="02040503050406030204" pitchFamily="18" charset="0"/>
              </a:rPr>
              <a:t>Base layers for transistors</a:t>
            </a:r>
          </a:p>
        </p:txBody>
      </p:sp>
      <p:cxnSp>
        <p:nvCxnSpPr>
          <p:cNvPr id="20" name="Connector: Curved 19">
            <a:extLst>
              <a:ext uri="{FF2B5EF4-FFF2-40B4-BE49-F238E27FC236}">
                <a16:creationId xmlns:a16="http://schemas.microsoft.com/office/drawing/2014/main" id="{B9CF6117-19EF-452B-5807-8055B2062E2C}"/>
              </a:ext>
            </a:extLst>
          </p:cNvPr>
          <p:cNvCxnSpPr>
            <a:cxnSpLocks/>
            <a:endCxn id="19" idx="3"/>
          </p:cNvCxnSpPr>
          <p:nvPr/>
        </p:nvCxnSpPr>
        <p:spPr>
          <a:xfrm rot="10800000" flipV="1">
            <a:off x="3213729" y="3390315"/>
            <a:ext cx="1136918" cy="459956"/>
          </a:xfrm>
          <a:prstGeom prst="curvedConnector3">
            <a:avLst/>
          </a:prstGeom>
          <a:ln w="28575" cap="flat" cmpd="sng" algn="ctr">
            <a:solidFill>
              <a:schemeClr val="tx2">
                <a:lumMod val="50000"/>
                <a:lumOff val="50000"/>
              </a:schemeClr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A8BAC2DB-41DD-6D1C-B703-8BAC89E0963D}"/>
              </a:ext>
            </a:extLst>
          </p:cNvPr>
          <p:cNvCxnSpPr>
            <a:cxnSpLocks/>
          </p:cNvCxnSpPr>
          <p:nvPr/>
        </p:nvCxnSpPr>
        <p:spPr>
          <a:xfrm>
            <a:off x="5780074" y="3963177"/>
            <a:ext cx="3292270" cy="0"/>
          </a:xfrm>
          <a:prstGeom prst="line">
            <a:avLst/>
          </a:prstGeom>
          <a:ln w="28575" cap="flat" cmpd="sng" algn="ctr">
            <a:solidFill>
              <a:schemeClr val="tx2">
                <a:lumMod val="50000"/>
                <a:lumOff val="50000"/>
              </a:schemeClr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23" name="TextBox 22">
            <a:extLst>
              <a:ext uri="{FF2B5EF4-FFF2-40B4-BE49-F238E27FC236}">
                <a16:creationId xmlns:a16="http://schemas.microsoft.com/office/drawing/2014/main" id="{A6DEE130-5E45-53F7-5220-BC14935C21B9}"/>
              </a:ext>
            </a:extLst>
          </p:cNvPr>
          <p:cNvSpPr txBox="1"/>
          <p:nvPr/>
        </p:nvSpPr>
        <p:spPr>
          <a:xfrm>
            <a:off x="9072344" y="3709156"/>
            <a:ext cx="2237536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000">
                <a:ea typeface="Cambria" panose="02040503050406030204" pitchFamily="18" charset="0"/>
              </a:rPr>
              <a:t>Defines Threshold </a:t>
            </a:r>
          </a:p>
          <a:p>
            <a:pPr algn="ctr"/>
            <a:r>
              <a:rPr lang="en-US" sz="2000">
                <a:ea typeface="Cambria" panose="02040503050406030204" pitchFamily="18" charset="0"/>
              </a:rPr>
              <a:t>Voltage</a:t>
            </a:r>
          </a:p>
        </p:txBody>
      </p: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4CCFBACD-FAF0-0C4F-854B-4C4934514655}"/>
              </a:ext>
            </a:extLst>
          </p:cNvPr>
          <p:cNvCxnSpPr>
            <a:cxnSpLocks/>
          </p:cNvCxnSpPr>
          <p:nvPr/>
        </p:nvCxnSpPr>
        <p:spPr>
          <a:xfrm flipH="1">
            <a:off x="3542510" y="4605531"/>
            <a:ext cx="685800" cy="0"/>
          </a:xfrm>
          <a:prstGeom prst="line">
            <a:avLst/>
          </a:prstGeom>
          <a:ln w="28575" cap="flat" cmpd="sng" algn="ctr">
            <a:solidFill>
              <a:schemeClr val="tx2">
                <a:lumMod val="50000"/>
                <a:lumOff val="50000"/>
              </a:schemeClr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26" name="TextBox 25">
            <a:extLst>
              <a:ext uri="{FF2B5EF4-FFF2-40B4-BE49-F238E27FC236}">
                <a16:creationId xmlns:a16="http://schemas.microsoft.com/office/drawing/2014/main" id="{98953FEA-94A9-01D9-E033-AB76367DDF93}"/>
              </a:ext>
            </a:extLst>
          </p:cNvPr>
          <p:cNvSpPr txBox="1"/>
          <p:nvPr/>
        </p:nvSpPr>
        <p:spPr>
          <a:xfrm>
            <a:off x="966035" y="4243986"/>
            <a:ext cx="2576475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000">
                <a:ea typeface="Cambria" panose="02040503050406030204" pitchFamily="18" charset="0"/>
              </a:rPr>
              <a:t>Vertical connections </a:t>
            </a:r>
          </a:p>
          <a:p>
            <a:pPr algn="ctr"/>
            <a:r>
              <a:rPr lang="en-US" sz="2000">
                <a:ea typeface="Cambria" panose="02040503050406030204" pitchFamily="18" charset="0"/>
              </a:rPr>
              <a:t>Between metal layers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7D82E596-F3C6-4DB6-D7A1-6FAE486F49BF}"/>
              </a:ext>
            </a:extLst>
          </p:cNvPr>
          <p:cNvSpPr txBox="1"/>
          <p:nvPr/>
        </p:nvSpPr>
        <p:spPr>
          <a:xfrm>
            <a:off x="1216683" y="5380663"/>
            <a:ext cx="2081018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000">
                <a:ea typeface="Cambria" panose="02040503050406030204" pitchFamily="18" charset="0"/>
              </a:rPr>
              <a:t>Horizontal metal </a:t>
            </a:r>
          </a:p>
          <a:p>
            <a:pPr algn="ctr"/>
            <a:r>
              <a:rPr lang="en-US" sz="2000">
                <a:ea typeface="Cambria" panose="02040503050406030204" pitchFamily="18" charset="0"/>
              </a:rPr>
              <a:t>interconnects</a:t>
            </a:r>
          </a:p>
        </p:txBody>
      </p:sp>
      <p:cxnSp>
        <p:nvCxnSpPr>
          <p:cNvPr id="29" name="Connector: Curved 28">
            <a:extLst>
              <a:ext uri="{FF2B5EF4-FFF2-40B4-BE49-F238E27FC236}">
                <a16:creationId xmlns:a16="http://schemas.microsoft.com/office/drawing/2014/main" id="{605D6033-6F01-71B3-B068-ED0FF979E535}"/>
              </a:ext>
            </a:extLst>
          </p:cNvPr>
          <p:cNvCxnSpPr>
            <a:cxnSpLocks/>
          </p:cNvCxnSpPr>
          <p:nvPr/>
        </p:nvCxnSpPr>
        <p:spPr>
          <a:xfrm rot="10800000" flipV="1">
            <a:off x="3200228" y="5195734"/>
            <a:ext cx="1068059" cy="571469"/>
          </a:xfrm>
          <a:prstGeom prst="curvedConnector3">
            <a:avLst/>
          </a:prstGeom>
          <a:ln w="28575" cap="flat" cmpd="sng" algn="ctr">
            <a:solidFill>
              <a:schemeClr val="tx2">
                <a:lumMod val="50000"/>
                <a:lumOff val="50000"/>
              </a:schemeClr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93008BC1-220F-FA3C-4116-C4FB032458DB}"/>
              </a:ext>
            </a:extLst>
          </p:cNvPr>
          <p:cNvCxnSpPr>
            <a:cxnSpLocks/>
          </p:cNvCxnSpPr>
          <p:nvPr/>
        </p:nvCxnSpPr>
        <p:spPr>
          <a:xfrm>
            <a:off x="5370634" y="5837033"/>
            <a:ext cx="3609184" cy="0"/>
          </a:xfrm>
          <a:prstGeom prst="line">
            <a:avLst/>
          </a:prstGeom>
          <a:ln w="28575" cap="flat" cmpd="sng" algn="ctr">
            <a:solidFill>
              <a:schemeClr val="tx2">
                <a:lumMod val="50000"/>
                <a:lumOff val="50000"/>
              </a:schemeClr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32" name="TextBox 31">
            <a:extLst>
              <a:ext uri="{FF2B5EF4-FFF2-40B4-BE49-F238E27FC236}">
                <a16:creationId xmlns:a16="http://schemas.microsoft.com/office/drawing/2014/main" id="{8888B01C-1C69-2A4A-80F9-CA5D185E3E16}"/>
              </a:ext>
            </a:extLst>
          </p:cNvPr>
          <p:cNvSpPr txBox="1"/>
          <p:nvPr/>
        </p:nvSpPr>
        <p:spPr>
          <a:xfrm>
            <a:off x="9019730" y="5481469"/>
            <a:ext cx="2522165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000" dirty="0">
                <a:ea typeface="Cambria" panose="02040503050406030204" pitchFamily="18" charset="0"/>
              </a:rPr>
              <a:t>Automatic generated </a:t>
            </a:r>
          </a:p>
          <a:p>
            <a:pPr algn="ctr"/>
            <a:r>
              <a:rPr lang="en-US" sz="2000" dirty="0">
                <a:ea typeface="Cambria" panose="02040503050406030204" pitchFamily="18" charset="0"/>
              </a:rPr>
              <a:t>Via array</a:t>
            </a:r>
          </a:p>
        </p:txBody>
      </p:sp>
    </p:spTree>
    <p:extLst>
      <p:ext uri="{BB962C8B-B14F-4D97-AF65-F5344CB8AC3E}">
        <p14:creationId xmlns:p14="http://schemas.microsoft.com/office/powerpoint/2010/main" val="147890784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3B0571-F27C-E88F-4FA1-D599607660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0F7F9BF-CF78-D57F-65C4-B7B15654B7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CEE1AB-5E79-4041-BFFA-F9F6DE0A4A26}" type="datetime1">
              <a:rPr lang="en-US" sz="1400" smtClean="0">
                <a:solidFill>
                  <a:srgbClr val="0070C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12/19/2025</a:t>
            </a:fld>
            <a:endParaRPr lang="en-US" sz="1400">
              <a:solidFill>
                <a:srgbClr val="0070C0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CCA7E15-DCC6-6135-905F-6BFA7960A5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8A6112-8193-45F5-863E-CC8218595965}" type="slidenum">
              <a:rPr lang="en-US" sz="1400" smtClean="0">
                <a:solidFill>
                  <a:srgbClr val="0070C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5</a:t>
            </a:fld>
            <a:endParaRPr lang="en-US" sz="1400">
              <a:solidFill>
                <a:srgbClr val="0070C0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CD3030E-C13F-9FE9-E5EF-AEF45900C4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 sz="1400">
                <a:solidFill>
                  <a:srgbClr val="0070C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EE/CPE584 Intro to VLSI</a:t>
            </a:r>
            <a:endParaRPr lang="en-US" sz="1400">
              <a:solidFill>
                <a:srgbClr val="0070C0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7" name="Text Placeholder 2">
            <a:extLst>
              <a:ext uri="{FF2B5EF4-FFF2-40B4-BE49-F238E27FC236}">
                <a16:creationId xmlns:a16="http://schemas.microsoft.com/office/drawing/2014/main" id="{E65F3BAD-A040-CAAD-739F-7EFAA836D56C}"/>
              </a:ext>
            </a:extLst>
          </p:cNvPr>
          <p:cNvSpPr txBox="1">
            <a:spLocks/>
          </p:cNvSpPr>
          <p:nvPr/>
        </p:nvSpPr>
        <p:spPr>
          <a:xfrm>
            <a:off x="324465" y="241980"/>
            <a:ext cx="11543070" cy="681036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4000" dirty="0">
                <a:solidFill>
                  <a:srgbClr val="0070C0"/>
                </a:solidFill>
                <a:ea typeface="Cambria" panose="02040503050406030204" pitchFamily="18" charset="0"/>
              </a:rPr>
              <a:t>Background – LIB Hierarchy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28F6B42A-A7F2-6BA3-F0CC-EA98992B8FD0}"/>
              </a:ext>
            </a:extLst>
          </p:cNvPr>
          <p:cNvSpPr/>
          <p:nvPr/>
        </p:nvSpPr>
        <p:spPr>
          <a:xfrm>
            <a:off x="3855815" y="997044"/>
            <a:ext cx="4942114" cy="5359306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marL="342900" indent="-342900">
              <a:buFontTx/>
              <a:buChar char="-"/>
            </a:pPr>
            <a:r>
              <a:rPr lang="en-US" sz="2200" dirty="0"/>
              <a:t>Library Name &amp; Units </a:t>
            </a:r>
          </a:p>
          <a:p>
            <a:pPr marL="342900" indent="-342900">
              <a:buFontTx/>
              <a:buChar char="-"/>
            </a:pPr>
            <a:r>
              <a:rPr lang="en-US" sz="2200" dirty="0"/>
              <a:t>Operating Conditions </a:t>
            </a:r>
          </a:p>
          <a:p>
            <a:pPr marL="342900" indent="-342900">
              <a:buFontTx/>
              <a:buChar char="-"/>
            </a:pPr>
            <a:r>
              <a:rPr lang="en-US" sz="2200" dirty="0"/>
              <a:t>Cell 1 </a:t>
            </a:r>
          </a:p>
          <a:p>
            <a:r>
              <a:rPr lang="en-US" sz="2200" dirty="0"/>
              <a:t>     - Area / Leakage Power</a:t>
            </a:r>
          </a:p>
          <a:p>
            <a:r>
              <a:rPr lang="en-US" sz="2200" dirty="0"/>
              <a:t>     - pin (input) </a:t>
            </a:r>
          </a:p>
          <a:p>
            <a:r>
              <a:rPr lang="en-US" sz="2200" dirty="0"/>
              <a:t>	- Capacitance</a:t>
            </a:r>
          </a:p>
          <a:p>
            <a:r>
              <a:rPr lang="en-US" sz="2200" dirty="0"/>
              <a:t>	- Timing (setup/hold)</a:t>
            </a:r>
          </a:p>
          <a:p>
            <a:r>
              <a:rPr lang="en-US" sz="2200" dirty="0"/>
              <a:t>     - pin (output) </a:t>
            </a:r>
          </a:p>
          <a:p>
            <a:r>
              <a:rPr lang="en-US" sz="2200" dirty="0"/>
              <a:t>	- Function</a:t>
            </a:r>
          </a:p>
          <a:p>
            <a:r>
              <a:rPr lang="en-US" sz="2200" dirty="0"/>
              <a:t>	- Timing (delays, transitions) </a:t>
            </a:r>
          </a:p>
          <a:p>
            <a:r>
              <a:rPr lang="en-US" sz="2200" dirty="0"/>
              <a:t>	- Power (rise/fall power) </a:t>
            </a:r>
          </a:p>
          <a:p>
            <a:pPr marL="342900" indent="-342900">
              <a:buFontTx/>
              <a:buChar char="-"/>
            </a:pPr>
            <a:r>
              <a:rPr lang="en-US" sz="2200" dirty="0"/>
              <a:t>Cell 2</a:t>
            </a:r>
          </a:p>
          <a:p>
            <a:pPr marL="342900" indent="-342900">
              <a:buFontTx/>
              <a:buChar char="-"/>
            </a:pPr>
            <a:r>
              <a:rPr lang="en-US" sz="2200" dirty="0"/>
              <a:t>Cell 3</a:t>
            </a:r>
          </a:p>
          <a:p>
            <a:r>
              <a:rPr lang="en-US" sz="2200" dirty="0"/>
              <a:t>	⋮ </a:t>
            </a:r>
          </a:p>
          <a:p>
            <a:pPr marL="342900" indent="-342900">
              <a:buFontTx/>
              <a:buChar char="-"/>
            </a:pPr>
            <a:r>
              <a:rPr lang="en-US" sz="2200" dirty="0"/>
              <a:t>cell N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9DBD1D20-DE9A-BC02-749E-76C44C38B1D3}"/>
              </a:ext>
            </a:extLst>
          </p:cNvPr>
          <p:cNvCxnSpPr>
            <a:cxnSpLocks/>
          </p:cNvCxnSpPr>
          <p:nvPr/>
        </p:nvCxnSpPr>
        <p:spPr>
          <a:xfrm flipH="1">
            <a:off x="2823582" y="1349174"/>
            <a:ext cx="1032233" cy="0"/>
          </a:xfrm>
          <a:prstGeom prst="line">
            <a:avLst/>
          </a:prstGeom>
          <a:ln w="28575" cap="flat" cmpd="sng" algn="ctr">
            <a:solidFill>
              <a:schemeClr val="tx2">
                <a:lumMod val="50000"/>
                <a:lumOff val="50000"/>
              </a:schemeClr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8AE4F7EE-57E1-471A-E99B-327B4471C8BD}"/>
              </a:ext>
            </a:extLst>
          </p:cNvPr>
          <p:cNvCxnSpPr>
            <a:cxnSpLocks/>
          </p:cNvCxnSpPr>
          <p:nvPr/>
        </p:nvCxnSpPr>
        <p:spPr>
          <a:xfrm>
            <a:off x="7118684" y="1696159"/>
            <a:ext cx="2069432" cy="0"/>
          </a:xfrm>
          <a:prstGeom prst="line">
            <a:avLst/>
          </a:prstGeom>
          <a:ln w="28575" cap="flat" cmpd="sng" algn="ctr">
            <a:solidFill>
              <a:schemeClr val="tx2">
                <a:lumMod val="50000"/>
                <a:lumOff val="50000"/>
              </a:schemeClr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F9F1A876-0B3F-E4E3-7139-7AA093F5528F}"/>
              </a:ext>
            </a:extLst>
          </p:cNvPr>
          <p:cNvSpPr txBox="1"/>
          <p:nvPr/>
        </p:nvSpPr>
        <p:spPr>
          <a:xfrm>
            <a:off x="264299" y="1149235"/>
            <a:ext cx="281545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000">
                <a:ea typeface="Cambria" panose="02040503050406030204" pitchFamily="18" charset="0"/>
              </a:rPr>
              <a:t>Defines the library</a:t>
            </a:r>
          </a:p>
          <a:p>
            <a:pPr algn="ctr"/>
            <a:r>
              <a:rPr lang="en-US" sz="2000">
                <a:ea typeface="Cambria" panose="02040503050406030204" pitchFamily="18" charset="0"/>
              </a:rPr>
              <a:t>and measurement units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F85BC18-C979-D188-BD52-D66FEDA89114}"/>
              </a:ext>
            </a:extLst>
          </p:cNvPr>
          <p:cNvSpPr txBox="1"/>
          <p:nvPr/>
        </p:nvSpPr>
        <p:spPr>
          <a:xfrm>
            <a:off x="8784293" y="1333263"/>
            <a:ext cx="3394071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000">
                <a:ea typeface="Cambria" panose="02040503050406030204" pitchFamily="18" charset="0"/>
              </a:rPr>
              <a:t>Defines the process,</a:t>
            </a:r>
          </a:p>
          <a:p>
            <a:pPr algn="ctr"/>
            <a:r>
              <a:rPr lang="en-US" sz="2000">
                <a:ea typeface="Cambria" panose="02040503050406030204" pitchFamily="18" charset="0"/>
              </a:rPr>
              <a:t>voltage, and temp the </a:t>
            </a:r>
          </a:p>
          <a:p>
            <a:pPr algn="ctr"/>
            <a:r>
              <a:rPr lang="en-US" sz="2000">
                <a:ea typeface="Cambria" panose="02040503050406030204" pitchFamily="18" charset="0"/>
              </a:rPr>
              <a:t>the library was characterized</a:t>
            </a:r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C5C1C630-F4EC-9CEF-6917-CAB69FD7B927}"/>
              </a:ext>
            </a:extLst>
          </p:cNvPr>
          <p:cNvCxnSpPr>
            <a:cxnSpLocks/>
          </p:cNvCxnSpPr>
          <p:nvPr/>
        </p:nvCxnSpPr>
        <p:spPr>
          <a:xfrm flipH="1">
            <a:off x="3434445" y="2348926"/>
            <a:ext cx="715280" cy="0"/>
          </a:xfrm>
          <a:prstGeom prst="line">
            <a:avLst/>
          </a:prstGeom>
          <a:ln w="28575" cap="flat" cmpd="sng" algn="ctr">
            <a:solidFill>
              <a:schemeClr val="tx2">
                <a:lumMod val="50000"/>
                <a:lumOff val="50000"/>
              </a:schemeClr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E65D893F-93E8-D29B-AF5F-AAF0E7F18C24}"/>
              </a:ext>
            </a:extLst>
          </p:cNvPr>
          <p:cNvSpPr txBox="1"/>
          <p:nvPr/>
        </p:nvSpPr>
        <p:spPr>
          <a:xfrm>
            <a:off x="-69848" y="2069288"/>
            <a:ext cx="350429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000" dirty="0">
                <a:ea typeface="Cambria" panose="02040503050406030204" pitchFamily="18" charset="0"/>
              </a:rPr>
              <a:t>Cell Properties: Physical size</a:t>
            </a:r>
          </a:p>
          <a:p>
            <a:pPr algn="ctr"/>
            <a:r>
              <a:rPr lang="en-US" sz="2000" dirty="0">
                <a:ea typeface="Cambria" panose="02040503050406030204" pitchFamily="18" charset="0"/>
              </a:rPr>
              <a:t>Power consumption when idle</a:t>
            </a:r>
          </a:p>
        </p:txBody>
      </p:sp>
      <p:cxnSp>
        <p:nvCxnSpPr>
          <p:cNvPr id="24" name="Connector: Curved 23">
            <a:extLst>
              <a:ext uri="{FF2B5EF4-FFF2-40B4-BE49-F238E27FC236}">
                <a16:creationId xmlns:a16="http://schemas.microsoft.com/office/drawing/2014/main" id="{72A651E9-BB43-4BF9-CB5A-456962CBBE6E}"/>
              </a:ext>
            </a:extLst>
          </p:cNvPr>
          <p:cNvCxnSpPr>
            <a:cxnSpLocks/>
          </p:cNvCxnSpPr>
          <p:nvPr/>
        </p:nvCxnSpPr>
        <p:spPr>
          <a:xfrm rot="10800000" flipV="1">
            <a:off x="3243715" y="2687795"/>
            <a:ext cx="906011" cy="473425"/>
          </a:xfrm>
          <a:prstGeom prst="curvedConnector3">
            <a:avLst/>
          </a:prstGeom>
          <a:ln w="28575" cap="flat" cmpd="sng" algn="ctr">
            <a:solidFill>
              <a:schemeClr val="tx2">
                <a:lumMod val="50000"/>
                <a:lumOff val="50000"/>
              </a:schemeClr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27" name="TextBox 26">
            <a:extLst>
              <a:ext uri="{FF2B5EF4-FFF2-40B4-BE49-F238E27FC236}">
                <a16:creationId xmlns:a16="http://schemas.microsoft.com/office/drawing/2014/main" id="{1EB8B21C-0C7B-3C69-7443-E6633F00CB4A}"/>
              </a:ext>
            </a:extLst>
          </p:cNvPr>
          <p:cNvSpPr txBox="1"/>
          <p:nvPr/>
        </p:nvSpPr>
        <p:spPr>
          <a:xfrm>
            <a:off x="923848" y="2943420"/>
            <a:ext cx="234391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000">
                <a:ea typeface="Cambria" panose="02040503050406030204" pitchFamily="18" charset="0"/>
              </a:rPr>
              <a:t>Input Pin Definition</a:t>
            </a:r>
          </a:p>
        </p:txBody>
      </p: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1140EA43-9716-B365-B235-786E360C9975}"/>
              </a:ext>
            </a:extLst>
          </p:cNvPr>
          <p:cNvCxnSpPr>
            <a:cxnSpLocks/>
          </p:cNvCxnSpPr>
          <p:nvPr/>
        </p:nvCxnSpPr>
        <p:spPr>
          <a:xfrm flipH="1">
            <a:off x="3243714" y="3704484"/>
            <a:ext cx="837832" cy="0"/>
          </a:xfrm>
          <a:prstGeom prst="line">
            <a:avLst/>
          </a:prstGeom>
          <a:ln w="28575" cap="flat" cmpd="sng" algn="ctr">
            <a:solidFill>
              <a:schemeClr val="tx2">
                <a:lumMod val="50000"/>
                <a:lumOff val="50000"/>
              </a:schemeClr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30" name="TextBox 29">
            <a:extLst>
              <a:ext uri="{FF2B5EF4-FFF2-40B4-BE49-F238E27FC236}">
                <a16:creationId xmlns:a16="http://schemas.microsoft.com/office/drawing/2014/main" id="{1E63F5EB-F42B-23CD-0F56-8D78EAE5CF41}"/>
              </a:ext>
            </a:extLst>
          </p:cNvPr>
          <p:cNvSpPr txBox="1"/>
          <p:nvPr/>
        </p:nvSpPr>
        <p:spPr>
          <a:xfrm>
            <a:off x="742708" y="3500089"/>
            <a:ext cx="25010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000">
                <a:ea typeface="Cambria" panose="02040503050406030204" pitchFamily="18" charset="0"/>
              </a:rPr>
              <a:t>Output Pin Definition</a:t>
            </a:r>
          </a:p>
        </p:txBody>
      </p: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7B322CA9-29C8-E969-E952-03507E056C3E}"/>
              </a:ext>
            </a:extLst>
          </p:cNvPr>
          <p:cNvCxnSpPr>
            <a:cxnSpLocks/>
          </p:cNvCxnSpPr>
          <p:nvPr/>
        </p:nvCxnSpPr>
        <p:spPr>
          <a:xfrm>
            <a:off x="7562248" y="3363289"/>
            <a:ext cx="1508849" cy="0"/>
          </a:xfrm>
          <a:prstGeom prst="line">
            <a:avLst/>
          </a:prstGeom>
          <a:ln w="28575" cap="flat" cmpd="sng" algn="ctr">
            <a:solidFill>
              <a:schemeClr val="tx2">
                <a:lumMod val="50000"/>
                <a:lumOff val="50000"/>
              </a:schemeClr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39" name="TextBox 38">
            <a:extLst>
              <a:ext uri="{FF2B5EF4-FFF2-40B4-BE49-F238E27FC236}">
                <a16:creationId xmlns:a16="http://schemas.microsoft.com/office/drawing/2014/main" id="{8C606E6B-0896-6EAA-561C-CFEDCF80F35B}"/>
              </a:ext>
            </a:extLst>
          </p:cNvPr>
          <p:cNvSpPr txBox="1"/>
          <p:nvPr/>
        </p:nvSpPr>
        <p:spPr>
          <a:xfrm>
            <a:off x="9100636" y="3172231"/>
            <a:ext cx="234865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000">
                <a:ea typeface="Cambria" panose="02040503050406030204" pitchFamily="18" charset="0"/>
              </a:rPr>
              <a:t>For sequential cells</a:t>
            </a:r>
          </a:p>
        </p:txBody>
      </p: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25B8F361-B56F-6E13-6E0E-BAD08EA5D435}"/>
              </a:ext>
            </a:extLst>
          </p:cNvPr>
          <p:cNvCxnSpPr>
            <a:cxnSpLocks/>
          </p:cNvCxnSpPr>
          <p:nvPr/>
        </p:nvCxnSpPr>
        <p:spPr>
          <a:xfrm>
            <a:off x="6417733" y="4044751"/>
            <a:ext cx="2653364" cy="0"/>
          </a:xfrm>
          <a:prstGeom prst="line">
            <a:avLst/>
          </a:prstGeom>
          <a:ln w="28575" cap="flat" cmpd="sng" algn="ctr">
            <a:solidFill>
              <a:schemeClr val="tx2">
                <a:lumMod val="50000"/>
                <a:lumOff val="50000"/>
              </a:schemeClr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41" name="TextBox 40">
            <a:extLst>
              <a:ext uri="{FF2B5EF4-FFF2-40B4-BE49-F238E27FC236}">
                <a16:creationId xmlns:a16="http://schemas.microsoft.com/office/drawing/2014/main" id="{1EAD509D-8910-8758-2DB4-E6E0514883DD}"/>
              </a:ext>
            </a:extLst>
          </p:cNvPr>
          <p:cNvSpPr txBox="1"/>
          <p:nvPr/>
        </p:nvSpPr>
        <p:spPr>
          <a:xfrm>
            <a:off x="8977165" y="3673980"/>
            <a:ext cx="2197397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000">
                <a:ea typeface="Cambria" panose="02040503050406030204" pitchFamily="18" charset="0"/>
              </a:rPr>
              <a:t>Boolean Equation </a:t>
            </a:r>
          </a:p>
          <a:p>
            <a:pPr algn="ctr"/>
            <a:r>
              <a:rPr lang="en-US" sz="2000">
                <a:ea typeface="Cambria" panose="02040503050406030204" pitchFamily="18" charset="0"/>
              </a:rPr>
              <a:t>of the output</a:t>
            </a:r>
          </a:p>
        </p:txBody>
      </p:sp>
      <p:cxnSp>
        <p:nvCxnSpPr>
          <p:cNvPr id="44" name="Straight Connector 43">
            <a:extLst>
              <a:ext uri="{FF2B5EF4-FFF2-40B4-BE49-F238E27FC236}">
                <a16:creationId xmlns:a16="http://schemas.microsoft.com/office/drawing/2014/main" id="{230763FB-314D-33DD-D8D0-F254EFDE6B2E}"/>
              </a:ext>
            </a:extLst>
          </p:cNvPr>
          <p:cNvCxnSpPr>
            <a:cxnSpLocks/>
          </p:cNvCxnSpPr>
          <p:nvPr/>
        </p:nvCxnSpPr>
        <p:spPr>
          <a:xfrm flipH="1">
            <a:off x="3496733" y="4347950"/>
            <a:ext cx="1270613" cy="0"/>
          </a:xfrm>
          <a:prstGeom prst="line">
            <a:avLst/>
          </a:prstGeom>
          <a:ln w="28575" cap="flat" cmpd="sng" algn="ctr">
            <a:solidFill>
              <a:schemeClr val="tx2">
                <a:lumMod val="50000"/>
                <a:lumOff val="50000"/>
              </a:schemeClr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46" name="TextBox 45">
            <a:extLst>
              <a:ext uri="{FF2B5EF4-FFF2-40B4-BE49-F238E27FC236}">
                <a16:creationId xmlns:a16="http://schemas.microsoft.com/office/drawing/2014/main" id="{1D3CCD83-17A6-BA26-2D13-3DFD7FDCFB5B}"/>
              </a:ext>
            </a:extLst>
          </p:cNvPr>
          <p:cNvSpPr txBox="1"/>
          <p:nvPr/>
        </p:nvSpPr>
        <p:spPr>
          <a:xfrm>
            <a:off x="1488973" y="4066445"/>
            <a:ext cx="1978810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000">
                <a:ea typeface="Cambria" panose="02040503050406030204" pitchFamily="18" charset="0"/>
              </a:rPr>
              <a:t>How fast the </a:t>
            </a:r>
          </a:p>
          <a:p>
            <a:pPr algn="ctr"/>
            <a:r>
              <a:rPr lang="en-US" sz="2000">
                <a:ea typeface="Cambria" panose="02040503050406030204" pitchFamily="18" charset="0"/>
              </a:rPr>
              <a:t>output switched</a:t>
            </a:r>
          </a:p>
        </p:txBody>
      </p:sp>
      <p:cxnSp>
        <p:nvCxnSpPr>
          <p:cNvPr id="47" name="Straight Connector 46">
            <a:extLst>
              <a:ext uri="{FF2B5EF4-FFF2-40B4-BE49-F238E27FC236}">
                <a16:creationId xmlns:a16="http://schemas.microsoft.com/office/drawing/2014/main" id="{1331A097-928D-3D28-FE17-7E793D431150}"/>
              </a:ext>
            </a:extLst>
          </p:cNvPr>
          <p:cNvCxnSpPr>
            <a:cxnSpLocks/>
          </p:cNvCxnSpPr>
          <p:nvPr/>
        </p:nvCxnSpPr>
        <p:spPr>
          <a:xfrm>
            <a:off x="7909381" y="4692556"/>
            <a:ext cx="1191255" cy="0"/>
          </a:xfrm>
          <a:prstGeom prst="line">
            <a:avLst/>
          </a:prstGeom>
          <a:ln w="28575" cap="flat" cmpd="sng" algn="ctr">
            <a:solidFill>
              <a:schemeClr val="tx2">
                <a:lumMod val="50000"/>
                <a:lumOff val="50000"/>
              </a:schemeClr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49" name="TextBox 48">
            <a:extLst>
              <a:ext uri="{FF2B5EF4-FFF2-40B4-BE49-F238E27FC236}">
                <a16:creationId xmlns:a16="http://schemas.microsoft.com/office/drawing/2014/main" id="{3C06437B-8912-5D6B-FE57-142C01355D2A}"/>
              </a:ext>
            </a:extLst>
          </p:cNvPr>
          <p:cNvSpPr txBox="1"/>
          <p:nvPr/>
        </p:nvSpPr>
        <p:spPr>
          <a:xfrm>
            <a:off x="9096365" y="4398694"/>
            <a:ext cx="1958998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000">
                <a:ea typeface="Cambria" panose="02040503050406030204" pitchFamily="18" charset="0"/>
              </a:rPr>
              <a:t>Dynamic power </a:t>
            </a:r>
          </a:p>
          <a:p>
            <a:pPr algn="ctr"/>
            <a:r>
              <a:rPr lang="en-US" sz="2000">
                <a:ea typeface="Cambria" panose="02040503050406030204" pitchFamily="18" charset="0"/>
              </a:rPr>
              <a:t>consumed</a:t>
            </a:r>
          </a:p>
        </p:txBody>
      </p:sp>
    </p:spTree>
    <p:extLst>
      <p:ext uri="{BB962C8B-B14F-4D97-AF65-F5344CB8AC3E}">
        <p14:creationId xmlns:p14="http://schemas.microsoft.com/office/powerpoint/2010/main" val="290943325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A6A0BC-AAC7-BA43-35C1-02C79CDA50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7423E2-EDF4-7EC7-B160-DF151D462A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6900" y="0"/>
            <a:ext cx="10515600" cy="1325563"/>
          </a:xfrm>
        </p:spPr>
        <p:txBody>
          <a:bodyPr>
            <a:normAutofit/>
          </a:bodyPr>
          <a:lstStyle/>
          <a:p>
            <a:r>
              <a:rPr lang="en-US" sz="4000" dirty="0">
                <a:solidFill>
                  <a:srgbClr val="0070C0"/>
                </a:solidFill>
                <a:latin typeface="+mn-lt"/>
                <a:ea typeface="Cambria" panose="02040503050406030204" pitchFamily="18" charset="0"/>
              </a:rPr>
              <a:t>Provided Script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637E9E2-70F1-89D4-02B9-2EFF3DEA6AF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6900" y="1143001"/>
            <a:ext cx="10756900" cy="5395912"/>
          </a:xfrm>
        </p:spPr>
        <p:txBody>
          <a:bodyPr>
            <a:norm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en-US" dirty="0">
                <a:ea typeface="Cambria" panose="02040503050406030204" pitchFamily="18" charset="0"/>
              </a:rPr>
              <a:t>Quality assurance tool that validates LEF cell library files against Liberty and technology files for DRC compliance.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dirty="0">
                <a:ea typeface="Cambria" panose="02040503050406030204" pitchFamily="18" charset="0"/>
              </a:rPr>
              <a:t>The provided script can:</a:t>
            </a:r>
          </a:p>
          <a:p>
            <a:pPr>
              <a:lnSpc>
                <a:spcPct val="100000"/>
              </a:lnSpc>
            </a:pPr>
            <a:r>
              <a:rPr lang="en-US" b="1" dirty="0">
                <a:ea typeface="Cambria" panose="02040503050406030204" pitchFamily="18" charset="0"/>
              </a:rPr>
              <a:t>Parses and sorts LEF files:</a:t>
            </a:r>
            <a:r>
              <a:rPr lang="en-US" dirty="0">
                <a:ea typeface="Cambria" panose="02040503050406030204" pitchFamily="18" charset="0"/>
              </a:rPr>
              <a:t> Reads LEF files and sorts cells, pins, and properties in a consistent order.</a:t>
            </a:r>
          </a:p>
          <a:p>
            <a:pPr marL="514350" indent="-514350">
              <a:lnSpc>
                <a:spcPct val="100000"/>
              </a:lnSpc>
              <a:buFont typeface="+mj-lt"/>
              <a:buAutoNum type="arabicPeriod"/>
            </a:pPr>
            <a:endParaRPr lang="en-US" sz="900" dirty="0">
              <a:ea typeface="Cambria" panose="02040503050406030204" pitchFamily="18" charset="0"/>
            </a:endParaRPr>
          </a:p>
          <a:p>
            <a:pPr>
              <a:lnSpc>
                <a:spcPct val="100000"/>
              </a:lnSpc>
            </a:pPr>
            <a:r>
              <a:rPr lang="en-US" b="1" dirty="0">
                <a:ea typeface="Cambria" panose="02040503050406030204" pitchFamily="18" charset="0"/>
              </a:rPr>
              <a:t>Cross-checks LEF against LIB files: </a:t>
            </a:r>
            <a:r>
              <a:rPr lang="en-US" dirty="0">
                <a:ea typeface="Cambria" panose="02040503050406030204" pitchFamily="18" charset="0"/>
              </a:rPr>
              <a:t>Compares cells and pins between LEF and Liberty files to find mismatch cells and pins.</a:t>
            </a:r>
          </a:p>
          <a:p>
            <a:pPr marL="514350" indent="-514350">
              <a:lnSpc>
                <a:spcPct val="100000"/>
              </a:lnSpc>
              <a:buFont typeface="+mj-lt"/>
              <a:buAutoNum type="arabicPeriod"/>
            </a:pPr>
            <a:endParaRPr lang="en-US" sz="900" dirty="0">
              <a:ea typeface="Cambria" panose="02040503050406030204" pitchFamily="18" charset="0"/>
            </a:endParaRPr>
          </a:p>
          <a:p>
            <a:pPr>
              <a:lnSpc>
                <a:spcPct val="100000"/>
              </a:lnSpc>
            </a:pPr>
            <a:r>
              <a:rPr lang="en-US" b="1" dirty="0">
                <a:ea typeface="Cambria" panose="02040503050406030204" pitchFamily="18" charset="0"/>
              </a:rPr>
              <a:t>Validates LEF file syntax and completeness:</a:t>
            </a:r>
            <a:r>
              <a:rPr lang="en-US" dirty="0">
                <a:ea typeface="Cambria" panose="02040503050406030204" pitchFamily="18" charset="0"/>
              </a:rPr>
              <a:t> Checks to see if the direction for pin properties matches</a:t>
            </a:r>
          </a:p>
          <a:p>
            <a:pPr marL="0" indent="0">
              <a:lnSpc>
                <a:spcPct val="100000"/>
              </a:lnSpc>
              <a:buNone/>
            </a:pPr>
            <a:endParaRPr lang="en-US" dirty="0">
              <a:ea typeface="Cambria" panose="02040503050406030204" pitchFamily="18" charset="0"/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8120435-A5E2-7794-F280-DE6DEA5738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6D28ED-750A-4DFC-A458-38B3E79E4C7D}" type="datetime1">
              <a:rPr lang="en-US" sz="1400" smtClean="0">
                <a:solidFill>
                  <a:srgbClr val="0070C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12/19/2025</a:t>
            </a:fld>
            <a:endParaRPr lang="en-US" sz="1400">
              <a:solidFill>
                <a:srgbClr val="0070C0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5FE00F6-A345-D5E1-8CAD-CBFB7B1AA7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 sz="1400">
                <a:solidFill>
                  <a:srgbClr val="0070C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EE/CPE584 Intro to VLSI</a:t>
            </a:r>
            <a:endParaRPr lang="en-US" sz="1400">
              <a:solidFill>
                <a:srgbClr val="0070C0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F0C3233-7DBE-6CFD-55F0-730A0870CE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8A6112-8193-45F5-863E-CC8218595965}" type="slidenum">
              <a:rPr lang="en-US" sz="1400" smtClean="0">
                <a:solidFill>
                  <a:srgbClr val="0070C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6</a:t>
            </a:fld>
            <a:endParaRPr lang="en-US" sz="1400">
              <a:solidFill>
                <a:srgbClr val="0070C0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836230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03896D-CF07-61E7-9652-0381F3FA59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8B564A-C46C-BAC8-CA71-5F5BAA6B6E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6900" y="0"/>
            <a:ext cx="10515600" cy="1325563"/>
          </a:xfrm>
        </p:spPr>
        <p:txBody>
          <a:bodyPr>
            <a:normAutofit/>
          </a:bodyPr>
          <a:lstStyle/>
          <a:p>
            <a:r>
              <a:rPr lang="en-US" sz="4000" dirty="0">
                <a:solidFill>
                  <a:srgbClr val="0070C0"/>
                </a:solidFill>
                <a:latin typeface="+mn-lt"/>
                <a:ea typeface="Cambria" panose="02040503050406030204" pitchFamily="18" charset="0"/>
              </a:rPr>
              <a:t>Script Command Lines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B712E2F-B9C4-DE37-716A-6E8BE931B75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6900" y="1143001"/>
            <a:ext cx="10081986" cy="5395912"/>
          </a:xfrm>
        </p:spPr>
        <p:txBody>
          <a:bodyPr>
            <a:normAutofit/>
          </a:bodyPr>
          <a:lstStyle/>
          <a:p>
            <a:pPr marL="285750" indent="-285750">
              <a:buFont typeface="Arial"/>
              <a:buChar char="•"/>
            </a:pPr>
            <a:r>
              <a:rPr lang="en-US" sz="2400" dirty="0">
                <a:ea typeface="Cambria" panose="02040503050406030204" pitchFamily="18" charset="0"/>
                <a:cs typeface="+mn-lt"/>
              </a:rPr>
              <a:t>To run the script:</a:t>
            </a:r>
          </a:p>
          <a:p>
            <a:pPr marL="742950" lvl="1" indent="-285750">
              <a:buFont typeface="Arial"/>
              <a:buChar char="•"/>
            </a:pPr>
            <a:r>
              <a:rPr lang="en-US" sz="2000" dirty="0">
                <a:ea typeface="Cambria" panose="02040503050406030204" pitchFamily="18" charset="0"/>
              </a:rPr>
              <a:t>     ./</a:t>
            </a:r>
            <a:r>
              <a:rPr lang="en-US" sz="2000" dirty="0" err="1">
                <a:ea typeface="Cambria" panose="02040503050406030204" pitchFamily="18" charset="0"/>
              </a:rPr>
              <a:t>lef_QA.rb</a:t>
            </a:r>
            <a:r>
              <a:rPr lang="en-US" sz="2000" dirty="0">
                <a:ea typeface="Cambria" panose="02040503050406030204" pitchFamily="18" charset="0"/>
              </a:rPr>
              <a:t> -w &lt;</a:t>
            </a:r>
            <a:r>
              <a:rPr lang="en-US" sz="2000" dirty="0" err="1">
                <a:ea typeface="Cambria" panose="02040503050406030204" pitchFamily="18" charset="0"/>
              </a:rPr>
              <a:t>workspace_dir</a:t>
            </a:r>
            <a:r>
              <a:rPr lang="en-US" sz="2000" dirty="0">
                <a:ea typeface="Cambria" panose="02040503050406030204" pitchFamily="18" charset="0"/>
              </a:rPr>
              <a:t>&gt; 		</a:t>
            </a:r>
            <a:r>
              <a:rPr lang="en-US" sz="2000" i="1" dirty="0">
                <a:ea typeface="Cambria" panose="02040503050406030204" pitchFamily="18" charset="0"/>
              </a:rPr>
              <a:t># Specify working directory</a:t>
            </a:r>
          </a:p>
          <a:p>
            <a:pPr lvl="1"/>
            <a:r>
              <a:rPr lang="en-US" sz="2000" dirty="0">
                <a:ea typeface="Cambria" panose="02040503050406030204" pitchFamily="18" charset="0"/>
              </a:rPr>
              <a:t>      ./</a:t>
            </a:r>
            <a:r>
              <a:rPr lang="en-US" sz="2000" dirty="0" err="1">
                <a:ea typeface="Cambria" panose="02040503050406030204" pitchFamily="18" charset="0"/>
              </a:rPr>
              <a:t>lef_QA.rb</a:t>
            </a:r>
            <a:r>
              <a:rPr lang="en-US" sz="2000" dirty="0">
                <a:ea typeface="Cambria" panose="02040503050406030204" pitchFamily="18" charset="0"/>
              </a:rPr>
              <a:t> -t &lt;</a:t>
            </a:r>
            <a:r>
              <a:rPr lang="en-US" sz="2000" dirty="0" err="1">
                <a:ea typeface="Cambria" panose="02040503050406030204" pitchFamily="18" charset="0"/>
              </a:rPr>
              <a:t>tech.tlef</a:t>
            </a:r>
            <a:r>
              <a:rPr lang="en-US" sz="2000" dirty="0">
                <a:ea typeface="Cambria" panose="02040503050406030204" pitchFamily="18" charset="0"/>
              </a:rPr>
              <a:t>&gt; 			</a:t>
            </a:r>
            <a:r>
              <a:rPr lang="en-US" sz="2000" i="1" dirty="0">
                <a:ea typeface="Cambria" panose="02040503050406030204" pitchFamily="18" charset="0"/>
              </a:rPr>
              <a:t># Specify technology LEF</a:t>
            </a:r>
          </a:p>
          <a:p>
            <a:pPr lvl="1"/>
            <a:r>
              <a:rPr lang="en-US" sz="2000" dirty="0">
                <a:ea typeface="Cambria" panose="02040503050406030204" pitchFamily="18" charset="0"/>
              </a:rPr>
              <a:t>      ./</a:t>
            </a:r>
            <a:r>
              <a:rPr lang="en-US" sz="2000" dirty="0" err="1">
                <a:ea typeface="Cambria" panose="02040503050406030204" pitchFamily="18" charset="0"/>
              </a:rPr>
              <a:t>lef_QA.rb</a:t>
            </a:r>
            <a:r>
              <a:rPr lang="en-US" sz="2000" dirty="0">
                <a:ea typeface="Cambria" panose="02040503050406030204" pitchFamily="18" charset="0"/>
              </a:rPr>
              <a:t> -l &lt;</a:t>
            </a:r>
            <a:r>
              <a:rPr lang="en-US" sz="2000" dirty="0" err="1">
                <a:ea typeface="Cambria" panose="02040503050406030204" pitchFamily="18" charset="0"/>
              </a:rPr>
              <a:t>liberty_dir</a:t>
            </a:r>
            <a:r>
              <a:rPr lang="en-US" sz="2000" dirty="0">
                <a:ea typeface="Cambria" panose="02040503050406030204" pitchFamily="18" charset="0"/>
              </a:rPr>
              <a:t>&gt; 		</a:t>
            </a:r>
            <a:r>
              <a:rPr lang="en-US" sz="2000" i="1" dirty="0">
                <a:ea typeface="Cambria" panose="02040503050406030204" pitchFamily="18" charset="0"/>
              </a:rPr>
              <a:t># Specify liberty file directory</a:t>
            </a:r>
          </a:p>
          <a:p>
            <a:pPr lvl="1"/>
            <a:r>
              <a:rPr lang="en-US" sz="2000" i="1" dirty="0">
                <a:ea typeface="Cambria" panose="02040503050406030204" pitchFamily="18" charset="0"/>
              </a:rPr>
              <a:t>      </a:t>
            </a:r>
            <a:r>
              <a:rPr lang="en-US" sz="2000" dirty="0">
                <a:ea typeface="Cambria" panose="02040503050406030204" pitchFamily="18" charset="0"/>
              </a:rPr>
              <a:t>./</a:t>
            </a:r>
            <a:r>
              <a:rPr lang="en-US" sz="2000" dirty="0" err="1">
                <a:ea typeface="Cambria" panose="02040503050406030204" pitchFamily="18" charset="0"/>
              </a:rPr>
              <a:t>lef_QA.rb</a:t>
            </a:r>
            <a:r>
              <a:rPr lang="en-US" sz="2000" dirty="0">
                <a:ea typeface="Cambria" panose="02040503050406030204" pitchFamily="18" charset="0"/>
              </a:rPr>
              <a:t> -s &lt;</a:t>
            </a:r>
            <a:r>
              <a:rPr lang="en-US" sz="2000" dirty="0" err="1">
                <a:ea typeface="Cambria" panose="02040503050406030204" pitchFamily="18" charset="0"/>
              </a:rPr>
              <a:t>file.lef</a:t>
            </a:r>
            <a:r>
              <a:rPr lang="en-US" sz="2000" dirty="0">
                <a:ea typeface="Cambria" panose="02040503050406030204" pitchFamily="18" charset="0"/>
              </a:rPr>
              <a:t>&gt; 			</a:t>
            </a:r>
            <a:r>
              <a:rPr lang="en-US" sz="2000" i="1" dirty="0">
                <a:ea typeface="Cambria" panose="02040503050406030204" pitchFamily="18" charset="0"/>
              </a:rPr>
              <a:t># Only sort LEF file</a:t>
            </a:r>
          </a:p>
          <a:p>
            <a:pPr lvl="1"/>
            <a:r>
              <a:rPr lang="en-US" sz="2000" i="1" dirty="0">
                <a:ea typeface="Cambria" panose="02040503050406030204" pitchFamily="18" charset="0"/>
              </a:rPr>
              <a:t>      </a:t>
            </a:r>
            <a:r>
              <a:rPr lang="en-US" sz="2000" dirty="0">
                <a:ea typeface="Cambria" panose="02040503050406030204" pitchFamily="18" charset="0"/>
              </a:rPr>
              <a:t>./</a:t>
            </a:r>
            <a:r>
              <a:rPr lang="en-US" sz="2000" dirty="0" err="1">
                <a:ea typeface="Cambria" panose="02040503050406030204" pitchFamily="18" charset="0"/>
              </a:rPr>
              <a:t>lef_QA.rb</a:t>
            </a:r>
            <a:r>
              <a:rPr lang="en-US" sz="2000" dirty="0">
                <a:ea typeface="Cambria" panose="02040503050406030204" pitchFamily="18" charset="0"/>
              </a:rPr>
              <a:t> -</a:t>
            </a:r>
            <a:r>
              <a:rPr lang="en-US" sz="2000" dirty="0" err="1">
                <a:ea typeface="Cambria" panose="02040503050406030204" pitchFamily="18" charset="0"/>
              </a:rPr>
              <a:t>i</a:t>
            </a:r>
            <a:r>
              <a:rPr lang="en-US" sz="2000" dirty="0">
                <a:ea typeface="Cambria" panose="02040503050406030204" pitchFamily="18" charset="0"/>
              </a:rPr>
              <a:t> &lt;</a:t>
            </a:r>
            <a:r>
              <a:rPr lang="en-US" sz="2000" dirty="0" err="1">
                <a:ea typeface="Cambria" panose="02040503050406030204" pitchFamily="18" charset="0"/>
              </a:rPr>
              <a:t>file.lef</a:t>
            </a:r>
            <a:r>
              <a:rPr lang="en-US" sz="2000" dirty="0">
                <a:ea typeface="Cambria" panose="02040503050406030204" pitchFamily="18" charset="0"/>
              </a:rPr>
              <a:t>&gt; 			</a:t>
            </a:r>
            <a:r>
              <a:rPr lang="en-US" sz="2000" i="1" dirty="0">
                <a:ea typeface="Cambria" panose="02040503050406030204" pitchFamily="18" charset="0"/>
              </a:rPr>
              <a:t># Skips printing large errors (&gt;1000)</a:t>
            </a:r>
          </a:p>
          <a:p>
            <a:pPr lvl="1"/>
            <a:r>
              <a:rPr lang="da-DK" sz="2000" dirty="0">
                <a:ea typeface="Cambria" panose="02040503050406030204" pitchFamily="18" charset="0"/>
              </a:rPr>
              <a:t>      ./lef_QA.rb –h				</a:t>
            </a:r>
            <a:r>
              <a:rPr lang="da-DK" sz="2000" i="1" dirty="0">
                <a:ea typeface="Cambria" panose="02040503050406030204" pitchFamily="18" charset="0"/>
              </a:rPr>
              <a:t># Outputs the help manu</a:t>
            </a:r>
          </a:p>
          <a:p>
            <a:r>
              <a:rPr lang="da-DK" sz="2400" dirty="0">
                <a:ea typeface="Cambria" panose="02040503050406030204" pitchFamily="18" charset="0"/>
                <a:cs typeface="+mn-lt"/>
              </a:rPr>
              <a:t>Cannot run –w with –s.</a:t>
            </a:r>
          </a:p>
          <a:p>
            <a:r>
              <a:rPr lang="da-DK" sz="2400" dirty="0">
                <a:ea typeface="Cambria" panose="02040503050406030204" pitchFamily="18" charset="0"/>
                <a:cs typeface="+mn-lt"/>
              </a:rPr>
              <a:t>Can run –s with –l and –t. For example:</a:t>
            </a:r>
          </a:p>
          <a:p>
            <a:pPr marL="0" indent="0">
              <a:buNone/>
            </a:pPr>
            <a:r>
              <a:rPr lang="en-US" sz="2400" dirty="0">
                <a:ea typeface="Cambria" panose="02040503050406030204" pitchFamily="18" charset="0"/>
              </a:rPr>
              <a:t>	./</a:t>
            </a:r>
            <a:r>
              <a:rPr lang="en-US" sz="2400" dirty="0" err="1">
                <a:ea typeface="Cambria" panose="02040503050406030204" pitchFamily="18" charset="0"/>
              </a:rPr>
              <a:t>lef_QA.rb</a:t>
            </a:r>
            <a:r>
              <a:rPr lang="en-US" sz="2400" dirty="0">
                <a:ea typeface="Cambria" panose="02040503050406030204" pitchFamily="18" charset="0"/>
              </a:rPr>
              <a:t> -s &lt;</a:t>
            </a:r>
            <a:r>
              <a:rPr lang="en-US" sz="2400" dirty="0" err="1">
                <a:ea typeface="Cambria" panose="02040503050406030204" pitchFamily="18" charset="0"/>
              </a:rPr>
              <a:t>file.lef</a:t>
            </a:r>
            <a:r>
              <a:rPr lang="en-US" sz="2400" dirty="0">
                <a:ea typeface="Cambria" panose="02040503050406030204" pitchFamily="18" charset="0"/>
              </a:rPr>
              <a:t>&gt; -l &lt;</a:t>
            </a:r>
            <a:r>
              <a:rPr lang="en-US" sz="2400" dirty="0" err="1">
                <a:ea typeface="Cambria" panose="02040503050406030204" pitchFamily="18" charset="0"/>
              </a:rPr>
              <a:t>liberty_dir</a:t>
            </a:r>
            <a:r>
              <a:rPr lang="en-US" sz="2400" dirty="0">
                <a:ea typeface="Cambria" panose="02040503050406030204" pitchFamily="18" charset="0"/>
              </a:rPr>
              <a:t>&gt; -t &lt;</a:t>
            </a:r>
            <a:r>
              <a:rPr lang="en-US" sz="2400" dirty="0" err="1">
                <a:ea typeface="Cambria" panose="02040503050406030204" pitchFamily="18" charset="0"/>
              </a:rPr>
              <a:t>tech.tlef</a:t>
            </a:r>
            <a:r>
              <a:rPr lang="en-US" sz="2400" dirty="0">
                <a:ea typeface="Cambria" panose="02040503050406030204" pitchFamily="18" charset="0"/>
              </a:rPr>
              <a:t>&gt;</a:t>
            </a:r>
          </a:p>
          <a:p>
            <a:pPr marL="0" indent="0">
              <a:buNone/>
            </a:pPr>
            <a:endParaRPr lang="da-DK" sz="2400" dirty="0">
              <a:ea typeface="Cambria" panose="02040503050406030204" pitchFamily="18" charset="0"/>
              <a:cs typeface="+mn-lt"/>
            </a:endParaRPr>
          </a:p>
          <a:p>
            <a:endParaRPr lang="da-DK" sz="2400" i="1" dirty="0">
              <a:ea typeface="Cambria" panose="02040503050406030204" pitchFamily="18" charset="0"/>
              <a:cs typeface="+mn-lt"/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86555B8-6197-3271-367D-A7C619590E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6D28ED-750A-4DFC-A458-38B3E79E4C7D}" type="datetime1">
              <a:rPr lang="en-US" sz="1400" smtClean="0">
                <a:solidFill>
                  <a:srgbClr val="0070C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12/19/2025</a:t>
            </a:fld>
            <a:endParaRPr lang="en-US" sz="1400">
              <a:solidFill>
                <a:srgbClr val="0070C0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40086A4-36D1-1EBC-8B81-735D907F03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 sz="1400">
                <a:solidFill>
                  <a:srgbClr val="0070C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EE/CPE584 Intro to VLSI</a:t>
            </a:r>
            <a:endParaRPr lang="en-US" sz="1400">
              <a:solidFill>
                <a:srgbClr val="0070C0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4302E69-A270-929F-2B76-5443597895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8A6112-8193-45F5-863E-CC8218595965}" type="slidenum">
              <a:rPr lang="en-US" sz="1400" smtClean="0">
                <a:solidFill>
                  <a:srgbClr val="0070C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7</a:t>
            </a:fld>
            <a:endParaRPr lang="en-US" sz="1400">
              <a:solidFill>
                <a:srgbClr val="0070C0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373646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3B868E-FC40-DD60-63C4-AB5BBF6B48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64FC4E-833D-6A43-C129-78ACB558F8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6900" y="0"/>
            <a:ext cx="10515600" cy="1325563"/>
          </a:xfrm>
        </p:spPr>
        <p:txBody>
          <a:bodyPr>
            <a:normAutofit/>
          </a:bodyPr>
          <a:lstStyle/>
          <a:p>
            <a:r>
              <a:rPr lang="en-US" sz="4000" dirty="0">
                <a:solidFill>
                  <a:srgbClr val="0070C0"/>
                </a:solidFill>
                <a:latin typeface="+mn-lt"/>
                <a:ea typeface="Cambria" panose="02040503050406030204" pitchFamily="18" charset="0"/>
              </a:rPr>
              <a:t>Script Output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4E4AB8-2A72-8E24-E5C3-E0E04E6D015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6900" y="1143001"/>
            <a:ext cx="10756900" cy="5395912"/>
          </a:xfrm>
        </p:spPr>
        <p:txBody>
          <a:bodyPr/>
          <a:lstStyle/>
          <a:p>
            <a:pPr marL="0" indent="0">
              <a:buNone/>
            </a:pPr>
            <a:r>
              <a:rPr lang="en-US" sz="2400">
                <a:ea typeface="Cambria" panose="02040503050406030204" pitchFamily="18" charset="0"/>
              </a:rPr>
              <a:t>After executing the script, it outputs three files:</a:t>
            </a:r>
          </a:p>
          <a:p>
            <a:r>
              <a:rPr lang="en-US" sz="2400">
                <a:ea typeface="Cambria" panose="02040503050406030204" pitchFamily="18" charset="0"/>
              </a:rPr>
              <a:t>Sorted LEF file (*_sorted)</a:t>
            </a:r>
          </a:p>
          <a:p>
            <a:pPr lvl="1"/>
            <a:r>
              <a:rPr lang="en-US" sz="2000">
                <a:ea typeface="Cambria" panose="02040503050406030204" pitchFamily="18" charset="0"/>
              </a:rPr>
              <a:t>Rewrites the LEF file with cells sorted alphabetically.</a:t>
            </a:r>
          </a:p>
          <a:p>
            <a:pPr lvl="1"/>
            <a:r>
              <a:rPr lang="en-US" sz="2000">
                <a:ea typeface="Cambria" panose="02040503050406030204" pitchFamily="18" charset="0"/>
              </a:rPr>
              <a:t>Orders cell properties consistently (CLASS, ORIGIN, SIZE, etc.).</a:t>
            </a:r>
          </a:p>
          <a:p>
            <a:pPr lvl="1"/>
            <a:r>
              <a:rPr lang="en-US" sz="2000">
                <a:ea typeface="Cambria" panose="02040503050406030204" pitchFamily="18" charset="0"/>
              </a:rPr>
              <a:t>Sorts pins alphabetically within each cell.</a:t>
            </a:r>
          </a:p>
          <a:p>
            <a:pPr lvl="1"/>
            <a:endParaRPr lang="en-US" sz="2000">
              <a:ea typeface="Cambria" panose="02040503050406030204" pitchFamily="18" charset="0"/>
            </a:endParaRPr>
          </a:p>
          <a:p>
            <a:r>
              <a:rPr lang="en-US" sz="2400">
                <a:ea typeface="Cambria" panose="02040503050406030204" pitchFamily="18" charset="0"/>
              </a:rPr>
              <a:t>Error Report file (*_errors)</a:t>
            </a:r>
          </a:p>
          <a:p>
            <a:pPr lvl="1"/>
            <a:r>
              <a:rPr lang="en-US" sz="2000">
                <a:ea typeface="Cambria" panose="02040503050406030204" pitchFamily="18" charset="0"/>
              </a:rPr>
              <a:t>Lists missing required properties.</a:t>
            </a:r>
          </a:p>
          <a:p>
            <a:pPr lvl="1"/>
            <a:r>
              <a:rPr lang="en-US" sz="2000">
                <a:ea typeface="Cambria" panose="02040503050406030204" pitchFamily="18" charset="0"/>
              </a:rPr>
              <a:t>Reports mismatches between LEF and Liberty files.</a:t>
            </a:r>
          </a:p>
          <a:p>
            <a:pPr lvl="1"/>
            <a:r>
              <a:rPr lang="en-US" sz="2000">
                <a:ea typeface="Cambria" panose="02040503050406030204" pitchFamily="18" charset="0"/>
              </a:rPr>
              <a:t>Flags syntax issues. </a:t>
            </a:r>
          </a:p>
          <a:p>
            <a:pPr lvl="1"/>
            <a:endParaRPr lang="en-US" sz="2000">
              <a:ea typeface="Cambria" panose="02040503050406030204" pitchFamily="18" charset="0"/>
            </a:endParaRPr>
          </a:p>
          <a:p>
            <a:r>
              <a:rPr lang="en-US" sz="2400">
                <a:ea typeface="Cambria" panose="02040503050406030204" pitchFamily="18" charset="0"/>
              </a:rPr>
              <a:t>Comments file (*_comments)</a:t>
            </a:r>
          </a:p>
          <a:p>
            <a:pPr lvl="1"/>
            <a:r>
              <a:rPr lang="en-US" sz="2000">
                <a:ea typeface="Cambria" panose="02040503050406030204" pitchFamily="18" charset="0"/>
              </a:rPr>
              <a:t>Extracts all comments lines from LEF file.</a:t>
            </a:r>
          </a:p>
          <a:p>
            <a:pPr marL="971550" lvl="1" indent="-514350">
              <a:buFont typeface="+mj-lt"/>
              <a:buAutoNum type="arabicPeriod"/>
            </a:pPr>
            <a:endParaRPr lang="en-US">
              <a:ea typeface="Cambria" panose="02040503050406030204" pitchFamily="18" charset="0"/>
            </a:endParaRPr>
          </a:p>
          <a:p>
            <a:pPr marL="0" indent="0">
              <a:buNone/>
            </a:pPr>
            <a:endParaRPr lang="en-US">
              <a:ea typeface="Cambria" panose="02040503050406030204" pitchFamily="18" charset="0"/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255ADE4-29D0-602D-B43D-340C287E4D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6D28ED-750A-4DFC-A458-38B3E79E4C7D}" type="datetime1">
              <a:rPr lang="en-US" sz="1400" smtClean="0">
                <a:solidFill>
                  <a:srgbClr val="0070C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12/19/2025</a:t>
            </a:fld>
            <a:endParaRPr lang="en-US" sz="1400">
              <a:solidFill>
                <a:srgbClr val="0070C0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6BA7E58-CE68-A6D7-A275-3043CD3CFD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 sz="1400">
                <a:solidFill>
                  <a:srgbClr val="0070C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EE/CPE584 Intro to VLSI</a:t>
            </a:r>
            <a:endParaRPr lang="en-US" sz="1400">
              <a:solidFill>
                <a:srgbClr val="0070C0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01EFFB9-5030-6C7D-D4E7-9325DE2012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8A6112-8193-45F5-863E-CC8218595965}" type="slidenum">
              <a:rPr lang="en-US" sz="1400" smtClean="0">
                <a:solidFill>
                  <a:srgbClr val="0070C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8</a:t>
            </a:fld>
            <a:endParaRPr lang="en-US" sz="1400">
              <a:solidFill>
                <a:srgbClr val="0070C0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9800068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7028F0-0A68-A402-CB7A-CB29A5B1CC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01AB49-E7F6-848C-1FAE-C88652F7D6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6900" y="0"/>
            <a:ext cx="10515600" cy="1325563"/>
          </a:xfrm>
        </p:spPr>
        <p:txBody>
          <a:bodyPr>
            <a:normAutofit/>
          </a:bodyPr>
          <a:lstStyle/>
          <a:p>
            <a:r>
              <a:rPr lang="en-US" sz="4000">
                <a:solidFill>
                  <a:srgbClr val="0070C0"/>
                </a:solidFill>
                <a:latin typeface="+mn-lt"/>
                <a:ea typeface="Cambria" panose="02040503050406030204" pitchFamily="18" charset="0"/>
              </a:rPr>
              <a:t>Script Output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3D22DD5-596A-48FA-8BD0-458E056BB1F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6900" y="1143001"/>
            <a:ext cx="10756900" cy="5395912"/>
          </a:xfrm>
        </p:spPr>
        <p:txBody>
          <a:bodyPr/>
          <a:lstStyle/>
          <a:p>
            <a:pPr marL="0" indent="0">
              <a:buNone/>
            </a:pPr>
            <a:r>
              <a:rPr lang="en-US" sz="2400" dirty="0">
                <a:ea typeface="Cambria" panose="02040503050406030204" pitchFamily="18" charset="0"/>
              </a:rPr>
              <a:t>The script also outputs all different types of tests to validate LEF properties, LEF syntax, and mismatches between LEF and LIB.</a:t>
            </a:r>
            <a:endParaRPr lang="en-US" dirty="0">
              <a:ea typeface="Cambria" panose="02040503050406030204" pitchFamily="18" charset="0"/>
            </a:endParaRPr>
          </a:p>
          <a:p>
            <a:pPr marL="0" indent="0">
              <a:buNone/>
            </a:pPr>
            <a:endParaRPr lang="en-US" dirty="0">
              <a:ea typeface="Cambria" panose="02040503050406030204" pitchFamily="18" charset="0"/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C0AA63F-3D7E-2A8E-F337-90A4433B21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6D28ED-750A-4DFC-A458-38B3E79E4C7D}" type="datetime1">
              <a:rPr lang="en-US" sz="1400" smtClean="0">
                <a:solidFill>
                  <a:srgbClr val="0070C0"/>
                </a:solidFill>
                <a:ea typeface="Cambria" panose="02040503050406030204" pitchFamily="18" charset="0"/>
              </a:rPr>
              <a:t>12/19/2025</a:t>
            </a:fld>
            <a:endParaRPr lang="en-US" sz="1400">
              <a:solidFill>
                <a:srgbClr val="0070C0"/>
              </a:solidFill>
              <a:ea typeface="Cambria" panose="02040503050406030204" pitchFamily="18" charset="0"/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9D46278-0197-9130-EC29-24C3A0A872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 sz="1400">
                <a:solidFill>
                  <a:srgbClr val="0070C0"/>
                </a:solidFill>
                <a:ea typeface="Cambria" panose="02040503050406030204" pitchFamily="18" charset="0"/>
              </a:rPr>
              <a:t>EE/CPE584 Intro to VLSI</a:t>
            </a:r>
            <a:endParaRPr lang="en-US" sz="1400">
              <a:solidFill>
                <a:srgbClr val="0070C0"/>
              </a:solidFill>
              <a:ea typeface="Cambria" panose="02040503050406030204" pitchFamily="18" charset="0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5343851-CDC5-1CFD-75DB-C8255DEADC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8A6112-8193-45F5-863E-CC8218595965}" type="slidenum">
              <a:rPr lang="en-US" sz="1400" smtClean="0">
                <a:solidFill>
                  <a:srgbClr val="0070C0"/>
                </a:solidFill>
                <a:ea typeface="Cambria" panose="02040503050406030204" pitchFamily="18" charset="0"/>
              </a:rPr>
              <a:t>9</a:t>
            </a:fld>
            <a:endParaRPr lang="en-US" sz="1400">
              <a:solidFill>
                <a:srgbClr val="0070C0"/>
              </a:solidFill>
              <a:ea typeface="Cambria" panose="02040503050406030204" pitchFamily="18" charset="0"/>
            </a:endParaRPr>
          </a:p>
        </p:txBody>
      </p:sp>
      <p:pic>
        <p:nvPicPr>
          <p:cNvPr id="8" name="Picture 7" descr="A screenshot of a computer error&#10;&#10;AI-generated content may be incorrect.">
            <a:extLst>
              <a:ext uri="{FF2B5EF4-FFF2-40B4-BE49-F238E27FC236}">
                <a16:creationId xmlns:a16="http://schemas.microsoft.com/office/drawing/2014/main" id="{BA7B382F-2FF8-FE1C-754B-B37BA71F1D6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79240" y="2468564"/>
            <a:ext cx="6592220" cy="3410426"/>
          </a:xfrm>
          <a:prstGeom prst="rect">
            <a:avLst/>
          </a:prstGeom>
        </p:spPr>
      </p:pic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5C3E7DD7-7D98-086D-AF86-4E6E6713616D}"/>
              </a:ext>
            </a:extLst>
          </p:cNvPr>
          <p:cNvCxnSpPr>
            <a:cxnSpLocks/>
          </p:cNvCxnSpPr>
          <p:nvPr/>
        </p:nvCxnSpPr>
        <p:spPr>
          <a:xfrm>
            <a:off x="2653118" y="2173766"/>
            <a:ext cx="928282" cy="656520"/>
          </a:xfrm>
          <a:prstGeom prst="straightConnector1">
            <a:avLst/>
          </a:prstGeom>
          <a:ln w="28575" cap="flat" cmpd="sng" algn="ctr">
            <a:solidFill>
              <a:srgbClr val="FF0000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EC0D72B8-D234-ABC8-D30E-23AD6DCE7F70}"/>
              </a:ext>
            </a:extLst>
          </p:cNvPr>
          <p:cNvSpPr txBox="1"/>
          <p:nvPr/>
        </p:nvSpPr>
        <p:spPr>
          <a:xfrm>
            <a:off x="1077686" y="1991204"/>
            <a:ext cx="160155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>
                <a:ea typeface="Cambria" panose="02040503050406030204" pitchFamily="18" charset="0"/>
              </a:rPr>
              <a:t>Test Number</a:t>
            </a:r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F58C2112-09C1-B1D8-850A-1ABB468D7FBA}"/>
              </a:ext>
            </a:extLst>
          </p:cNvPr>
          <p:cNvCxnSpPr>
            <a:cxnSpLocks/>
          </p:cNvCxnSpPr>
          <p:nvPr/>
        </p:nvCxnSpPr>
        <p:spPr>
          <a:xfrm flipH="1">
            <a:off x="5355771" y="2229884"/>
            <a:ext cx="307969" cy="600402"/>
          </a:xfrm>
          <a:prstGeom prst="straightConnector1">
            <a:avLst/>
          </a:prstGeom>
          <a:ln w="28575" cap="flat" cmpd="sng" algn="ctr">
            <a:solidFill>
              <a:srgbClr val="FF0000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AD2B5681-BD51-87D6-A9CB-ECF0B0105F16}"/>
              </a:ext>
            </a:extLst>
          </p:cNvPr>
          <p:cNvSpPr txBox="1"/>
          <p:nvPr/>
        </p:nvSpPr>
        <p:spPr>
          <a:xfrm>
            <a:off x="5065269" y="1885892"/>
            <a:ext cx="160155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>
                <a:ea typeface="Cambria" panose="02040503050406030204" pitchFamily="18" charset="0"/>
              </a:rPr>
              <a:t>Test Name</a:t>
            </a:r>
          </a:p>
        </p:txBody>
      </p: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60815991-5C54-3663-A7ED-135368581769}"/>
              </a:ext>
            </a:extLst>
          </p:cNvPr>
          <p:cNvCxnSpPr>
            <a:cxnSpLocks/>
            <a:stCxn id="20" idx="1"/>
          </p:cNvCxnSpPr>
          <p:nvPr/>
        </p:nvCxnSpPr>
        <p:spPr>
          <a:xfrm flipH="1" flipV="1">
            <a:off x="8153400" y="3326719"/>
            <a:ext cx="715837" cy="490146"/>
          </a:xfrm>
          <a:prstGeom prst="straightConnector1">
            <a:avLst/>
          </a:prstGeom>
          <a:ln w="28575" cap="flat" cmpd="sng" algn="ctr">
            <a:solidFill>
              <a:srgbClr val="FF0000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9CAAEFFE-A5AB-A4E9-1AC1-B1773ED5C5D5}"/>
              </a:ext>
            </a:extLst>
          </p:cNvPr>
          <p:cNvSpPr txBox="1"/>
          <p:nvPr/>
        </p:nvSpPr>
        <p:spPr>
          <a:xfrm>
            <a:off x="8869237" y="3462922"/>
            <a:ext cx="201844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>
                <a:ea typeface="Cambria" panose="02040503050406030204" pitchFamily="18" charset="0"/>
              </a:rPr>
              <a:t>Indicates if test passed or failed</a:t>
            </a:r>
          </a:p>
        </p:txBody>
      </p: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9EAB0772-908A-6249-2227-C5D814568D7F}"/>
              </a:ext>
            </a:extLst>
          </p:cNvPr>
          <p:cNvCxnSpPr>
            <a:cxnSpLocks/>
            <a:stCxn id="20" idx="1"/>
          </p:cNvCxnSpPr>
          <p:nvPr/>
        </p:nvCxnSpPr>
        <p:spPr>
          <a:xfrm flipH="1">
            <a:off x="7826829" y="3816865"/>
            <a:ext cx="1042408" cy="166501"/>
          </a:xfrm>
          <a:prstGeom prst="straightConnector1">
            <a:avLst/>
          </a:prstGeom>
          <a:ln w="28575" cap="flat" cmpd="sng" algn="ctr">
            <a:solidFill>
              <a:srgbClr val="FF0000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5380919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8056ADBF-4AC5-4AE1-948F-70D6AA3143A1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063204" y="1319220"/>
            <a:ext cx="3486047" cy="4857744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4712F927-FBE6-491D-98FF-457F70ACCA11}"/>
              </a:ext>
            </a:extLst>
          </p:cNvPr>
          <p:cNvSpPr/>
          <p:nvPr/>
        </p:nvSpPr>
        <p:spPr>
          <a:xfrm>
            <a:off x="2013402" y="4883582"/>
            <a:ext cx="2472544" cy="1142208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B0E3EBF7-21D5-4135-B569-0CD76C4FFEBA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7643111" y="1318670"/>
            <a:ext cx="3485324" cy="4867819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76D0A6A3-AB52-41C6-BE04-DB80056DE541}"/>
              </a:ext>
            </a:extLst>
          </p:cNvPr>
          <p:cNvSpPr/>
          <p:nvPr/>
        </p:nvSpPr>
        <p:spPr>
          <a:xfrm>
            <a:off x="8606385" y="4874631"/>
            <a:ext cx="2472543" cy="1142207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Content Placeholder 6">
            <a:extLst>
              <a:ext uri="{FF2B5EF4-FFF2-40B4-BE49-F238E27FC236}">
                <a16:creationId xmlns:a16="http://schemas.microsoft.com/office/drawing/2014/main" id="{F98583D6-07B2-4054-933F-688E9FDFB366}"/>
              </a:ext>
            </a:extLst>
          </p:cNvPr>
          <p:cNvSpPr txBox="1">
            <a:spLocks/>
          </p:cNvSpPr>
          <p:nvPr/>
        </p:nvSpPr>
        <p:spPr>
          <a:xfrm>
            <a:off x="4797715" y="4895217"/>
            <a:ext cx="1803400" cy="467202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>
                <a:latin typeface="+mn-lt"/>
              </a:rPr>
              <a:t>Not sorted</a:t>
            </a:r>
          </a:p>
          <a:p>
            <a:endParaRPr lang="en-US">
              <a:latin typeface="+mn-lt"/>
            </a:endParaRPr>
          </a:p>
        </p:txBody>
      </p:sp>
      <p:sp>
        <p:nvSpPr>
          <p:cNvPr id="15" name="Content Placeholder 6">
            <a:extLst>
              <a:ext uri="{FF2B5EF4-FFF2-40B4-BE49-F238E27FC236}">
                <a16:creationId xmlns:a16="http://schemas.microsoft.com/office/drawing/2014/main" id="{86124FCA-B254-4BD3-8D57-2DCE3ADC1148}"/>
              </a:ext>
            </a:extLst>
          </p:cNvPr>
          <p:cNvSpPr txBox="1">
            <a:spLocks/>
          </p:cNvSpPr>
          <p:nvPr/>
        </p:nvSpPr>
        <p:spPr>
          <a:xfrm>
            <a:off x="5810869" y="5378292"/>
            <a:ext cx="1231281" cy="467202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>
                <a:latin typeface="+mn-lt"/>
              </a:rPr>
              <a:t>Sorted</a:t>
            </a:r>
          </a:p>
          <a:p>
            <a:endParaRPr lang="en-US">
              <a:latin typeface="+mn-lt"/>
            </a:endParaRPr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1B66CE66-1367-4503-945B-0D7586D936E7}"/>
              </a:ext>
            </a:extLst>
          </p:cNvPr>
          <p:cNvCxnSpPr>
            <a:stCxn id="14" idx="1"/>
          </p:cNvCxnSpPr>
          <p:nvPr/>
        </p:nvCxnSpPr>
        <p:spPr>
          <a:xfrm flipH="1">
            <a:off x="4485946" y="5128818"/>
            <a:ext cx="311769" cy="172006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C5D51D86-E954-475B-835C-96097EB6A912}"/>
              </a:ext>
            </a:extLst>
          </p:cNvPr>
          <p:cNvCxnSpPr>
            <a:cxnSpLocks/>
            <a:stCxn id="15" idx="3"/>
          </p:cNvCxnSpPr>
          <p:nvPr/>
        </p:nvCxnSpPr>
        <p:spPr>
          <a:xfrm flipV="1">
            <a:off x="7042150" y="5454650"/>
            <a:ext cx="1403350" cy="157243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4696BA17-1C6F-4520-AA65-4CE89027CDBB}"/>
              </a:ext>
            </a:extLst>
          </p:cNvPr>
          <p:cNvSpPr txBox="1"/>
          <p:nvPr/>
        </p:nvSpPr>
        <p:spPr>
          <a:xfrm>
            <a:off x="1062680" y="795450"/>
            <a:ext cx="3487092" cy="52322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sz="2800" dirty="0">
                <a:ea typeface="Cambria"/>
              </a:rPr>
              <a:t>Original LEF:</a:t>
            </a:r>
            <a:endParaRPr lang="en-US" sz="2800" dirty="0">
              <a:ea typeface="Cambria" panose="02040503050406030204" pitchFamily="18" charset="0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F9F27E37-CC77-41D7-8F60-5C918D503E3A}"/>
              </a:ext>
            </a:extLst>
          </p:cNvPr>
          <p:cNvSpPr txBox="1"/>
          <p:nvPr/>
        </p:nvSpPr>
        <p:spPr>
          <a:xfrm>
            <a:off x="7642224" y="795450"/>
            <a:ext cx="3487094" cy="52322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sz="2800" dirty="0">
                <a:ea typeface="Cambria"/>
              </a:rPr>
              <a:t>After Sorting:</a:t>
            </a:r>
            <a:endParaRPr lang="en-US" sz="2800" dirty="0">
              <a:ea typeface="Cambria" panose="02040503050406030204" pitchFamily="18" charset="0"/>
            </a:endParaRPr>
          </a:p>
        </p:txBody>
      </p:sp>
      <p:sp>
        <p:nvSpPr>
          <p:cNvPr id="2" name="Date Placeholder 3">
            <a:extLst>
              <a:ext uri="{FF2B5EF4-FFF2-40B4-BE49-F238E27FC236}">
                <a16:creationId xmlns:a16="http://schemas.microsoft.com/office/drawing/2014/main" id="{9C07F16D-F83D-647A-94CB-711453044E3F}"/>
              </a:ext>
            </a:extLst>
          </p:cNvPr>
          <p:cNvSpPr txBox="1">
            <a:spLocks/>
          </p:cNvSpPr>
          <p:nvPr/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16D28ED-750A-4DFC-A458-38B3E79E4C7D}" type="datetime1">
              <a:rPr lang="en-US" sz="1400" smtClean="0">
                <a:solidFill>
                  <a:srgbClr val="0070C0"/>
                </a:solidFill>
                <a:ea typeface="Cambria" panose="02040503050406030204" pitchFamily="18" charset="0"/>
              </a:rPr>
              <a:pPr/>
              <a:t>12/19/2025</a:t>
            </a:fld>
            <a:endParaRPr lang="en-US" sz="1400">
              <a:solidFill>
                <a:srgbClr val="0070C0"/>
              </a:solidFill>
              <a:ea typeface="Cambria" panose="02040503050406030204" pitchFamily="18" charset="0"/>
            </a:endParaRPr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F2B6EFD3-087E-DD71-9036-B894CDCE628E}"/>
              </a:ext>
            </a:extLst>
          </p:cNvPr>
          <p:cNvSpPr txBox="1">
            <a:spLocks/>
          </p:cNvSpPr>
          <p:nvPr/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ES" sz="1400">
                <a:solidFill>
                  <a:srgbClr val="0070C0"/>
                </a:solidFill>
                <a:ea typeface="Cambria" panose="02040503050406030204" pitchFamily="18" charset="0"/>
              </a:rPr>
              <a:t>EE/CPE584 </a:t>
            </a:r>
            <a:r>
              <a:rPr lang="es-ES" sz="1400" err="1">
                <a:solidFill>
                  <a:srgbClr val="0070C0"/>
                </a:solidFill>
                <a:ea typeface="Cambria" panose="02040503050406030204" pitchFamily="18" charset="0"/>
              </a:rPr>
              <a:t>Intro</a:t>
            </a:r>
            <a:r>
              <a:rPr lang="es-ES" sz="1400">
                <a:solidFill>
                  <a:srgbClr val="0070C0"/>
                </a:solidFill>
                <a:ea typeface="Cambria" panose="02040503050406030204" pitchFamily="18" charset="0"/>
              </a:rPr>
              <a:t> </a:t>
            </a:r>
            <a:r>
              <a:rPr lang="es-ES" sz="1400" err="1">
                <a:solidFill>
                  <a:srgbClr val="0070C0"/>
                </a:solidFill>
                <a:ea typeface="Cambria" panose="02040503050406030204" pitchFamily="18" charset="0"/>
              </a:rPr>
              <a:t>to</a:t>
            </a:r>
            <a:r>
              <a:rPr lang="es-ES" sz="1400">
                <a:solidFill>
                  <a:srgbClr val="0070C0"/>
                </a:solidFill>
                <a:ea typeface="Cambria" panose="02040503050406030204" pitchFamily="18" charset="0"/>
              </a:rPr>
              <a:t> VLSI</a:t>
            </a:r>
            <a:endParaRPr lang="en-US" sz="1400">
              <a:solidFill>
                <a:srgbClr val="0070C0"/>
              </a:solidFill>
              <a:ea typeface="Cambria" panose="02040503050406030204" pitchFamily="18" charset="0"/>
            </a:endParaRP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BFE70E02-F420-2B9E-D483-88C5FF5A8DB5}"/>
              </a:ext>
            </a:extLst>
          </p:cNvPr>
          <p:cNvSpPr txBox="1">
            <a:spLocks/>
          </p:cNvSpPr>
          <p:nvPr/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D08A6112-8193-45F5-863E-CC8218595965}" type="slidenum">
              <a:rPr lang="en-US" sz="1400" smtClean="0">
                <a:solidFill>
                  <a:srgbClr val="0070C0"/>
                </a:solidFill>
                <a:ea typeface="Cambria" panose="02040503050406030204" pitchFamily="18" charset="0"/>
              </a:rPr>
              <a:pPr algn="r"/>
              <a:t>10</a:t>
            </a:fld>
            <a:endParaRPr lang="en-US" sz="1400">
              <a:solidFill>
                <a:srgbClr val="0070C0"/>
              </a:solidFill>
              <a:ea typeface="Cambria" panose="02040503050406030204" pitchFamily="18" charset="0"/>
            </a:endParaRPr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A1D0C8E3-C00C-A6AE-C979-F63040904C95}"/>
              </a:ext>
            </a:extLst>
          </p:cNvPr>
          <p:cNvSpPr txBox="1">
            <a:spLocks/>
          </p:cNvSpPr>
          <p:nvPr/>
        </p:nvSpPr>
        <p:spPr>
          <a:xfrm>
            <a:off x="596900" y="0"/>
            <a:ext cx="10515600" cy="1325563"/>
          </a:xfrm>
          <a:prstGeom prst="rect">
            <a:avLst/>
          </a:prstGeom>
        </p:spPr>
        <p:txBody>
          <a:bodyPr lIns="91440" tIns="45720" rIns="91440" bIns="45720" anchor="t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000">
                <a:solidFill>
                  <a:srgbClr val="0070C0"/>
                </a:solidFill>
                <a:latin typeface="+mn-lt"/>
                <a:ea typeface="Cambria"/>
              </a:rPr>
              <a:t>Script Output – Sorted LEF File</a:t>
            </a:r>
          </a:p>
        </p:txBody>
      </p:sp>
    </p:spTree>
    <p:extLst>
      <p:ext uri="{BB962C8B-B14F-4D97-AF65-F5344CB8AC3E}">
        <p14:creationId xmlns:p14="http://schemas.microsoft.com/office/powerpoint/2010/main" val="173478052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CF6E1B-20E7-B80C-8A6B-086A00F95F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>
            <a:extLst>
              <a:ext uri="{FF2B5EF4-FFF2-40B4-BE49-F238E27FC236}">
                <a16:creationId xmlns:a16="http://schemas.microsoft.com/office/drawing/2014/main" id="{25867045-3B22-081A-8DD4-C7790C5E57DB}"/>
              </a:ext>
            </a:extLst>
          </p:cNvPr>
          <p:cNvSpPr txBox="1">
            <a:spLocks/>
          </p:cNvSpPr>
          <p:nvPr/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16D28ED-750A-4DFC-A458-38B3E79E4C7D}" type="datetime1">
              <a:rPr lang="en-US" sz="1400" smtClean="0">
                <a:solidFill>
                  <a:srgbClr val="0070C0"/>
                </a:solidFill>
                <a:ea typeface="Cambria" panose="02040503050406030204" pitchFamily="18" charset="0"/>
              </a:rPr>
              <a:pPr/>
              <a:t>12/19/2025</a:t>
            </a:fld>
            <a:endParaRPr lang="en-US" sz="1400">
              <a:solidFill>
                <a:srgbClr val="0070C0"/>
              </a:solidFill>
              <a:ea typeface="Cambria" panose="02040503050406030204" pitchFamily="18" charset="0"/>
            </a:endParaRPr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5A6EA7A5-67DB-011C-87A5-28B2AC1B891B}"/>
              </a:ext>
            </a:extLst>
          </p:cNvPr>
          <p:cNvSpPr txBox="1">
            <a:spLocks/>
          </p:cNvSpPr>
          <p:nvPr/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ES" sz="1400">
                <a:solidFill>
                  <a:srgbClr val="0070C0"/>
                </a:solidFill>
                <a:ea typeface="Cambria" panose="02040503050406030204" pitchFamily="18" charset="0"/>
              </a:rPr>
              <a:t>EE/CPE584 </a:t>
            </a:r>
            <a:r>
              <a:rPr lang="es-ES" sz="1400" err="1">
                <a:solidFill>
                  <a:srgbClr val="0070C0"/>
                </a:solidFill>
                <a:ea typeface="Cambria" panose="02040503050406030204" pitchFamily="18" charset="0"/>
              </a:rPr>
              <a:t>Intro</a:t>
            </a:r>
            <a:r>
              <a:rPr lang="es-ES" sz="1400">
                <a:solidFill>
                  <a:srgbClr val="0070C0"/>
                </a:solidFill>
                <a:ea typeface="Cambria" panose="02040503050406030204" pitchFamily="18" charset="0"/>
              </a:rPr>
              <a:t> </a:t>
            </a:r>
            <a:r>
              <a:rPr lang="es-ES" sz="1400" err="1">
                <a:solidFill>
                  <a:srgbClr val="0070C0"/>
                </a:solidFill>
                <a:ea typeface="Cambria" panose="02040503050406030204" pitchFamily="18" charset="0"/>
              </a:rPr>
              <a:t>to</a:t>
            </a:r>
            <a:r>
              <a:rPr lang="es-ES" sz="1400">
                <a:solidFill>
                  <a:srgbClr val="0070C0"/>
                </a:solidFill>
                <a:ea typeface="Cambria" panose="02040503050406030204" pitchFamily="18" charset="0"/>
              </a:rPr>
              <a:t> VLSI</a:t>
            </a:r>
            <a:endParaRPr lang="en-US" sz="1400">
              <a:solidFill>
                <a:srgbClr val="0070C0"/>
              </a:solidFill>
              <a:ea typeface="Cambria" panose="02040503050406030204" pitchFamily="18" charset="0"/>
            </a:endParaRP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3280DEF2-72DD-7E11-AFB1-1AD895B7A29F}"/>
              </a:ext>
            </a:extLst>
          </p:cNvPr>
          <p:cNvSpPr txBox="1">
            <a:spLocks/>
          </p:cNvSpPr>
          <p:nvPr/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D08A6112-8193-45F5-863E-CC8218595965}" type="slidenum">
              <a:rPr lang="en-US" sz="1400" smtClean="0">
                <a:solidFill>
                  <a:srgbClr val="0070C0"/>
                </a:solidFill>
                <a:ea typeface="Cambria" panose="02040503050406030204" pitchFamily="18" charset="0"/>
              </a:rPr>
              <a:pPr algn="r"/>
              <a:t>11</a:t>
            </a:fld>
            <a:endParaRPr lang="en-US" sz="1400">
              <a:solidFill>
                <a:srgbClr val="0070C0"/>
              </a:solidFill>
              <a:ea typeface="Cambria" panose="02040503050406030204" pitchFamily="18" charset="0"/>
            </a:endParaRPr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3DD9B8C4-051C-F07F-710D-EFCBDA04951A}"/>
              </a:ext>
            </a:extLst>
          </p:cNvPr>
          <p:cNvSpPr txBox="1">
            <a:spLocks/>
          </p:cNvSpPr>
          <p:nvPr/>
        </p:nvSpPr>
        <p:spPr>
          <a:xfrm>
            <a:off x="596900" y="0"/>
            <a:ext cx="10515600" cy="1325563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000">
                <a:solidFill>
                  <a:srgbClr val="0070C0"/>
                </a:solidFill>
                <a:latin typeface="+mn-lt"/>
                <a:ea typeface="Cambria" panose="02040503050406030204" pitchFamily="18" charset="0"/>
              </a:rPr>
              <a:t>Script Output – Error LEF File</a:t>
            </a:r>
          </a:p>
        </p:txBody>
      </p:sp>
      <p:pic>
        <p:nvPicPr>
          <p:cNvPr id="8" name="Picture 7" descr="A screenshot of a computer&#10;&#10;AI-generated content may be incorrect.">
            <a:extLst>
              <a:ext uri="{FF2B5EF4-FFF2-40B4-BE49-F238E27FC236}">
                <a16:creationId xmlns:a16="http://schemas.microsoft.com/office/drawing/2014/main" id="{34A26EF8-D2A8-05F9-2914-930063DC329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6480" y="1754019"/>
            <a:ext cx="10639039" cy="3559628"/>
          </a:xfrm>
          <a:prstGeom prst="rect">
            <a:avLst/>
          </a:prstGeom>
        </p:spPr>
      </p:pic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E8658D14-0F96-AC65-D40C-B9A7BB38443B}"/>
              </a:ext>
            </a:extLst>
          </p:cNvPr>
          <p:cNvCxnSpPr>
            <a:cxnSpLocks/>
          </p:cNvCxnSpPr>
          <p:nvPr/>
        </p:nvCxnSpPr>
        <p:spPr>
          <a:xfrm>
            <a:off x="1451394" y="1162790"/>
            <a:ext cx="261257" cy="591229"/>
          </a:xfrm>
          <a:prstGeom prst="straightConnector1">
            <a:avLst/>
          </a:prstGeom>
          <a:ln w="28575" cap="flat" cmpd="sng" algn="ctr">
            <a:solidFill>
              <a:srgbClr val="FF0000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D537104B-5899-FDFA-7FAF-2FB099CD05BF}"/>
              </a:ext>
            </a:extLst>
          </p:cNvPr>
          <p:cNvSpPr txBox="1"/>
          <p:nvPr/>
        </p:nvSpPr>
        <p:spPr>
          <a:xfrm>
            <a:off x="677450" y="793458"/>
            <a:ext cx="179902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>
                <a:ea typeface="Cambria" panose="02040503050406030204" pitchFamily="18" charset="0"/>
              </a:rPr>
              <a:t>Test Number</a:t>
            </a:r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BC4CD8C8-4D43-7885-C518-56D3B559E583}"/>
              </a:ext>
            </a:extLst>
          </p:cNvPr>
          <p:cNvCxnSpPr>
            <a:cxnSpLocks/>
            <a:stCxn id="17" idx="2"/>
          </p:cNvCxnSpPr>
          <p:nvPr/>
        </p:nvCxnSpPr>
        <p:spPr>
          <a:xfrm flipH="1">
            <a:off x="3935453" y="1062891"/>
            <a:ext cx="183956" cy="691128"/>
          </a:xfrm>
          <a:prstGeom prst="straightConnector1">
            <a:avLst/>
          </a:prstGeom>
          <a:ln w="28575" cap="flat" cmpd="sng" algn="ctr">
            <a:solidFill>
              <a:srgbClr val="FF0000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FEA2DDC6-2BB4-C521-BF5E-B42ABD021BDB}"/>
              </a:ext>
            </a:extLst>
          </p:cNvPr>
          <p:cNvSpPr txBox="1"/>
          <p:nvPr/>
        </p:nvSpPr>
        <p:spPr>
          <a:xfrm>
            <a:off x="3368123" y="662781"/>
            <a:ext cx="150257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>
                <a:ea typeface="Cambria" panose="02040503050406030204" pitchFamily="18" charset="0"/>
              </a:rPr>
              <a:t>Test Name</a:t>
            </a:r>
          </a:p>
        </p:txBody>
      </p: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B11476E4-F499-B65C-4773-FA2534689A41}"/>
              </a:ext>
            </a:extLst>
          </p:cNvPr>
          <p:cNvCxnSpPr>
            <a:cxnSpLocks/>
          </p:cNvCxnSpPr>
          <p:nvPr/>
        </p:nvCxnSpPr>
        <p:spPr>
          <a:xfrm flipH="1">
            <a:off x="6698309" y="3633799"/>
            <a:ext cx="2118671" cy="825320"/>
          </a:xfrm>
          <a:prstGeom prst="straightConnector1">
            <a:avLst/>
          </a:prstGeom>
          <a:ln w="28575" cap="flat" cmpd="sng" algn="ctr">
            <a:solidFill>
              <a:srgbClr val="FF0000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DD0F4C10-DFD7-0112-CE04-DF8AA108E2EE}"/>
              </a:ext>
            </a:extLst>
          </p:cNvPr>
          <p:cNvSpPr txBox="1"/>
          <p:nvPr/>
        </p:nvSpPr>
        <p:spPr>
          <a:xfrm>
            <a:off x="8836897" y="3349167"/>
            <a:ext cx="320456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>
                <a:ea typeface="Cambria" panose="02040503050406030204" pitchFamily="18" charset="0"/>
              </a:rPr>
              <a:t>Warning or error output</a:t>
            </a:r>
          </a:p>
        </p:txBody>
      </p: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8FE544DC-D126-6A5C-DBEB-BE68A9625415}"/>
              </a:ext>
            </a:extLst>
          </p:cNvPr>
          <p:cNvCxnSpPr>
            <a:cxnSpLocks/>
          </p:cNvCxnSpPr>
          <p:nvPr/>
        </p:nvCxnSpPr>
        <p:spPr>
          <a:xfrm flipH="1" flipV="1">
            <a:off x="9259325" y="2205776"/>
            <a:ext cx="661155" cy="1143391"/>
          </a:xfrm>
          <a:prstGeom prst="straightConnector1">
            <a:avLst/>
          </a:prstGeom>
          <a:ln w="28575" cap="flat" cmpd="sng" algn="ctr">
            <a:solidFill>
              <a:srgbClr val="FF0000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A0C2683E-E689-D739-F9BC-986666E0D5F6}"/>
              </a:ext>
            </a:extLst>
          </p:cNvPr>
          <p:cNvCxnSpPr>
            <a:cxnSpLocks/>
          </p:cNvCxnSpPr>
          <p:nvPr/>
        </p:nvCxnSpPr>
        <p:spPr>
          <a:xfrm flipV="1">
            <a:off x="1451394" y="5079653"/>
            <a:ext cx="0" cy="712903"/>
          </a:xfrm>
          <a:prstGeom prst="straightConnector1">
            <a:avLst/>
          </a:prstGeom>
          <a:ln w="28575" cap="flat" cmpd="sng" algn="ctr">
            <a:solidFill>
              <a:srgbClr val="FF0000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26" name="TextBox 25">
            <a:extLst>
              <a:ext uri="{FF2B5EF4-FFF2-40B4-BE49-F238E27FC236}">
                <a16:creationId xmlns:a16="http://schemas.microsoft.com/office/drawing/2014/main" id="{80871041-E973-B01D-D64B-677E8987E137}"/>
              </a:ext>
            </a:extLst>
          </p:cNvPr>
          <p:cNvSpPr txBox="1"/>
          <p:nvPr/>
        </p:nvSpPr>
        <p:spPr>
          <a:xfrm>
            <a:off x="404359" y="5792556"/>
            <a:ext cx="29191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>
                <a:ea typeface="Cambria" panose="02040503050406030204" pitchFamily="18" charset="0"/>
              </a:rPr>
              <a:t>Line number for error</a:t>
            </a:r>
          </a:p>
        </p:txBody>
      </p: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6187FB86-C946-F455-1D09-2D23A6A75980}"/>
              </a:ext>
            </a:extLst>
          </p:cNvPr>
          <p:cNvCxnSpPr>
            <a:cxnSpLocks/>
          </p:cNvCxnSpPr>
          <p:nvPr/>
        </p:nvCxnSpPr>
        <p:spPr>
          <a:xfrm flipH="1" flipV="1">
            <a:off x="3254829" y="5079653"/>
            <a:ext cx="968828" cy="712903"/>
          </a:xfrm>
          <a:prstGeom prst="straightConnector1">
            <a:avLst/>
          </a:prstGeom>
          <a:ln w="28575" cap="flat" cmpd="sng" algn="ctr">
            <a:solidFill>
              <a:srgbClr val="FF0000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31" name="TextBox 30">
            <a:extLst>
              <a:ext uri="{FF2B5EF4-FFF2-40B4-BE49-F238E27FC236}">
                <a16:creationId xmlns:a16="http://schemas.microsoft.com/office/drawing/2014/main" id="{72CE5FCA-ECFC-0170-F586-C9834EBD1CA6}"/>
              </a:ext>
            </a:extLst>
          </p:cNvPr>
          <p:cNvSpPr txBox="1"/>
          <p:nvPr/>
        </p:nvSpPr>
        <p:spPr>
          <a:xfrm>
            <a:off x="3324580" y="5802535"/>
            <a:ext cx="254492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>
                <a:ea typeface="Cambria" panose="02040503050406030204" pitchFamily="18" charset="0"/>
              </a:rPr>
              <a:t>Cell name for error</a:t>
            </a:r>
          </a:p>
        </p:txBody>
      </p: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8D4D6263-FA6D-1D22-3C0D-C95892088522}"/>
              </a:ext>
            </a:extLst>
          </p:cNvPr>
          <p:cNvCxnSpPr>
            <a:cxnSpLocks/>
          </p:cNvCxnSpPr>
          <p:nvPr/>
        </p:nvCxnSpPr>
        <p:spPr>
          <a:xfrm flipH="1" flipV="1">
            <a:off x="4953000" y="5079653"/>
            <a:ext cx="1988349" cy="628369"/>
          </a:xfrm>
          <a:prstGeom prst="straightConnector1">
            <a:avLst/>
          </a:prstGeom>
          <a:ln w="28575" cap="flat" cmpd="sng" algn="ctr">
            <a:solidFill>
              <a:srgbClr val="FF0000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35" name="TextBox 34">
            <a:extLst>
              <a:ext uri="{FF2B5EF4-FFF2-40B4-BE49-F238E27FC236}">
                <a16:creationId xmlns:a16="http://schemas.microsoft.com/office/drawing/2014/main" id="{8F811F7F-4944-5170-7B5D-98445B18B026}"/>
              </a:ext>
            </a:extLst>
          </p:cNvPr>
          <p:cNvSpPr txBox="1"/>
          <p:nvPr/>
        </p:nvSpPr>
        <p:spPr>
          <a:xfrm>
            <a:off x="6042272" y="5718001"/>
            <a:ext cx="231795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>
                <a:ea typeface="Cambria" panose="02040503050406030204" pitchFamily="18" charset="0"/>
              </a:rPr>
              <a:t>Pin name for error</a:t>
            </a:r>
          </a:p>
        </p:txBody>
      </p:sp>
    </p:spTree>
    <p:extLst>
      <p:ext uri="{BB962C8B-B14F-4D97-AF65-F5344CB8AC3E}">
        <p14:creationId xmlns:p14="http://schemas.microsoft.com/office/powerpoint/2010/main" val="403381112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1EC81F-7396-C50D-DDD3-64CC24F32E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18E0F1-5E3E-6FD6-52F4-CE438A2EC8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6900" y="0"/>
            <a:ext cx="10515600" cy="1325563"/>
          </a:xfrm>
        </p:spPr>
        <p:txBody>
          <a:bodyPr>
            <a:normAutofit/>
          </a:bodyPr>
          <a:lstStyle/>
          <a:p>
            <a:r>
              <a:rPr lang="en-US" sz="4000">
                <a:solidFill>
                  <a:srgbClr val="0070C0"/>
                </a:solidFill>
                <a:latin typeface="+mn-lt"/>
                <a:ea typeface="Cambria" panose="02040503050406030204" pitchFamily="18" charset="0"/>
              </a:rPr>
              <a:t>Script Flowchart Part 1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4D86140-F8DD-AC0E-19AE-60E6C4E1B2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6D28ED-750A-4DFC-A458-38B3E79E4C7D}" type="datetime1">
              <a:rPr lang="en-US" sz="1400" smtClean="0">
                <a:solidFill>
                  <a:srgbClr val="0070C0"/>
                </a:solidFill>
                <a:ea typeface="Cambria" panose="02040503050406030204" pitchFamily="18" charset="0"/>
              </a:rPr>
              <a:t>12/19/2025</a:t>
            </a:fld>
            <a:endParaRPr lang="en-US" sz="1400">
              <a:solidFill>
                <a:srgbClr val="0070C0"/>
              </a:solidFill>
              <a:ea typeface="Cambria" panose="02040503050406030204" pitchFamily="18" charset="0"/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9F4A688-7CB3-03B2-77EC-58DDCDC181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 sz="1400">
                <a:solidFill>
                  <a:srgbClr val="0070C0"/>
                </a:solidFill>
                <a:ea typeface="Cambria" panose="02040503050406030204" pitchFamily="18" charset="0"/>
              </a:rPr>
              <a:t>EE/CPE584 Intro to VLSI</a:t>
            </a:r>
            <a:endParaRPr lang="en-US" sz="1400">
              <a:solidFill>
                <a:srgbClr val="0070C0"/>
              </a:solidFill>
              <a:ea typeface="Cambria" panose="02040503050406030204" pitchFamily="18" charset="0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76C515C-97CB-DD47-F1E5-888EB1C5CE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8A6112-8193-45F5-863E-CC8218595965}" type="slidenum">
              <a:rPr lang="en-US" sz="1400" smtClean="0">
                <a:solidFill>
                  <a:srgbClr val="0070C0"/>
                </a:solidFill>
                <a:ea typeface="Cambria" panose="02040503050406030204" pitchFamily="18" charset="0"/>
              </a:rPr>
              <a:t>12</a:t>
            </a:fld>
            <a:endParaRPr lang="en-US" sz="1400">
              <a:solidFill>
                <a:srgbClr val="0070C0"/>
              </a:solidFill>
              <a:ea typeface="Cambria" panose="02040503050406030204" pitchFamily="18" charset="0"/>
            </a:endParaRP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6010823D-E12F-1418-B930-B97F79465AD8}"/>
              </a:ext>
            </a:extLst>
          </p:cNvPr>
          <p:cNvCxnSpPr>
            <a:cxnSpLocks/>
          </p:cNvCxnSpPr>
          <p:nvPr/>
        </p:nvCxnSpPr>
        <p:spPr>
          <a:xfrm>
            <a:off x="2792187" y="1922295"/>
            <a:ext cx="0" cy="483448"/>
          </a:xfrm>
          <a:prstGeom prst="straightConnector1">
            <a:avLst/>
          </a:prstGeom>
          <a:ln w="28575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12" name="Rectangle 11">
            <a:extLst>
              <a:ext uri="{FF2B5EF4-FFF2-40B4-BE49-F238E27FC236}">
                <a16:creationId xmlns:a16="http://schemas.microsoft.com/office/drawing/2014/main" id="{5A158C58-9248-2B7B-8414-96E843D63593}"/>
              </a:ext>
            </a:extLst>
          </p:cNvPr>
          <p:cNvSpPr/>
          <p:nvPr/>
        </p:nvSpPr>
        <p:spPr>
          <a:xfrm>
            <a:off x="1545772" y="2453202"/>
            <a:ext cx="2492829" cy="827313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>
                <a:ea typeface="Cambria" panose="02040503050406030204" pitchFamily="18" charset="0"/>
              </a:rPr>
              <a:t>Parse Command Line Argument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0E7DF0B0-C33E-6C5A-4139-FCD8C62AA120}"/>
              </a:ext>
            </a:extLst>
          </p:cNvPr>
          <p:cNvSpPr/>
          <p:nvPr/>
        </p:nvSpPr>
        <p:spPr>
          <a:xfrm>
            <a:off x="1545772" y="3811422"/>
            <a:ext cx="2492829" cy="827313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>
                <a:ea typeface="Cambria" panose="02040503050406030204" pitchFamily="18" charset="0"/>
              </a:rPr>
              <a:t>Scan for LEF and TLEF files</a:t>
            </a:r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05868420-BEB5-A1E1-224C-8C8FDD0874C8}"/>
              </a:ext>
            </a:extLst>
          </p:cNvPr>
          <p:cNvCxnSpPr>
            <a:cxnSpLocks/>
          </p:cNvCxnSpPr>
          <p:nvPr/>
        </p:nvCxnSpPr>
        <p:spPr>
          <a:xfrm>
            <a:off x="2792186" y="3280515"/>
            <a:ext cx="0" cy="483448"/>
          </a:xfrm>
          <a:prstGeom prst="straightConnector1">
            <a:avLst/>
          </a:prstGeom>
          <a:ln w="28575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17" name="Rectangle 16">
            <a:extLst>
              <a:ext uri="{FF2B5EF4-FFF2-40B4-BE49-F238E27FC236}">
                <a16:creationId xmlns:a16="http://schemas.microsoft.com/office/drawing/2014/main" id="{31C25E50-A0AD-7098-F4A4-7325B78B7D25}"/>
              </a:ext>
            </a:extLst>
          </p:cNvPr>
          <p:cNvSpPr/>
          <p:nvPr/>
        </p:nvSpPr>
        <p:spPr>
          <a:xfrm>
            <a:off x="1545771" y="5169642"/>
            <a:ext cx="2492829" cy="827313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>
                <a:ea typeface="Cambria" panose="02040503050406030204" pitchFamily="18" charset="0"/>
              </a:rPr>
              <a:t>Parses TLEF </a:t>
            </a:r>
          </a:p>
          <a:p>
            <a:pPr algn="ctr"/>
            <a:r>
              <a:rPr lang="en-US">
                <a:ea typeface="Cambria" panose="02040503050406030204" pitchFamily="18" charset="0"/>
              </a:rPr>
              <a:t>to get layers</a:t>
            </a:r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0925BAED-11C6-83AD-5471-43E8D976D3BA}"/>
              </a:ext>
            </a:extLst>
          </p:cNvPr>
          <p:cNvCxnSpPr>
            <a:cxnSpLocks/>
          </p:cNvCxnSpPr>
          <p:nvPr/>
        </p:nvCxnSpPr>
        <p:spPr>
          <a:xfrm>
            <a:off x="2792185" y="4638735"/>
            <a:ext cx="0" cy="483448"/>
          </a:xfrm>
          <a:prstGeom prst="straightConnector1">
            <a:avLst/>
          </a:prstGeom>
          <a:ln w="28575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4" name="Connector: Elbow 23">
            <a:extLst>
              <a:ext uri="{FF2B5EF4-FFF2-40B4-BE49-F238E27FC236}">
                <a16:creationId xmlns:a16="http://schemas.microsoft.com/office/drawing/2014/main" id="{04F4030D-DCCF-F005-223F-54B6FC2BF5D1}"/>
              </a:ext>
            </a:extLst>
          </p:cNvPr>
          <p:cNvCxnSpPr>
            <a:cxnSpLocks/>
            <a:stCxn id="17" idx="3"/>
            <a:endCxn id="25" idx="1"/>
          </p:cNvCxnSpPr>
          <p:nvPr/>
        </p:nvCxnSpPr>
        <p:spPr>
          <a:xfrm flipV="1">
            <a:off x="4038600" y="2114906"/>
            <a:ext cx="1446895" cy="3468393"/>
          </a:xfrm>
          <a:prstGeom prst="bentConnector3">
            <a:avLst>
              <a:gd name="adj1" fmla="val 50000"/>
            </a:avLst>
          </a:prstGeom>
          <a:ln w="28575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25" name="Rectangle 24">
            <a:extLst>
              <a:ext uri="{FF2B5EF4-FFF2-40B4-BE49-F238E27FC236}">
                <a16:creationId xmlns:a16="http://schemas.microsoft.com/office/drawing/2014/main" id="{76C819A2-7D81-4591-0B21-AAFFB14F5334}"/>
              </a:ext>
            </a:extLst>
          </p:cNvPr>
          <p:cNvSpPr/>
          <p:nvPr/>
        </p:nvSpPr>
        <p:spPr>
          <a:xfrm>
            <a:off x="5485495" y="1062069"/>
            <a:ext cx="4496705" cy="2105674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>
                <a:ea typeface="Cambria" panose="02040503050406030204" pitchFamily="18" charset="0"/>
              </a:rPr>
              <a:t>Parses LEF file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>
                <a:ea typeface="Cambria" panose="02040503050406030204" pitchFamily="18" charset="0"/>
              </a:rPr>
              <a:t>For each Macro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>
                <a:ea typeface="Cambria" panose="02040503050406030204" pitchFamily="18" charset="0"/>
              </a:rPr>
              <a:t>Extract properties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>
                <a:ea typeface="Cambria" panose="02040503050406030204" pitchFamily="18" charset="0"/>
              </a:rPr>
              <a:t>For each pin 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US">
                <a:ea typeface="Cambria" panose="02040503050406030204" pitchFamily="18" charset="0"/>
              </a:rPr>
              <a:t>Extract direction, use and port.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US">
                <a:ea typeface="Cambria" panose="02040503050406030204" pitchFamily="18" charset="0"/>
              </a:rPr>
              <a:t>Extract OBS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4CD3AE81-273A-5200-04D6-4C3FFECDA5DC}"/>
              </a:ext>
            </a:extLst>
          </p:cNvPr>
          <p:cNvSpPr/>
          <p:nvPr/>
        </p:nvSpPr>
        <p:spPr>
          <a:xfrm>
            <a:off x="6618511" y="3951254"/>
            <a:ext cx="2492829" cy="827313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>
                <a:ea typeface="Cambria"/>
              </a:rPr>
              <a:t>Sort LEF using cells, pins, properties</a:t>
            </a:r>
            <a:endParaRPr lang="en-US" err="1">
              <a:ea typeface="Cambria" panose="02040503050406030204" pitchFamily="18" charset="0"/>
            </a:endParaRPr>
          </a:p>
        </p:txBody>
      </p: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AFD522E8-E739-2D61-80AF-999969B35B01}"/>
              </a:ext>
            </a:extLst>
          </p:cNvPr>
          <p:cNvCxnSpPr>
            <a:cxnSpLocks/>
            <a:endCxn id="31" idx="0"/>
          </p:cNvCxnSpPr>
          <p:nvPr/>
        </p:nvCxnSpPr>
        <p:spPr>
          <a:xfrm flipH="1">
            <a:off x="7864926" y="3155950"/>
            <a:ext cx="2" cy="795304"/>
          </a:xfrm>
          <a:prstGeom prst="straightConnector1">
            <a:avLst/>
          </a:prstGeom>
          <a:ln w="28575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6E0487F5-5C65-4331-DDB8-EA3E50B6082E}"/>
              </a:ext>
            </a:extLst>
          </p:cNvPr>
          <p:cNvCxnSpPr>
            <a:cxnSpLocks/>
            <a:stCxn id="31" idx="2"/>
          </p:cNvCxnSpPr>
          <p:nvPr/>
        </p:nvCxnSpPr>
        <p:spPr>
          <a:xfrm>
            <a:off x="7864926" y="4778567"/>
            <a:ext cx="1" cy="804732"/>
          </a:xfrm>
          <a:prstGeom prst="straightConnector1">
            <a:avLst/>
          </a:prstGeom>
          <a:ln w="28575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36" name="TextBox 35">
            <a:extLst>
              <a:ext uri="{FF2B5EF4-FFF2-40B4-BE49-F238E27FC236}">
                <a16:creationId xmlns:a16="http://schemas.microsoft.com/office/drawing/2014/main" id="{B7D56439-862C-717C-FDFF-105385EEBF6A}"/>
              </a:ext>
            </a:extLst>
          </p:cNvPr>
          <p:cNvSpPr txBox="1"/>
          <p:nvPr/>
        </p:nvSpPr>
        <p:spPr>
          <a:xfrm>
            <a:off x="7252257" y="5532235"/>
            <a:ext cx="122533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>
                <a:ea typeface="Cambria" panose="02040503050406030204" pitchFamily="18" charset="0"/>
              </a:rPr>
              <a:t>Next slide</a:t>
            </a:r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BFD921E6-DF0C-BA92-B029-8440EBDA3A4A}"/>
              </a:ext>
            </a:extLst>
          </p:cNvPr>
          <p:cNvSpPr/>
          <p:nvPr/>
        </p:nvSpPr>
        <p:spPr>
          <a:xfrm>
            <a:off x="1922235" y="1261979"/>
            <a:ext cx="1739900" cy="723900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/>
              <a:t>Start</a:t>
            </a:r>
          </a:p>
        </p:txBody>
      </p:sp>
    </p:spTree>
    <p:extLst>
      <p:ext uri="{BB962C8B-B14F-4D97-AF65-F5344CB8AC3E}">
        <p14:creationId xmlns:p14="http://schemas.microsoft.com/office/powerpoint/2010/main" val="152895261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05D1C1-8B94-1102-8684-B2E976A5A8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023CF1-5F7E-F0D1-1C58-D8C62FD851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6900" y="0"/>
            <a:ext cx="10515600" cy="1325563"/>
          </a:xfrm>
        </p:spPr>
        <p:txBody>
          <a:bodyPr>
            <a:normAutofit/>
          </a:bodyPr>
          <a:lstStyle/>
          <a:p>
            <a:r>
              <a:rPr lang="en-US" sz="4000">
                <a:solidFill>
                  <a:srgbClr val="0070C0"/>
                </a:solidFill>
                <a:latin typeface="+mn-lt"/>
                <a:ea typeface="Cambria" panose="02040503050406030204" pitchFamily="18" charset="0"/>
              </a:rPr>
              <a:t>Script Flowchart Part 2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5E636F2-AE9C-00B7-B168-C1D00E4289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6D28ED-750A-4DFC-A458-38B3E79E4C7D}" type="datetime1">
              <a:rPr lang="en-US" sz="1400" smtClean="0">
                <a:solidFill>
                  <a:srgbClr val="0070C0"/>
                </a:solidFill>
                <a:ea typeface="Cambria" panose="02040503050406030204" pitchFamily="18" charset="0"/>
              </a:rPr>
              <a:t>12/19/2025</a:t>
            </a:fld>
            <a:endParaRPr lang="en-US" sz="1400">
              <a:solidFill>
                <a:srgbClr val="0070C0"/>
              </a:solidFill>
              <a:ea typeface="Cambria" panose="02040503050406030204" pitchFamily="18" charset="0"/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C9AE01-64B2-A950-2AA3-DA63FF5746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 sz="1400">
                <a:solidFill>
                  <a:srgbClr val="0070C0"/>
                </a:solidFill>
                <a:ea typeface="Cambria" panose="02040503050406030204" pitchFamily="18" charset="0"/>
              </a:rPr>
              <a:t>EE/CPE584 Intro to VLSI</a:t>
            </a:r>
            <a:endParaRPr lang="en-US" sz="1400">
              <a:solidFill>
                <a:srgbClr val="0070C0"/>
              </a:solidFill>
              <a:ea typeface="Cambria" panose="02040503050406030204" pitchFamily="18" charset="0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9E7F178-6CB6-0BE7-5950-37182A673E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8A6112-8193-45F5-863E-CC8218595965}" type="slidenum">
              <a:rPr lang="en-US" sz="1400" smtClean="0">
                <a:solidFill>
                  <a:srgbClr val="0070C0"/>
                </a:solidFill>
                <a:ea typeface="Cambria" panose="02040503050406030204" pitchFamily="18" charset="0"/>
              </a:rPr>
              <a:t>13</a:t>
            </a:fld>
            <a:endParaRPr lang="en-US" sz="1400">
              <a:solidFill>
                <a:srgbClr val="0070C0"/>
              </a:solidFill>
              <a:ea typeface="Cambria" panose="02040503050406030204" pitchFamily="18" charset="0"/>
            </a:endParaRPr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CDEC3202-1476-478E-3173-A6AA15331B53}"/>
              </a:ext>
            </a:extLst>
          </p:cNvPr>
          <p:cNvCxnSpPr>
            <a:cxnSpLocks/>
            <a:endCxn id="19" idx="0"/>
          </p:cNvCxnSpPr>
          <p:nvPr/>
        </p:nvCxnSpPr>
        <p:spPr>
          <a:xfrm flipH="1">
            <a:off x="2334985" y="2833585"/>
            <a:ext cx="1" cy="769015"/>
          </a:xfrm>
          <a:prstGeom prst="straightConnector1">
            <a:avLst/>
          </a:prstGeom>
          <a:ln w="28575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94134E21-F13F-7737-BFE2-19DBBF414C02}"/>
              </a:ext>
            </a:extLst>
          </p:cNvPr>
          <p:cNvCxnSpPr>
            <a:cxnSpLocks/>
            <a:stCxn id="9" idx="2"/>
          </p:cNvCxnSpPr>
          <p:nvPr/>
        </p:nvCxnSpPr>
        <p:spPr>
          <a:xfrm>
            <a:off x="2334986" y="1574165"/>
            <a:ext cx="0" cy="432107"/>
          </a:xfrm>
          <a:prstGeom prst="straightConnector1">
            <a:avLst/>
          </a:prstGeom>
          <a:ln w="28575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89E8502E-5867-384A-9411-EE0F231188FB}"/>
              </a:ext>
            </a:extLst>
          </p:cNvPr>
          <p:cNvSpPr txBox="1"/>
          <p:nvPr/>
        </p:nvSpPr>
        <p:spPr>
          <a:xfrm>
            <a:off x="1491325" y="1204833"/>
            <a:ext cx="168732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>
                <a:ea typeface="Cambria" panose="02040503050406030204" pitchFamily="18" charset="0"/>
              </a:rPr>
              <a:t>Previous Slide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0F76BD78-B13B-5EDA-8067-CA36C5CFEC81}"/>
              </a:ext>
            </a:extLst>
          </p:cNvPr>
          <p:cNvSpPr/>
          <p:nvPr/>
        </p:nvSpPr>
        <p:spPr>
          <a:xfrm>
            <a:off x="1006928" y="3602600"/>
            <a:ext cx="2656114" cy="1088033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>
                <a:ea typeface="Cambria" panose="02040503050406030204" pitchFamily="18" charset="0"/>
              </a:rPr>
              <a:t>Parse LIB file</a:t>
            </a:r>
          </a:p>
          <a:p>
            <a:pPr algn="ctr"/>
            <a:r>
              <a:rPr lang="en-US">
                <a:ea typeface="Cambria" panose="02040503050406030204" pitchFamily="18" charset="0"/>
              </a:rPr>
              <a:t>Extract cells, pins, area, and direction.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D230CD86-09FC-EA74-7F11-01140CA21C1D}"/>
              </a:ext>
            </a:extLst>
          </p:cNvPr>
          <p:cNvSpPr txBox="1"/>
          <p:nvPr/>
        </p:nvSpPr>
        <p:spPr>
          <a:xfrm>
            <a:off x="2471368" y="3172730"/>
            <a:ext cx="52764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>
                <a:ea typeface="Cambria" panose="02040503050406030204" pitchFamily="18" charset="0"/>
              </a:rPr>
              <a:t>Yes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2B35D271-B337-068B-D31B-03251B83D536}"/>
              </a:ext>
            </a:extLst>
          </p:cNvPr>
          <p:cNvSpPr/>
          <p:nvPr/>
        </p:nvSpPr>
        <p:spPr>
          <a:xfrm>
            <a:off x="4145642" y="4451785"/>
            <a:ext cx="3418115" cy="1633571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>
                <a:ea typeface="Cambria" panose="02040503050406030204" pitchFamily="18" charset="0"/>
              </a:rPr>
              <a:t>Compare LEF with LIB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>
                <a:ea typeface="Cambria" panose="02040503050406030204" pitchFamily="18" charset="0"/>
              </a:rPr>
              <a:t>Cells exists in both?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>
                <a:ea typeface="Cambria" panose="02040503050406030204" pitchFamily="18" charset="0"/>
              </a:rPr>
              <a:t>Pins exists in both?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>
                <a:ea typeface="Cambria" panose="02040503050406030204" pitchFamily="18" charset="0"/>
              </a:rPr>
              <a:t>Area matches the Siz</a:t>
            </a:r>
            <a:r>
              <a:rPr lang="en-US" i="1">
                <a:ea typeface="Cambria" panose="02040503050406030204" pitchFamily="18" charset="0"/>
              </a:rPr>
              <a:t>e</a:t>
            </a:r>
            <a:r>
              <a:rPr lang="en-US">
                <a:ea typeface="Cambria" panose="02040503050406030204" pitchFamily="18" charset="0"/>
              </a:rPr>
              <a:t>?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>
                <a:ea typeface="Cambria" panose="02040503050406030204" pitchFamily="18" charset="0"/>
              </a:rPr>
              <a:t>Pin direction matches?</a:t>
            </a:r>
          </a:p>
        </p:txBody>
      </p:sp>
      <p:cxnSp>
        <p:nvCxnSpPr>
          <p:cNvPr id="26" name="Connector: Elbow 25">
            <a:extLst>
              <a:ext uri="{FF2B5EF4-FFF2-40B4-BE49-F238E27FC236}">
                <a16:creationId xmlns:a16="http://schemas.microsoft.com/office/drawing/2014/main" id="{3B0BF899-A0AA-2119-2E95-74B4B5905F89}"/>
              </a:ext>
            </a:extLst>
          </p:cNvPr>
          <p:cNvCxnSpPr>
            <a:stCxn id="19" idx="2"/>
            <a:endCxn id="22" idx="1"/>
          </p:cNvCxnSpPr>
          <p:nvPr/>
        </p:nvCxnSpPr>
        <p:spPr>
          <a:xfrm rot="16200000" flipH="1">
            <a:off x="2951344" y="4074273"/>
            <a:ext cx="577938" cy="1810657"/>
          </a:xfrm>
          <a:prstGeom prst="bentConnector2">
            <a:avLst/>
          </a:prstGeom>
          <a:ln w="28575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35" name="Rectangle 34">
            <a:extLst>
              <a:ext uri="{FF2B5EF4-FFF2-40B4-BE49-F238E27FC236}">
                <a16:creationId xmlns:a16="http://schemas.microsoft.com/office/drawing/2014/main" id="{AF299491-8A9F-E180-95AE-8C463C7C77F7}"/>
              </a:ext>
            </a:extLst>
          </p:cNvPr>
          <p:cNvSpPr/>
          <p:nvPr/>
        </p:nvSpPr>
        <p:spPr>
          <a:xfrm>
            <a:off x="8342191" y="1204833"/>
            <a:ext cx="2898393" cy="1777853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>
                <a:ea typeface="Cambria"/>
              </a:rPr>
              <a:t>Validate LEF File for: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>
                <a:ea typeface="Cambria" panose="02040503050406030204" pitchFamily="18" charset="0"/>
              </a:rPr>
              <a:t>For any missing properties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>
                <a:ea typeface="Cambria" panose="02040503050406030204" pitchFamily="18" charset="0"/>
              </a:rPr>
              <a:t>Unknown Layers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>
                <a:ea typeface="Cambria" panose="02040503050406030204" pitchFamily="18" charset="0"/>
              </a:rPr>
              <a:t>Syntax Errors</a:t>
            </a:r>
          </a:p>
        </p:txBody>
      </p:sp>
      <p:cxnSp>
        <p:nvCxnSpPr>
          <p:cNvPr id="36" name="Connector: Elbow 35">
            <a:extLst>
              <a:ext uri="{FF2B5EF4-FFF2-40B4-BE49-F238E27FC236}">
                <a16:creationId xmlns:a16="http://schemas.microsoft.com/office/drawing/2014/main" id="{2D35CF1C-3C93-EF21-DF22-CCCA9D55D921}"/>
              </a:ext>
            </a:extLst>
          </p:cNvPr>
          <p:cNvCxnSpPr>
            <a:cxnSpLocks/>
            <a:stCxn id="22" idx="3"/>
            <a:endCxn id="35" idx="1"/>
          </p:cNvCxnSpPr>
          <p:nvPr/>
        </p:nvCxnSpPr>
        <p:spPr>
          <a:xfrm flipV="1">
            <a:off x="7563757" y="2093760"/>
            <a:ext cx="778434" cy="3174811"/>
          </a:xfrm>
          <a:prstGeom prst="bentConnector3">
            <a:avLst>
              <a:gd name="adj1" fmla="val 50000"/>
            </a:avLst>
          </a:prstGeom>
          <a:ln w="28575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40" name="TextBox 39">
            <a:extLst>
              <a:ext uri="{FF2B5EF4-FFF2-40B4-BE49-F238E27FC236}">
                <a16:creationId xmlns:a16="http://schemas.microsoft.com/office/drawing/2014/main" id="{9BAF5E64-026D-D2D4-64E9-F9DB8B589094}"/>
              </a:ext>
            </a:extLst>
          </p:cNvPr>
          <p:cNvSpPr txBox="1"/>
          <p:nvPr/>
        </p:nvSpPr>
        <p:spPr>
          <a:xfrm>
            <a:off x="3349606" y="2162081"/>
            <a:ext cx="4748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>
                <a:ea typeface="Cambria" panose="02040503050406030204" pitchFamily="18" charset="0"/>
              </a:rPr>
              <a:t>No</a:t>
            </a:r>
          </a:p>
        </p:txBody>
      </p:sp>
      <p:cxnSp>
        <p:nvCxnSpPr>
          <p:cNvPr id="41" name="Connector: Elbow 40">
            <a:extLst>
              <a:ext uri="{FF2B5EF4-FFF2-40B4-BE49-F238E27FC236}">
                <a16:creationId xmlns:a16="http://schemas.microsoft.com/office/drawing/2014/main" id="{9801EA4D-7790-D44D-4D5A-A3EB2F2E088A}"/>
              </a:ext>
            </a:extLst>
          </p:cNvPr>
          <p:cNvCxnSpPr>
            <a:cxnSpLocks/>
            <a:stCxn id="10" idx="3"/>
            <a:endCxn id="35" idx="1"/>
          </p:cNvCxnSpPr>
          <p:nvPr/>
        </p:nvCxnSpPr>
        <p:spPr>
          <a:xfrm flipV="1">
            <a:off x="3546177" y="2093760"/>
            <a:ext cx="4796014" cy="515587"/>
          </a:xfrm>
          <a:prstGeom prst="bentConnector3">
            <a:avLst>
              <a:gd name="adj1" fmla="val 50000"/>
            </a:avLst>
          </a:prstGeom>
          <a:ln w="28575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59" name="Straight Arrow Connector 58">
            <a:extLst>
              <a:ext uri="{FF2B5EF4-FFF2-40B4-BE49-F238E27FC236}">
                <a16:creationId xmlns:a16="http://schemas.microsoft.com/office/drawing/2014/main" id="{AE0A65A5-17D6-3603-50AC-80D764CBD255}"/>
              </a:ext>
            </a:extLst>
          </p:cNvPr>
          <p:cNvCxnSpPr>
            <a:cxnSpLocks/>
          </p:cNvCxnSpPr>
          <p:nvPr/>
        </p:nvCxnSpPr>
        <p:spPr>
          <a:xfrm flipH="1">
            <a:off x="9801176" y="2982686"/>
            <a:ext cx="1" cy="441044"/>
          </a:xfrm>
          <a:prstGeom prst="straightConnector1">
            <a:avLst/>
          </a:prstGeom>
          <a:ln w="28575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60" name="Rectangle 59">
            <a:extLst>
              <a:ext uri="{FF2B5EF4-FFF2-40B4-BE49-F238E27FC236}">
                <a16:creationId xmlns:a16="http://schemas.microsoft.com/office/drawing/2014/main" id="{ADC8DA85-5EB7-579D-7D3E-B8645014494E}"/>
              </a:ext>
            </a:extLst>
          </p:cNvPr>
          <p:cNvSpPr/>
          <p:nvPr/>
        </p:nvSpPr>
        <p:spPr>
          <a:xfrm>
            <a:off x="8554761" y="3484357"/>
            <a:ext cx="2492829" cy="121487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>
                <a:ea typeface="Cambria" panose="02040503050406030204" pitchFamily="18" charset="0"/>
              </a:rPr>
              <a:t>Generate Output Files: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>
                <a:ea typeface="Cambria" panose="02040503050406030204" pitchFamily="18" charset="0"/>
              </a:rPr>
              <a:t>Sorted LEF file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>
                <a:ea typeface="Cambria" panose="02040503050406030204" pitchFamily="18" charset="0"/>
              </a:rPr>
              <a:t>Error Report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>
                <a:ea typeface="Cambria" panose="02040503050406030204" pitchFamily="18" charset="0"/>
              </a:rPr>
              <a:t>Comments file</a:t>
            </a:r>
          </a:p>
        </p:txBody>
      </p:sp>
      <p:cxnSp>
        <p:nvCxnSpPr>
          <p:cNvPr id="62" name="Straight Arrow Connector 61">
            <a:extLst>
              <a:ext uri="{FF2B5EF4-FFF2-40B4-BE49-F238E27FC236}">
                <a16:creationId xmlns:a16="http://schemas.microsoft.com/office/drawing/2014/main" id="{8F365E72-1B74-682A-9DBD-8DBCEB8362BF}"/>
              </a:ext>
            </a:extLst>
          </p:cNvPr>
          <p:cNvCxnSpPr>
            <a:cxnSpLocks/>
          </p:cNvCxnSpPr>
          <p:nvPr/>
        </p:nvCxnSpPr>
        <p:spPr>
          <a:xfrm flipH="1">
            <a:off x="9801174" y="4699227"/>
            <a:ext cx="1" cy="589940"/>
          </a:xfrm>
          <a:prstGeom prst="straightConnector1">
            <a:avLst/>
          </a:prstGeom>
          <a:ln w="28575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10" name="Diamond 9">
            <a:extLst>
              <a:ext uri="{FF2B5EF4-FFF2-40B4-BE49-F238E27FC236}">
                <a16:creationId xmlns:a16="http://schemas.microsoft.com/office/drawing/2014/main" id="{170DA52D-65ED-30BF-4186-489A0A37A37B}"/>
              </a:ext>
            </a:extLst>
          </p:cNvPr>
          <p:cNvSpPr/>
          <p:nvPr/>
        </p:nvSpPr>
        <p:spPr>
          <a:xfrm>
            <a:off x="1122394" y="2006272"/>
            <a:ext cx="2423783" cy="1206150"/>
          </a:xfrm>
          <a:prstGeom prst="diamond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/>
              <a:t>LIB file provided?</a:t>
            </a:r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1242AC9D-5B46-170B-8AC8-304A75AEAB40}"/>
              </a:ext>
            </a:extLst>
          </p:cNvPr>
          <p:cNvSpPr/>
          <p:nvPr/>
        </p:nvSpPr>
        <p:spPr>
          <a:xfrm>
            <a:off x="8921438" y="5298363"/>
            <a:ext cx="1739900" cy="723900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/>
              <a:t>End</a:t>
            </a:r>
          </a:p>
        </p:txBody>
      </p:sp>
    </p:spTree>
    <p:extLst>
      <p:ext uri="{BB962C8B-B14F-4D97-AF65-F5344CB8AC3E}">
        <p14:creationId xmlns:p14="http://schemas.microsoft.com/office/powerpoint/2010/main" val="39918573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E1759D7-58C6-2EA7-917A-8B5E6C3E5E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6D28ED-750A-4DFC-A458-38B3E79E4C7D}" type="datetime1">
              <a:rPr lang="en-US" sz="1400" smtClean="0">
                <a:solidFill>
                  <a:srgbClr val="0070C0"/>
                </a:solidFill>
                <a:ea typeface="Cambria" panose="02040503050406030204" pitchFamily="18" charset="0"/>
              </a:rPr>
              <a:t>12/19/2025</a:t>
            </a:fld>
            <a:endParaRPr lang="en-US" sz="1400">
              <a:solidFill>
                <a:srgbClr val="0070C0"/>
              </a:solidFill>
              <a:ea typeface="Cambria" panose="02040503050406030204" pitchFamily="18" charset="0"/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E40C70D-FEB5-8E76-D7EE-408CEDD4A6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 sz="1400">
                <a:solidFill>
                  <a:srgbClr val="0070C0"/>
                </a:solidFill>
                <a:ea typeface="Cambria" panose="02040503050406030204" pitchFamily="18" charset="0"/>
              </a:rPr>
              <a:t>EE/CPE584 Intro to VLSI</a:t>
            </a:r>
            <a:endParaRPr lang="en-US" sz="1400">
              <a:solidFill>
                <a:srgbClr val="0070C0"/>
              </a:solidFill>
              <a:ea typeface="Cambria" panose="02040503050406030204" pitchFamily="18" charset="0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42E399C-9F4E-8F7F-DC4C-27129F367E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8A6112-8193-45F5-863E-CC8218595965}" type="slidenum">
              <a:rPr lang="en-US" sz="1400" smtClean="0">
                <a:solidFill>
                  <a:srgbClr val="0070C0"/>
                </a:solidFill>
                <a:ea typeface="Cambria" panose="02040503050406030204" pitchFamily="18" charset="0"/>
              </a:rPr>
              <a:t>14</a:t>
            </a:fld>
            <a:endParaRPr lang="en-US" sz="1400">
              <a:solidFill>
                <a:srgbClr val="0070C0"/>
              </a:solidFill>
              <a:ea typeface="Cambria" panose="02040503050406030204" pitchFamily="18" charset="0"/>
            </a:endParaRPr>
          </a:p>
        </p:txBody>
      </p:sp>
      <p:sp>
        <p:nvSpPr>
          <p:cNvPr id="8" name="Content Placeholder 6">
            <a:extLst>
              <a:ext uri="{FF2B5EF4-FFF2-40B4-BE49-F238E27FC236}">
                <a16:creationId xmlns:a16="http://schemas.microsoft.com/office/drawing/2014/main" id="{ECCD2BC1-810E-CCF6-F975-D96E0B9A302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6899" y="1268411"/>
            <a:ext cx="10756901" cy="4500564"/>
          </a:xfrm>
        </p:spPr>
        <p:txBody>
          <a:bodyPr/>
          <a:lstStyle/>
          <a:p>
            <a:r>
              <a:rPr lang="en-US">
                <a:ea typeface="Cambria" panose="02040503050406030204" pitchFamily="18" charset="0"/>
              </a:rPr>
              <a:t>LEF-LIB Data Consistency</a:t>
            </a:r>
          </a:p>
          <a:p>
            <a:pPr lvl="1"/>
            <a:r>
              <a:rPr lang="en-US" sz="2000">
                <a:ea typeface="Cambria" panose="02040503050406030204" pitchFamily="18" charset="0"/>
              </a:rPr>
              <a:t>No comprehensive comparison between physical layout (LEF) and logical timing (LIB) files.</a:t>
            </a:r>
          </a:p>
          <a:p>
            <a:pPr marL="457200" lvl="1" indent="0">
              <a:buNone/>
            </a:pPr>
            <a:endParaRPr lang="en-US" sz="1800">
              <a:ea typeface="Cambria" panose="02040503050406030204" pitchFamily="18" charset="0"/>
            </a:endParaRPr>
          </a:p>
          <a:p>
            <a:r>
              <a:rPr lang="en-US">
                <a:ea typeface="Cambria" panose="02040503050406030204" pitchFamily="18" charset="0"/>
              </a:rPr>
              <a:t>VIA Layer Validation Gap </a:t>
            </a:r>
          </a:p>
          <a:p>
            <a:pPr lvl="1"/>
            <a:r>
              <a:rPr lang="en-US" sz="2000">
                <a:ea typeface="Cambria" panose="02040503050406030204" pitchFamily="18" charset="0"/>
              </a:rPr>
              <a:t>No validation to ensure VIAs in cell pins have corresponding OBS layers.</a:t>
            </a:r>
          </a:p>
          <a:p>
            <a:pPr marL="457200" lvl="1" indent="0">
              <a:buNone/>
            </a:pPr>
            <a:endParaRPr lang="en-US" sz="2000">
              <a:ea typeface="Cambria" panose="02040503050406030204" pitchFamily="18" charset="0"/>
            </a:endParaRPr>
          </a:p>
          <a:p>
            <a:r>
              <a:rPr lang="en-US">
                <a:ea typeface="Cambria" panose="02040503050406030204" pitchFamily="18" charset="0"/>
              </a:rPr>
              <a:t>Code Maintainability Issues</a:t>
            </a:r>
          </a:p>
          <a:p>
            <a:pPr lvl="1"/>
            <a:r>
              <a:rPr lang="en-US" sz="2000">
                <a:ea typeface="Cambria" panose="02040503050406030204" pitchFamily="18" charset="0"/>
              </a:rPr>
              <a:t>Poor code readability makes maintenance, debugging, and enhancement difficult.</a:t>
            </a:r>
            <a:endParaRPr lang="en-US">
              <a:ea typeface="Cambria" panose="02040503050406030204" pitchFamily="18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B173C7B-20EC-1CDA-B834-1F0A5F3930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6900" y="0"/>
            <a:ext cx="10515600" cy="1325563"/>
          </a:xfrm>
        </p:spPr>
        <p:txBody>
          <a:bodyPr>
            <a:normAutofit/>
          </a:bodyPr>
          <a:lstStyle/>
          <a:p>
            <a:r>
              <a:rPr lang="en-US" sz="4000">
                <a:solidFill>
                  <a:srgbClr val="0070C0"/>
                </a:solidFill>
                <a:latin typeface="+mn-lt"/>
                <a:ea typeface="Cambria" panose="02040503050406030204" pitchFamily="18" charset="0"/>
              </a:rPr>
              <a:t>Problem Statement</a:t>
            </a:r>
          </a:p>
        </p:txBody>
      </p:sp>
    </p:spTree>
    <p:extLst>
      <p:ext uri="{BB962C8B-B14F-4D97-AF65-F5344CB8AC3E}">
        <p14:creationId xmlns:p14="http://schemas.microsoft.com/office/powerpoint/2010/main" val="230038646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7F4B90-12DC-2A37-B7F4-BC927239F3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0070C0"/>
                </a:solidFill>
                <a:latin typeface="+mn-lt"/>
                <a:ea typeface="Cambria"/>
              </a:rPr>
              <a:t>LEF-LIB Compare</a:t>
            </a:r>
            <a:endParaRPr lang="en-US" dirty="0">
              <a:latin typeface="+mn-lt"/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66D575C-54DF-DE06-47DF-6313F4F3AE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DBF820-0370-4852-BB4F-65A55CB3AD19}" type="datetime1">
              <a:rPr lang="en-US" smtClean="0"/>
              <a:t>12/19/2025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5D34B8D-5999-0E93-9231-9FAC56F764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/>
              <a:t>EE/CPE584 Intro to VLSI</a:t>
            </a: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991FBA6-58A3-A4EC-B48A-610FC2095E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8A6112-8193-45F5-863E-CC8218595965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361177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5B992C-18DA-E762-2DD4-021FCD48E8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6900" y="0"/>
            <a:ext cx="10515600" cy="1325563"/>
          </a:xfrm>
        </p:spPr>
        <p:txBody>
          <a:bodyPr>
            <a:normAutofit/>
          </a:bodyPr>
          <a:lstStyle/>
          <a:p>
            <a:r>
              <a:rPr lang="en-US" sz="4000" dirty="0">
                <a:solidFill>
                  <a:srgbClr val="0070C0"/>
                </a:solidFill>
                <a:latin typeface="Cambria"/>
                <a:ea typeface="Cambria"/>
              </a:rPr>
              <a:t>Previous Script Outline</a:t>
            </a:r>
            <a:endParaRPr lang="en-US" sz="4000">
              <a:solidFill>
                <a:srgbClr val="0070C0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11D5513-59FB-BA4C-EE91-672978D5872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6900" y="1325562"/>
            <a:ext cx="10756900" cy="5030787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b="1" dirty="0">
                <a:latin typeface="Cambria"/>
                <a:ea typeface="Cambria"/>
              </a:rPr>
              <a:t>Previous LEF-LIB Comparison Script: </a:t>
            </a:r>
            <a:endParaRPr lang="en-US" dirty="0"/>
          </a:p>
          <a:p>
            <a:pPr lvl="1">
              <a:buFont typeface="Courier New" panose="020B0604020202020204" pitchFamily="34" charset="0"/>
              <a:buChar char="o"/>
            </a:pPr>
            <a:r>
              <a:rPr lang="en-US" dirty="0">
                <a:latin typeface="Cambria"/>
                <a:ea typeface="Cambria"/>
              </a:rPr>
              <a:t>compared cell dimensions (LEF SIZE vs LIB area properties) </a:t>
            </a:r>
            <a:endParaRPr lang="en-US" dirty="0">
              <a:latin typeface="Aptos" panose="02110004020202020204"/>
              <a:ea typeface="Cambria"/>
            </a:endParaRPr>
          </a:p>
          <a:p>
            <a:pPr lvl="1">
              <a:buFont typeface="Courier New" panose="020B0604020202020204" pitchFamily="34" charset="0"/>
              <a:buChar char="o"/>
            </a:pPr>
            <a:r>
              <a:rPr lang="en-US" dirty="0">
                <a:latin typeface="Cambria"/>
                <a:ea typeface="Cambria"/>
              </a:rPr>
              <a:t>verifies pin exist in both files. </a:t>
            </a:r>
            <a:endParaRPr lang="en-US" dirty="0"/>
          </a:p>
          <a:p>
            <a:r>
              <a:rPr lang="en-US" b="1" dirty="0">
                <a:latin typeface="Cambria"/>
                <a:ea typeface="Cambria"/>
              </a:rPr>
              <a:t>Issues: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 dirty="0">
                <a:latin typeface="Cambria"/>
                <a:ea typeface="Cambria"/>
              </a:rPr>
              <a:t>Limited Scope: Only checks geometric properties and pin existence, missing pin verification.</a:t>
            </a:r>
            <a:endParaRPr lang="en-US" dirty="0"/>
          </a:p>
          <a:p>
            <a:pPr lvl="1">
              <a:buFont typeface="Courier New" panose="020B0604020202020204" pitchFamily="34" charset="0"/>
              <a:buChar char="o"/>
            </a:pPr>
            <a:r>
              <a:rPr lang="en-US" dirty="0">
                <a:latin typeface="Cambria"/>
                <a:ea typeface="Cambria"/>
              </a:rPr>
              <a:t>Lack of communication to users: Does not inform user of what is causing the errors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 dirty="0">
                <a:latin typeface="Cambria"/>
                <a:ea typeface="Cambria"/>
              </a:rPr>
              <a:t>Pin existence incorrect </a:t>
            </a:r>
          </a:p>
          <a:p>
            <a:pPr lvl="2">
              <a:buFont typeface="Wingdings" panose="020B0604020202020204" pitchFamily="34" charset="0"/>
              <a:buChar char="§"/>
            </a:pPr>
            <a:r>
              <a:rPr lang="en-US" dirty="0">
                <a:latin typeface="Cambria"/>
                <a:ea typeface="Cambria"/>
              </a:rPr>
              <a:t>reports ground and power pins missing despite being in both LEF and LIB files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3EB8DD8-00B1-C7B5-27D3-51CC938E62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6D28ED-750A-4DFC-A458-38B3E79E4C7D}" type="datetime1">
              <a:rPr lang="en-US" sz="1400" smtClean="0">
                <a:solidFill>
                  <a:srgbClr val="0070C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12/19/2025</a:t>
            </a:fld>
            <a:endParaRPr lang="en-US" sz="1400">
              <a:solidFill>
                <a:srgbClr val="0070C0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70F72D0-E95A-30EC-8BA8-2B49391AE0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 sz="1400">
                <a:solidFill>
                  <a:srgbClr val="0070C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EE/CPE584 Intro to VLSI</a:t>
            </a:r>
            <a:endParaRPr lang="en-US" sz="1400">
              <a:solidFill>
                <a:srgbClr val="0070C0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28D3585-5DDD-DFB6-9FD3-ED916BF1B0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8A6112-8193-45F5-863E-CC8218595965}" type="slidenum">
              <a:rPr lang="en-US" sz="1400" smtClean="0">
                <a:solidFill>
                  <a:srgbClr val="0070C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16</a:t>
            </a:fld>
            <a:endParaRPr lang="en-US" sz="1400">
              <a:solidFill>
                <a:srgbClr val="0070C0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1041108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18DDB3-4118-8ADF-1B36-B29D62150A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07596" y="153422"/>
            <a:ext cx="10515600" cy="752190"/>
          </a:xfrm>
        </p:spPr>
        <p:txBody>
          <a:bodyPr>
            <a:normAutofit fontScale="90000"/>
          </a:bodyPr>
          <a:lstStyle/>
          <a:p>
            <a:r>
              <a:rPr lang="en-US" sz="4000" dirty="0">
                <a:solidFill>
                  <a:srgbClr val="0070C0"/>
                </a:solidFill>
                <a:latin typeface="+mn-lt"/>
                <a:ea typeface="Cambria"/>
              </a:rPr>
              <a:t>Previous Script’s Error file showing Pins </a:t>
            </a:r>
            <a:r>
              <a:rPr lang="en-US" sz="4000">
                <a:solidFill>
                  <a:srgbClr val="0070C0"/>
                </a:solidFill>
                <a:latin typeface="+mn-lt"/>
                <a:ea typeface="Cambria"/>
              </a:rPr>
              <a:t>Missing</a:t>
            </a:r>
            <a:r>
              <a:rPr lang="en-US" sz="4000" dirty="0">
                <a:solidFill>
                  <a:srgbClr val="0070C0"/>
                </a:solidFill>
                <a:latin typeface="+mn-lt"/>
                <a:ea typeface="Cambria"/>
              </a:rPr>
              <a:t> Errors</a:t>
            </a:r>
            <a:endParaRPr lang="en-US" dirty="0">
              <a:latin typeface="+mn-lt"/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F629606-F035-72F5-F36C-0487BA77C3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6D28ED-750A-4DFC-A458-38B3E79E4C7D}" type="datetime1">
              <a:rPr lang="en-US" smtClean="0"/>
              <a:t>12/19/2025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03E8416-EB1B-843D-D560-7D7E33932D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/>
              <a:t>EE/CPE584 Intro to VLSI</a:t>
            </a: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3F8A94F-841C-7617-3AD7-2B47D78F46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8A6112-8193-45F5-863E-CC8218595965}" type="slidenum">
              <a:rPr lang="en-US" smtClean="0"/>
              <a:t>17</a:t>
            </a:fld>
            <a:endParaRPr lang="en-US"/>
          </a:p>
        </p:txBody>
      </p:sp>
      <p:pic>
        <p:nvPicPr>
          <p:cNvPr id="7" name="Picture 6" descr="A screenshot of a computer&#10;&#10;AI-generated content may be incorrect.">
            <a:extLst>
              <a:ext uri="{FF2B5EF4-FFF2-40B4-BE49-F238E27FC236}">
                <a16:creationId xmlns:a16="http://schemas.microsoft.com/office/drawing/2014/main" id="{35C61C6F-91C2-76B6-BFDE-A8DBACE3A71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02779" y="1610652"/>
            <a:ext cx="6895301" cy="3636695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159E80F0-2553-E9C8-D9C5-B526F9D9FA8B}"/>
              </a:ext>
            </a:extLst>
          </p:cNvPr>
          <p:cNvSpPr txBox="1"/>
          <p:nvPr/>
        </p:nvSpPr>
        <p:spPr>
          <a:xfrm>
            <a:off x="5102779" y="5394158"/>
            <a:ext cx="489040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Previous implementation Issue:</a:t>
            </a:r>
          </a:p>
          <a:p>
            <a:pPr marL="285750" indent="-285750">
              <a:buFontTx/>
              <a:buChar char="-"/>
            </a:pPr>
            <a:r>
              <a:rPr lang="en-US" dirty="0"/>
              <a:t>Say that Lef is missing all ground and power pins despite being defined in both Lef and lib</a:t>
            </a:r>
          </a:p>
        </p:txBody>
      </p:sp>
      <p:pic>
        <p:nvPicPr>
          <p:cNvPr id="13" name="Picture 12" descr="A screenshot of a computer program&#10;&#10;AI-generated content may be incorrect.">
            <a:extLst>
              <a:ext uri="{FF2B5EF4-FFF2-40B4-BE49-F238E27FC236}">
                <a16:creationId xmlns:a16="http://schemas.microsoft.com/office/drawing/2014/main" id="{A5AB8C3B-C279-6B42-F5CC-6776A40490C6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483" y="1444864"/>
            <a:ext cx="2783010" cy="4962584"/>
          </a:xfrm>
          <a:prstGeom prst="rect">
            <a:avLst/>
          </a:prstGeom>
        </p:spPr>
      </p:pic>
      <p:sp>
        <p:nvSpPr>
          <p:cNvPr id="30" name="TextBox 29">
            <a:extLst>
              <a:ext uri="{FF2B5EF4-FFF2-40B4-BE49-F238E27FC236}">
                <a16:creationId xmlns:a16="http://schemas.microsoft.com/office/drawing/2014/main" id="{9FF28FBC-B15F-4121-6F8E-78AD457CE638}"/>
              </a:ext>
            </a:extLst>
          </p:cNvPr>
          <p:cNvSpPr txBox="1"/>
          <p:nvPr/>
        </p:nvSpPr>
        <p:spPr>
          <a:xfrm>
            <a:off x="56483" y="1075532"/>
            <a:ext cx="265226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Cell a21110_1 pins in Lef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083EAF43-D960-06C2-CB11-32EED3F7137E}"/>
              </a:ext>
            </a:extLst>
          </p:cNvPr>
          <p:cNvSpPr txBox="1"/>
          <p:nvPr/>
        </p:nvSpPr>
        <p:spPr>
          <a:xfrm>
            <a:off x="7190161" y="2095115"/>
            <a:ext cx="142043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tx2">
                    <a:lumMod val="25000"/>
                    <a:lumOff val="75000"/>
                  </a:schemeClr>
                </a:solidFill>
              </a:rPr>
              <a:t>Cell Name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C50DAF66-5CE0-34B3-16C5-07B9C23EE901}"/>
              </a:ext>
            </a:extLst>
          </p:cNvPr>
          <p:cNvSpPr txBox="1"/>
          <p:nvPr/>
        </p:nvSpPr>
        <p:spPr>
          <a:xfrm>
            <a:off x="3381264" y="2783854"/>
            <a:ext cx="132149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Pins “missing”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161F126E-276F-A457-1C6E-D0D289395199}"/>
              </a:ext>
            </a:extLst>
          </p:cNvPr>
          <p:cNvSpPr txBox="1"/>
          <p:nvPr/>
        </p:nvSpPr>
        <p:spPr>
          <a:xfrm>
            <a:off x="5522996" y="1310563"/>
            <a:ext cx="26833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Output of Errors File</a:t>
            </a: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80BDAFCD-1761-6300-0F84-436B5E42F42A}"/>
              </a:ext>
            </a:extLst>
          </p:cNvPr>
          <p:cNvCxnSpPr/>
          <p:nvPr/>
        </p:nvCxnSpPr>
        <p:spPr>
          <a:xfrm flipH="1">
            <a:off x="6366076" y="2268638"/>
            <a:ext cx="824085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sp>
        <p:nvSpPr>
          <p:cNvPr id="9" name="Rectangle 8">
            <a:extLst>
              <a:ext uri="{FF2B5EF4-FFF2-40B4-BE49-F238E27FC236}">
                <a16:creationId xmlns:a16="http://schemas.microsoft.com/office/drawing/2014/main" id="{16DF3B5F-E117-9409-5B11-D92EAC626338}"/>
              </a:ext>
            </a:extLst>
          </p:cNvPr>
          <p:cNvSpPr/>
          <p:nvPr/>
        </p:nvSpPr>
        <p:spPr>
          <a:xfrm>
            <a:off x="3244148" y="2783854"/>
            <a:ext cx="1506718" cy="646331"/>
          </a:xfrm>
          <a:prstGeom prst="rect">
            <a:avLst/>
          </a:prstGeom>
          <a:solidFill>
            <a:srgbClr val="FFFF00">
              <a:alpha val="50000"/>
            </a:srgb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9FDC09CD-1FAD-8886-8511-CAC30E5C80BD}"/>
              </a:ext>
            </a:extLst>
          </p:cNvPr>
          <p:cNvSpPr/>
          <p:nvPr/>
        </p:nvSpPr>
        <p:spPr>
          <a:xfrm>
            <a:off x="510352" y="1544110"/>
            <a:ext cx="449503" cy="172597"/>
          </a:xfrm>
          <a:prstGeom prst="rect">
            <a:avLst/>
          </a:prstGeom>
          <a:solidFill>
            <a:srgbClr val="FFFF00">
              <a:alpha val="50000"/>
            </a:srgb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5A084A57-1588-6B0C-CEF0-F3A1745B5485}"/>
              </a:ext>
            </a:extLst>
          </p:cNvPr>
          <p:cNvSpPr/>
          <p:nvPr/>
        </p:nvSpPr>
        <p:spPr>
          <a:xfrm>
            <a:off x="510352" y="3245594"/>
            <a:ext cx="449503" cy="172597"/>
          </a:xfrm>
          <a:prstGeom prst="rect">
            <a:avLst/>
          </a:prstGeom>
          <a:solidFill>
            <a:srgbClr val="FFFF00">
              <a:alpha val="50000"/>
            </a:srgb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5604921E-876F-12A5-6B83-5679F2480580}"/>
              </a:ext>
            </a:extLst>
          </p:cNvPr>
          <p:cNvSpPr/>
          <p:nvPr/>
        </p:nvSpPr>
        <p:spPr>
          <a:xfrm>
            <a:off x="510352" y="4947078"/>
            <a:ext cx="449503" cy="172597"/>
          </a:xfrm>
          <a:prstGeom prst="rect">
            <a:avLst/>
          </a:prstGeom>
          <a:solidFill>
            <a:srgbClr val="FFFF00">
              <a:alpha val="50000"/>
            </a:srgb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34127641-C2E8-F6F1-3662-4F92BDE03994}"/>
              </a:ext>
            </a:extLst>
          </p:cNvPr>
          <p:cNvSpPr/>
          <p:nvPr/>
        </p:nvSpPr>
        <p:spPr>
          <a:xfrm>
            <a:off x="5384264" y="2378148"/>
            <a:ext cx="449503" cy="172597"/>
          </a:xfrm>
          <a:prstGeom prst="rect">
            <a:avLst/>
          </a:prstGeom>
          <a:solidFill>
            <a:srgbClr val="FFFF00">
              <a:alpha val="50000"/>
            </a:srgb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5F4A3E19-01EC-E8DF-B5C6-E2F4828E774B}"/>
              </a:ext>
            </a:extLst>
          </p:cNvPr>
          <p:cNvSpPr/>
          <p:nvPr/>
        </p:nvSpPr>
        <p:spPr>
          <a:xfrm>
            <a:off x="5384263" y="3018948"/>
            <a:ext cx="449503" cy="172597"/>
          </a:xfrm>
          <a:prstGeom prst="rect">
            <a:avLst/>
          </a:prstGeom>
          <a:solidFill>
            <a:srgbClr val="FFFF00">
              <a:alpha val="50000"/>
            </a:srgb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BD1DD9F5-0B7D-D79E-F066-82B8E489CD11}"/>
              </a:ext>
            </a:extLst>
          </p:cNvPr>
          <p:cNvSpPr/>
          <p:nvPr/>
        </p:nvSpPr>
        <p:spPr>
          <a:xfrm>
            <a:off x="5384263" y="2697556"/>
            <a:ext cx="449503" cy="172597"/>
          </a:xfrm>
          <a:prstGeom prst="rect">
            <a:avLst/>
          </a:prstGeom>
          <a:solidFill>
            <a:srgbClr val="FFFF00">
              <a:alpha val="50000"/>
            </a:srgb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15202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94AA8F-A0F8-64D1-4A48-4A1BCA946B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0070C0"/>
                </a:solidFill>
                <a:latin typeface="+mn-lt"/>
                <a:ea typeface="Cambria"/>
              </a:rPr>
              <a:t>Cause of Issue for the Pin Missing Errors</a:t>
            </a:r>
            <a:endParaRPr lang="en-US" dirty="0">
              <a:latin typeface="+mn-lt"/>
            </a:endParaRP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763BE30-4381-8D78-EDDD-1877B1F685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612801-9325-4A1B-AAC6-5236E02DCD9A}" type="datetime1">
              <a:rPr lang="en-US" smtClean="0"/>
              <a:t>12/19/2025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4130B9B-E1AC-46E4-D400-55B71DEEE1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/>
              <a:t>EE/CPE584 Intro to VLSI</a:t>
            </a:r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319FB36-05E1-8507-FEDA-D0116D7702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8A6112-8193-45F5-863E-CC8218595965}" type="slidenum">
              <a:rPr lang="en-US" smtClean="0"/>
              <a:t>18</a:t>
            </a:fld>
            <a:endParaRPr lang="en-US"/>
          </a:p>
        </p:txBody>
      </p:sp>
      <p:sp>
        <p:nvSpPr>
          <p:cNvPr id="6" name="Terminator 5">
            <a:extLst>
              <a:ext uri="{FF2B5EF4-FFF2-40B4-BE49-F238E27FC236}">
                <a16:creationId xmlns:a16="http://schemas.microsoft.com/office/drawing/2014/main" id="{C74CE87E-E53C-3200-ED84-EE5E5896553F}"/>
              </a:ext>
            </a:extLst>
          </p:cNvPr>
          <p:cNvSpPr/>
          <p:nvPr/>
        </p:nvSpPr>
        <p:spPr>
          <a:xfrm>
            <a:off x="4679770" y="1353931"/>
            <a:ext cx="2504661" cy="893486"/>
          </a:xfrm>
          <a:prstGeom prst="flowChartTerminator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>
                <a:cs typeface="Times New Roman" panose="02020603050405020304" pitchFamily="18" charset="0"/>
              </a:rPr>
              <a:t>Start</a:t>
            </a:r>
          </a:p>
        </p:txBody>
      </p:sp>
      <p:sp>
        <p:nvSpPr>
          <p:cNvPr id="7" name="Process 6">
            <a:extLst>
              <a:ext uri="{FF2B5EF4-FFF2-40B4-BE49-F238E27FC236}">
                <a16:creationId xmlns:a16="http://schemas.microsoft.com/office/drawing/2014/main" id="{C92C5C98-D6FA-2C0D-35E9-1D03828532B1}"/>
              </a:ext>
            </a:extLst>
          </p:cNvPr>
          <p:cNvSpPr/>
          <p:nvPr/>
        </p:nvSpPr>
        <p:spPr>
          <a:xfrm>
            <a:off x="1235959" y="2247417"/>
            <a:ext cx="2365513" cy="1053548"/>
          </a:xfrm>
          <a:prstGeom prst="flowChartProcess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>
            <a:normAutofit/>
          </a:bodyPr>
          <a:lstStyle/>
          <a:p>
            <a:pPr algn="ctr"/>
            <a:r>
              <a:rPr lang="en-US" dirty="0"/>
              <a:t>Lef Files Processing</a:t>
            </a:r>
          </a:p>
        </p:txBody>
      </p:sp>
      <p:sp>
        <p:nvSpPr>
          <p:cNvPr id="8" name="Process 7">
            <a:extLst>
              <a:ext uri="{FF2B5EF4-FFF2-40B4-BE49-F238E27FC236}">
                <a16:creationId xmlns:a16="http://schemas.microsoft.com/office/drawing/2014/main" id="{D6142FDE-4BAC-4A0C-295D-A258EFFDC140}"/>
              </a:ext>
            </a:extLst>
          </p:cNvPr>
          <p:cNvSpPr/>
          <p:nvPr/>
        </p:nvSpPr>
        <p:spPr>
          <a:xfrm>
            <a:off x="8799443" y="2247417"/>
            <a:ext cx="2365513" cy="1053548"/>
          </a:xfrm>
          <a:prstGeom prst="flowChartProcess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>
            <a:normAutofit/>
          </a:bodyPr>
          <a:lstStyle/>
          <a:p>
            <a:pPr algn="ctr"/>
            <a:r>
              <a:rPr lang="en-US" dirty="0"/>
              <a:t>Lib Files Processing</a:t>
            </a:r>
          </a:p>
        </p:txBody>
      </p:sp>
      <p:sp>
        <p:nvSpPr>
          <p:cNvPr id="9" name="Data 8">
            <a:extLst>
              <a:ext uri="{FF2B5EF4-FFF2-40B4-BE49-F238E27FC236}">
                <a16:creationId xmlns:a16="http://schemas.microsoft.com/office/drawing/2014/main" id="{A18D66BA-0095-1799-8561-4D5143C39EED}"/>
              </a:ext>
            </a:extLst>
          </p:cNvPr>
          <p:cNvSpPr/>
          <p:nvPr/>
        </p:nvSpPr>
        <p:spPr>
          <a:xfrm>
            <a:off x="1126629" y="4064116"/>
            <a:ext cx="2584174" cy="1093304"/>
          </a:xfrm>
          <a:prstGeom prst="flowChartInputOutpu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>
            <a:normAutofit/>
          </a:bodyPr>
          <a:lstStyle/>
          <a:p>
            <a:pPr algn="ctr"/>
            <a:r>
              <a:rPr lang="en-US" dirty="0" err="1"/>
              <a:t>Lef_pins</a:t>
            </a:r>
            <a:r>
              <a:rPr lang="en-US" dirty="0"/>
              <a:t>= </a:t>
            </a:r>
            <a:r>
              <a:rPr lang="en-US" dirty="0" err="1"/>
              <a:t>Lef_Pins</a:t>
            </a:r>
            <a:r>
              <a:rPr lang="en-US" dirty="0"/>
              <a:t>. </a:t>
            </a:r>
            <a:r>
              <a:rPr lang="en-US" dirty="0" err="1"/>
              <a:t>Upcase</a:t>
            </a:r>
            <a:r>
              <a:rPr lang="en-US" dirty="0"/>
              <a:t>();</a:t>
            </a:r>
          </a:p>
        </p:txBody>
      </p:sp>
      <p:sp>
        <p:nvSpPr>
          <p:cNvPr id="10" name="Data 9">
            <a:extLst>
              <a:ext uri="{FF2B5EF4-FFF2-40B4-BE49-F238E27FC236}">
                <a16:creationId xmlns:a16="http://schemas.microsoft.com/office/drawing/2014/main" id="{0C242D02-5A8D-0EDB-60AC-F6BEEAFC2D99}"/>
              </a:ext>
            </a:extLst>
          </p:cNvPr>
          <p:cNvSpPr/>
          <p:nvPr/>
        </p:nvSpPr>
        <p:spPr>
          <a:xfrm>
            <a:off x="8441827" y="4064116"/>
            <a:ext cx="2584174" cy="1093304"/>
          </a:xfrm>
          <a:prstGeom prst="flowChartInputOutpu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>
            <a:normAutofit fontScale="77500" lnSpcReduction="20000"/>
          </a:bodyPr>
          <a:lstStyle/>
          <a:p>
            <a:pPr algn="ctr"/>
            <a:r>
              <a:rPr lang="en-US" dirty="0"/>
              <a:t>Output </a:t>
            </a:r>
            <a:r>
              <a:rPr lang="en-US" dirty="0" err="1"/>
              <a:t>Lib_pins</a:t>
            </a:r>
            <a:r>
              <a:rPr lang="en-US" dirty="0"/>
              <a:t> = </a:t>
            </a:r>
            <a:r>
              <a:rPr lang="en-US" dirty="0" err="1"/>
              <a:t>Lib_pins.Upcase</a:t>
            </a:r>
            <a:r>
              <a:rPr lang="en-US" dirty="0"/>
              <a:t>;</a:t>
            </a:r>
          </a:p>
          <a:p>
            <a:pPr algn="ctr"/>
            <a:r>
              <a:rPr lang="en-US" dirty="0"/>
              <a:t>Output </a:t>
            </a:r>
            <a:r>
              <a:rPr lang="en-US" dirty="0" err="1"/>
              <a:t>Lib_pins</a:t>
            </a:r>
            <a:r>
              <a:rPr lang="en-US" dirty="0"/>
              <a:t> = </a:t>
            </a:r>
            <a:r>
              <a:rPr lang="en-US" dirty="0" err="1"/>
              <a:t>pg_pins</a:t>
            </a:r>
            <a:r>
              <a:rPr lang="en-US" dirty="0"/>
              <a:t>;</a:t>
            </a:r>
          </a:p>
        </p:txBody>
      </p:sp>
      <p:sp>
        <p:nvSpPr>
          <p:cNvPr id="11" name="Decision 10">
            <a:extLst>
              <a:ext uri="{FF2B5EF4-FFF2-40B4-BE49-F238E27FC236}">
                <a16:creationId xmlns:a16="http://schemas.microsoft.com/office/drawing/2014/main" id="{2064B88B-F9FF-16A6-FAE5-430FC9AB00CF}"/>
              </a:ext>
            </a:extLst>
          </p:cNvPr>
          <p:cNvSpPr/>
          <p:nvPr/>
        </p:nvSpPr>
        <p:spPr>
          <a:xfrm>
            <a:off x="4848540" y="4576072"/>
            <a:ext cx="2335891" cy="1855994"/>
          </a:xfrm>
          <a:prstGeom prst="flowChartDecision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>
            <a:normAutofit fontScale="85000" lnSpcReduction="10000"/>
          </a:bodyPr>
          <a:lstStyle/>
          <a:p>
            <a:pPr algn="ctr"/>
            <a:r>
              <a:rPr lang="en-US" dirty="0"/>
              <a:t>Does </a:t>
            </a:r>
            <a:r>
              <a:rPr lang="en-US" dirty="0" err="1"/>
              <a:t>Lef_pins</a:t>
            </a:r>
            <a:r>
              <a:rPr lang="en-US" dirty="0"/>
              <a:t> == </a:t>
            </a:r>
            <a:r>
              <a:rPr lang="en-US" dirty="0" err="1"/>
              <a:t>Lib_pins</a:t>
            </a:r>
            <a:r>
              <a:rPr lang="en-US" dirty="0"/>
              <a:t>?*</a:t>
            </a:r>
          </a:p>
        </p:txBody>
      </p:sp>
      <p:cxnSp>
        <p:nvCxnSpPr>
          <p:cNvPr id="13" name="Elbow Connector 12">
            <a:extLst>
              <a:ext uri="{FF2B5EF4-FFF2-40B4-BE49-F238E27FC236}">
                <a16:creationId xmlns:a16="http://schemas.microsoft.com/office/drawing/2014/main" id="{AC31C055-0632-E10A-C8A2-2D2929D3435D}"/>
              </a:ext>
            </a:extLst>
          </p:cNvPr>
          <p:cNvCxnSpPr>
            <a:stCxn id="6" idx="1"/>
            <a:endCxn id="7" idx="0"/>
          </p:cNvCxnSpPr>
          <p:nvPr/>
        </p:nvCxnSpPr>
        <p:spPr>
          <a:xfrm rot="10800000" flipV="1">
            <a:off x="2418716" y="1800673"/>
            <a:ext cx="2261054" cy="446743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5" name="Elbow Connector 14">
            <a:extLst>
              <a:ext uri="{FF2B5EF4-FFF2-40B4-BE49-F238E27FC236}">
                <a16:creationId xmlns:a16="http://schemas.microsoft.com/office/drawing/2014/main" id="{F4B8DFAF-E1B4-44DB-C923-5D1019DFABB1}"/>
              </a:ext>
            </a:extLst>
          </p:cNvPr>
          <p:cNvCxnSpPr>
            <a:stCxn id="6" idx="3"/>
            <a:endCxn id="8" idx="0"/>
          </p:cNvCxnSpPr>
          <p:nvPr/>
        </p:nvCxnSpPr>
        <p:spPr>
          <a:xfrm>
            <a:off x="7184431" y="1800674"/>
            <a:ext cx="2797769" cy="446743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7" name="Elbow Connector 16">
            <a:extLst>
              <a:ext uri="{FF2B5EF4-FFF2-40B4-BE49-F238E27FC236}">
                <a16:creationId xmlns:a16="http://schemas.microsoft.com/office/drawing/2014/main" id="{7ED6E0A6-CBAE-2C01-BD37-D3A2D6E80801}"/>
              </a:ext>
            </a:extLst>
          </p:cNvPr>
          <p:cNvCxnSpPr>
            <a:stCxn id="7" idx="2"/>
            <a:endCxn id="9" idx="1"/>
          </p:cNvCxnSpPr>
          <p:nvPr/>
        </p:nvCxnSpPr>
        <p:spPr>
          <a:xfrm rot="5400000">
            <a:off x="2037141" y="3682540"/>
            <a:ext cx="763151" cy="12700"/>
          </a:xfrm>
          <a:prstGeom prst="bentConnector3">
            <a:avLst>
              <a:gd name="adj1" fmla="val -51"/>
            </a:avLst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0" name="Elbow Connector 19">
            <a:extLst>
              <a:ext uri="{FF2B5EF4-FFF2-40B4-BE49-F238E27FC236}">
                <a16:creationId xmlns:a16="http://schemas.microsoft.com/office/drawing/2014/main" id="{F8517AD9-A72C-79DF-649A-671669CFA2F1}"/>
              </a:ext>
            </a:extLst>
          </p:cNvPr>
          <p:cNvCxnSpPr>
            <a:stCxn id="8" idx="2"/>
            <a:endCxn id="10" idx="0"/>
          </p:cNvCxnSpPr>
          <p:nvPr/>
        </p:nvCxnSpPr>
        <p:spPr>
          <a:xfrm rot="16200000" flipH="1">
            <a:off x="9605690" y="3677474"/>
            <a:ext cx="763151" cy="10131"/>
          </a:xfrm>
          <a:prstGeom prst="bentConnector3">
            <a:avLst>
              <a:gd name="adj1" fmla="val -51"/>
            </a:avLst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3" name="Elbow Connector 22">
            <a:extLst>
              <a:ext uri="{FF2B5EF4-FFF2-40B4-BE49-F238E27FC236}">
                <a16:creationId xmlns:a16="http://schemas.microsoft.com/office/drawing/2014/main" id="{B2D2ADB4-3CD6-150C-94C2-D471F90D45C7}"/>
              </a:ext>
            </a:extLst>
          </p:cNvPr>
          <p:cNvCxnSpPr>
            <a:cxnSpLocks/>
            <a:stCxn id="9" idx="5"/>
            <a:endCxn id="11" idx="1"/>
          </p:cNvCxnSpPr>
          <p:nvPr/>
        </p:nvCxnSpPr>
        <p:spPr>
          <a:xfrm>
            <a:off x="3452386" y="4610768"/>
            <a:ext cx="1396154" cy="893301"/>
          </a:xfrm>
          <a:prstGeom prst="bentConnector3">
            <a:avLst>
              <a:gd name="adj1" fmla="val 75700"/>
            </a:avLst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6" name="Elbow Connector 25">
            <a:extLst>
              <a:ext uri="{FF2B5EF4-FFF2-40B4-BE49-F238E27FC236}">
                <a16:creationId xmlns:a16="http://schemas.microsoft.com/office/drawing/2014/main" id="{124CAC0B-7AB9-CFDB-64B0-B6D3813053AB}"/>
              </a:ext>
            </a:extLst>
          </p:cNvPr>
          <p:cNvCxnSpPr>
            <a:stCxn id="10" idx="2"/>
            <a:endCxn id="11" idx="3"/>
          </p:cNvCxnSpPr>
          <p:nvPr/>
        </p:nvCxnSpPr>
        <p:spPr>
          <a:xfrm rot="10800000" flipV="1">
            <a:off x="7184432" y="4610767"/>
            <a:ext cx="1515813" cy="893301"/>
          </a:xfrm>
          <a:prstGeom prst="bentConnector3">
            <a:avLst>
              <a:gd name="adj1" fmla="val 69854"/>
            </a:avLst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2" name="TextBox 31">
            <a:extLst>
              <a:ext uri="{FF2B5EF4-FFF2-40B4-BE49-F238E27FC236}">
                <a16:creationId xmlns:a16="http://schemas.microsoft.com/office/drawing/2014/main" id="{5FCB1251-DFFA-926F-C0D4-3F000B435984}"/>
              </a:ext>
            </a:extLst>
          </p:cNvPr>
          <p:cNvSpPr txBox="1"/>
          <p:nvPr/>
        </p:nvSpPr>
        <p:spPr>
          <a:xfrm>
            <a:off x="4322963" y="2532337"/>
            <a:ext cx="3973651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*Error:</a:t>
            </a:r>
          </a:p>
          <a:p>
            <a:r>
              <a:rPr lang="en-US" dirty="0"/>
              <a:t>Lower case </a:t>
            </a:r>
            <a:r>
              <a:rPr lang="en-US" dirty="0" err="1"/>
              <a:t>pg_pins</a:t>
            </a:r>
            <a:r>
              <a:rPr lang="en-US" dirty="0"/>
              <a:t> in lib are compared to upper case pins in </a:t>
            </a:r>
            <a:r>
              <a:rPr lang="en-US" dirty="0" err="1"/>
              <a:t>lef</a:t>
            </a:r>
            <a:r>
              <a:rPr lang="en-US" dirty="0"/>
              <a:t>, causing errors to be thrown out and the program to identify pins to be missing from one file</a:t>
            </a:r>
          </a:p>
        </p:txBody>
      </p:sp>
    </p:spTree>
    <p:extLst>
      <p:ext uri="{BB962C8B-B14F-4D97-AF65-F5344CB8AC3E}">
        <p14:creationId xmlns:p14="http://schemas.microsoft.com/office/powerpoint/2010/main" val="84396674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3615CD-3DC9-6477-E597-24A81756D8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F1804C-07E5-CA68-CCA8-5F713490A6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0070C0"/>
                </a:solidFill>
                <a:latin typeface="+mn-lt"/>
                <a:ea typeface="Cambria"/>
              </a:rPr>
              <a:t>Solution to Issue for Pins Missing Errors</a:t>
            </a:r>
            <a:endParaRPr lang="en-US" dirty="0">
              <a:latin typeface="+mn-lt"/>
            </a:endParaRP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77314EB-C6C8-CB65-25F3-BAE5BDE168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612801-9325-4A1B-AAC6-5236E02DCD9A}" type="datetime1">
              <a:rPr lang="en-US" smtClean="0"/>
              <a:t>12/19/2025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DC20693-A598-D7C7-D2D9-9328CC86AD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/>
              <a:t>EE/CPE584 Intro to VLSI</a:t>
            </a:r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88AE935-D370-25DF-09D2-7FE944CA76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8A6112-8193-45F5-863E-CC8218595965}" type="slidenum">
              <a:rPr lang="en-US" smtClean="0"/>
              <a:t>19</a:t>
            </a:fld>
            <a:endParaRPr lang="en-US"/>
          </a:p>
        </p:txBody>
      </p:sp>
      <p:sp>
        <p:nvSpPr>
          <p:cNvPr id="6" name="Terminator 5">
            <a:extLst>
              <a:ext uri="{FF2B5EF4-FFF2-40B4-BE49-F238E27FC236}">
                <a16:creationId xmlns:a16="http://schemas.microsoft.com/office/drawing/2014/main" id="{3D79D319-C9D1-F719-7A12-7DB5FC8A1FAE}"/>
              </a:ext>
            </a:extLst>
          </p:cNvPr>
          <p:cNvSpPr/>
          <p:nvPr/>
        </p:nvSpPr>
        <p:spPr>
          <a:xfrm>
            <a:off x="4679770" y="1353931"/>
            <a:ext cx="2504661" cy="893486"/>
          </a:xfrm>
          <a:prstGeom prst="flowChartTerminator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>
                <a:cs typeface="Times New Roman" panose="02020603050405020304" pitchFamily="18" charset="0"/>
              </a:rPr>
              <a:t>Start</a:t>
            </a:r>
          </a:p>
        </p:txBody>
      </p:sp>
      <p:sp>
        <p:nvSpPr>
          <p:cNvPr id="7" name="Process 6">
            <a:extLst>
              <a:ext uri="{FF2B5EF4-FFF2-40B4-BE49-F238E27FC236}">
                <a16:creationId xmlns:a16="http://schemas.microsoft.com/office/drawing/2014/main" id="{647764B7-5522-3630-8DFB-8CE6774B3665}"/>
              </a:ext>
            </a:extLst>
          </p:cNvPr>
          <p:cNvSpPr/>
          <p:nvPr/>
        </p:nvSpPr>
        <p:spPr>
          <a:xfrm>
            <a:off x="1235959" y="2247417"/>
            <a:ext cx="2365513" cy="1053548"/>
          </a:xfrm>
          <a:prstGeom prst="flowChartProcess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>
            <a:normAutofit/>
          </a:bodyPr>
          <a:lstStyle/>
          <a:p>
            <a:pPr algn="ctr"/>
            <a:r>
              <a:rPr lang="en-US" dirty="0"/>
              <a:t>Lef Files Processing</a:t>
            </a:r>
          </a:p>
        </p:txBody>
      </p:sp>
      <p:sp>
        <p:nvSpPr>
          <p:cNvPr id="8" name="Process 7">
            <a:extLst>
              <a:ext uri="{FF2B5EF4-FFF2-40B4-BE49-F238E27FC236}">
                <a16:creationId xmlns:a16="http://schemas.microsoft.com/office/drawing/2014/main" id="{46C61BE2-086B-99C6-498E-DD8414C88E92}"/>
              </a:ext>
            </a:extLst>
          </p:cNvPr>
          <p:cNvSpPr/>
          <p:nvPr/>
        </p:nvSpPr>
        <p:spPr>
          <a:xfrm>
            <a:off x="8799443" y="2247417"/>
            <a:ext cx="2365513" cy="1053548"/>
          </a:xfrm>
          <a:prstGeom prst="flowChartProcess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>
            <a:normAutofit/>
          </a:bodyPr>
          <a:lstStyle/>
          <a:p>
            <a:pPr algn="ctr"/>
            <a:r>
              <a:rPr lang="en-US" dirty="0"/>
              <a:t>Lib Files Processing</a:t>
            </a:r>
          </a:p>
        </p:txBody>
      </p:sp>
      <p:sp>
        <p:nvSpPr>
          <p:cNvPr id="9" name="Data 8">
            <a:extLst>
              <a:ext uri="{FF2B5EF4-FFF2-40B4-BE49-F238E27FC236}">
                <a16:creationId xmlns:a16="http://schemas.microsoft.com/office/drawing/2014/main" id="{51340560-5C6C-B1F5-D8C3-EAAB2CB9495E}"/>
              </a:ext>
            </a:extLst>
          </p:cNvPr>
          <p:cNvSpPr/>
          <p:nvPr/>
        </p:nvSpPr>
        <p:spPr>
          <a:xfrm>
            <a:off x="1126629" y="4064116"/>
            <a:ext cx="2584174" cy="1093304"/>
          </a:xfrm>
          <a:prstGeom prst="flowChartInputOutpu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>
            <a:normAutofit lnSpcReduction="10000"/>
          </a:bodyPr>
          <a:lstStyle/>
          <a:p>
            <a:pPr algn="ctr"/>
            <a:r>
              <a:rPr lang="en-US" dirty="0"/>
              <a:t>Output </a:t>
            </a:r>
            <a:r>
              <a:rPr lang="en-US" dirty="0" err="1"/>
              <a:t>Lef_pins</a:t>
            </a:r>
            <a:r>
              <a:rPr lang="en-US" dirty="0"/>
              <a:t>= </a:t>
            </a:r>
            <a:r>
              <a:rPr lang="en-US" dirty="0" err="1"/>
              <a:t>Lef_Pins</a:t>
            </a:r>
            <a:r>
              <a:rPr lang="en-US" dirty="0"/>
              <a:t>. </a:t>
            </a:r>
            <a:r>
              <a:rPr lang="en-US" dirty="0" err="1"/>
              <a:t>Upcase</a:t>
            </a:r>
            <a:r>
              <a:rPr lang="en-US" dirty="0"/>
              <a:t>();</a:t>
            </a:r>
          </a:p>
        </p:txBody>
      </p:sp>
      <p:sp>
        <p:nvSpPr>
          <p:cNvPr id="10" name="Data 9">
            <a:extLst>
              <a:ext uri="{FF2B5EF4-FFF2-40B4-BE49-F238E27FC236}">
                <a16:creationId xmlns:a16="http://schemas.microsoft.com/office/drawing/2014/main" id="{C1088CC5-D4DF-1F1D-758E-0A943BC25FE5}"/>
              </a:ext>
            </a:extLst>
          </p:cNvPr>
          <p:cNvSpPr/>
          <p:nvPr/>
        </p:nvSpPr>
        <p:spPr>
          <a:xfrm>
            <a:off x="8441827" y="4064116"/>
            <a:ext cx="2584174" cy="1093304"/>
          </a:xfrm>
          <a:prstGeom prst="flowChartInputOutpu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>
            <a:normAutofit lnSpcReduction="10000"/>
          </a:bodyPr>
          <a:lstStyle/>
          <a:p>
            <a:pPr algn="ctr"/>
            <a:r>
              <a:rPr lang="en-US" dirty="0"/>
              <a:t>Output </a:t>
            </a:r>
            <a:r>
              <a:rPr lang="en-US" dirty="0" err="1"/>
              <a:t>Lib_pins</a:t>
            </a:r>
            <a:r>
              <a:rPr lang="en-US" dirty="0"/>
              <a:t> = </a:t>
            </a:r>
            <a:r>
              <a:rPr lang="en-US" dirty="0" err="1"/>
              <a:t>Lib_pins.Upcase</a:t>
            </a:r>
            <a:r>
              <a:rPr lang="en-US" dirty="0"/>
              <a:t>;</a:t>
            </a:r>
          </a:p>
        </p:txBody>
      </p:sp>
      <p:sp>
        <p:nvSpPr>
          <p:cNvPr id="11" name="Decision 10">
            <a:extLst>
              <a:ext uri="{FF2B5EF4-FFF2-40B4-BE49-F238E27FC236}">
                <a16:creationId xmlns:a16="http://schemas.microsoft.com/office/drawing/2014/main" id="{3E0CA92F-29D2-92D9-211B-CDF8605BAF35}"/>
              </a:ext>
            </a:extLst>
          </p:cNvPr>
          <p:cNvSpPr/>
          <p:nvPr/>
        </p:nvSpPr>
        <p:spPr>
          <a:xfrm>
            <a:off x="4848540" y="4576072"/>
            <a:ext cx="2335891" cy="1855994"/>
          </a:xfrm>
          <a:prstGeom prst="flowChartDecision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>
            <a:normAutofit fontScale="85000" lnSpcReduction="10000"/>
          </a:bodyPr>
          <a:lstStyle/>
          <a:p>
            <a:pPr algn="ctr"/>
            <a:r>
              <a:rPr lang="en-US" dirty="0"/>
              <a:t>Does </a:t>
            </a:r>
            <a:r>
              <a:rPr lang="en-US" dirty="0" err="1"/>
              <a:t>Lef_pins</a:t>
            </a:r>
            <a:r>
              <a:rPr lang="en-US" dirty="0"/>
              <a:t> == </a:t>
            </a:r>
            <a:r>
              <a:rPr lang="en-US" dirty="0" err="1"/>
              <a:t>Lib_pins</a:t>
            </a:r>
            <a:r>
              <a:rPr lang="en-US" dirty="0"/>
              <a:t>?*</a:t>
            </a:r>
          </a:p>
        </p:txBody>
      </p:sp>
      <p:cxnSp>
        <p:nvCxnSpPr>
          <p:cNvPr id="13" name="Elbow Connector 12">
            <a:extLst>
              <a:ext uri="{FF2B5EF4-FFF2-40B4-BE49-F238E27FC236}">
                <a16:creationId xmlns:a16="http://schemas.microsoft.com/office/drawing/2014/main" id="{14825D45-2D94-94F3-6FB9-DE7970D21439}"/>
              </a:ext>
            </a:extLst>
          </p:cNvPr>
          <p:cNvCxnSpPr>
            <a:stCxn id="6" idx="1"/>
            <a:endCxn id="7" idx="0"/>
          </p:cNvCxnSpPr>
          <p:nvPr/>
        </p:nvCxnSpPr>
        <p:spPr>
          <a:xfrm rot="10800000" flipV="1">
            <a:off x="2418716" y="1800673"/>
            <a:ext cx="2261054" cy="446743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5" name="Elbow Connector 14">
            <a:extLst>
              <a:ext uri="{FF2B5EF4-FFF2-40B4-BE49-F238E27FC236}">
                <a16:creationId xmlns:a16="http://schemas.microsoft.com/office/drawing/2014/main" id="{327701B4-2504-E98C-DBDC-CA38542D5F48}"/>
              </a:ext>
            </a:extLst>
          </p:cNvPr>
          <p:cNvCxnSpPr>
            <a:stCxn id="6" idx="3"/>
            <a:endCxn id="8" idx="0"/>
          </p:cNvCxnSpPr>
          <p:nvPr/>
        </p:nvCxnSpPr>
        <p:spPr>
          <a:xfrm>
            <a:off x="7184431" y="1800674"/>
            <a:ext cx="2797769" cy="446743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7" name="Elbow Connector 16">
            <a:extLst>
              <a:ext uri="{FF2B5EF4-FFF2-40B4-BE49-F238E27FC236}">
                <a16:creationId xmlns:a16="http://schemas.microsoft.com/office/drawing/2014/main" id="{A5EE542E-4984-63FC-7044-D969391F4E56}"/>
              </a:ext>
            </a:extLst>
          </p:cNvPr>
          <p:cNvCxnSpPr>
            <a:stCxn id="7" idx="2"/>
            <a:endCxn id="9" idx="1"/>
          </p:cNvCxnSpPr>
          <p:nvPr/>
        </p:nvCxnSpPr>
        <p:spPr>
          <a:xfrm rot="5400000">
            <a:off x="2037141" y="3682540"/>
            <a:ext cx="763151" cy="12700"/>
          </a:xfrm>
          <a:prstGeom prst="bentConnector3">
            <a:avLst>
              <a:gd name="adj1" fmla="val -51"/>
            </a:avLst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0" name="Elbow Connector 19">
            <a:extLst>
              <a:ext uri="{FF2B5EF4-FFF2-40B4-BE49-F238E27FC236}">
                <a16:creationId xmlns:a16="http://schemas.microsoft.com/office/drawing/2014/main" id="{71B832A6-93FD-1A67-9AFD-A8B62F70C1B4}"/>
              </a:ext>
            </a:extLst>
          </p:cNvPr>
          <p:cNvCxnSpPr>
            <a:stCxn id="8" idx="2"/>
            <a:endCxn id="10" idx="0"/>
          </p:cNvCxnSpPr>
          <p:nvPr/>
        </p:nvCxnSpPr>
        <p:spPr>
          <a:xfrm rot="16200000" flipH="1">
            <a:off x="9605690" y="3677474"/>
            <a:ext cx="763151" cy="10131"/>
          </a:xfrm>
          <a:prstGeom prst="bentConnector3">
            <a:avLst>
              <a:gd name="adj1" fmla="val -51"/>
            </a:avLst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3" name="Elbow Connector 22">
            <a:extLst>
              <a:ext uri="{FF2B5EF4-FFF2-40B4-BE49-F238E27FC236}">
                <a16:creationId xmlns:a16="http://schemas.microsoft.com/office/drawing/2014/main" id="{3CE421E4-4C16-5C9F-C94D-9749B4823AD4}"/>
              </a:ext>
            </a:extLst>
          </p:cNvPr>
          <p:cNvCxnSpPr>
            <a:cxnSpLocks/>
            <a:stCxn id="9" idx="5"/>
            <a:endCxn id="11" idx="1"/>
          </p:cNvCxnSpPr>
          <p:nvPr/>
        </p:nvCxnSpPr>
        <p:spPr>
          <a:xfrm>
            <a:off x="3452386" y="4610768"/>
            <a:ext cx="1396154" cy="893301"/>
          </a:xfrm>
          <a:prstGeom prst="bentConnector3">
            <a:avLst>
              <a:gd name="adj1" fmla="val 75700"/>
            </a:avLst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6" name="Elbow Connector 25">
            <a:extLst>
              <a:ext uri="{FF2B5EF4-FFF2-40B4-BE49-F238E27FC236}">
                <a16:creationId xmlns:a16="http://schemas.microsoft.com/office/drawing/2014/main" id="{0D60820C-309D-ABF8-35E1-2F01F7056191}"/>
              </a:ext>
            </a:extLst>
          </p:cNvPr>
          <p:cNvCxnSpPr>
            <a:stCxn id="10" idx="2"/>
            <a:endCxn id="11" idx="3"/>
          </p:cNvCxnSpPr>
          <p:nvPr/>
        </p:nvCxnSpPr>
        <p:spPr>
          <a:xfrm rot="10800000" flipV="1">
            <a:off x="7184432" y="4610767"/>
            <a:ext cx="1515813" cy="893301"/>
          </a:xfrm>
          <a:prstGeom prst="bentConnector3">
            <a:avLst>
              <a:gd name="adj1" fmla="val 69854"/>
            </a:avLst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2" name="TextBox 31">
            <a:extLst>
              <a:ext uri="{FF2B5EF4-FFF2-40B4-BE49-F238E27FC236}">
                <a16:creationId xmlns:a16="http://schemas.microsoft.com/office/drawing/2014/main" id="{C70E96E6-87B4-5FD9-FE36-37304149800A}"/>
              </a:ext>
            </a:extLst>
          </p:cNvPr>
          <p:cNvSpPr txBox="1"/>
          <p:nvPr/>
        </p:nvSpPr>
        <p:spPr>
          <a:xfrm>
            <a:off x="4322963" y="2532337"/>
            <a:ext cx="3973651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*Solution:</a:t>
            </a:r>
          </a:p>
          <a:p>
            <a:r>
              <a:rPr lang="en-US" dirty="0"/>
              <a:t>Make all parsed pins uppercase to prevent case sensitivity issues</a:t>
            </a:r>
          </a:p>
        </p:txBody>
      </p:sp>
    </p:spTree>
    <p:extLst>
      <p:ext uri="{BB962C8B-B14F-4D97-AF65-F5344CB8AC3E}">
        <p14:creationId xmlns:p14="http://schemas.microsoft.com/office/powerpoint/2010/main" val="122797502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A37061-E6FB-6D46-0CC7-C72EFBA147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81BB9E-9B95-3488-02EE-EEE12665C8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000" dirty="0">
                <a:solidFill>
                  <a:srgbClr val="0070C0"/>
                </a:solidFill>
                <a:latin typeface="+mn-lt"/>
                <a:ea typeface="Cambria"/>
              </a:rPr>
              <a:t>Updated Script’s Error File after uppercase correction</a:t>
            </a:r>
            <a:endParaRPr lang="en-US" dirty="0">
              <a:latin typeface="+mn-lt"/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A55170E-95F0-64D9-DE92-9B93CC49D1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6D28ED-750A-4DFC-A458-38B3E79E4C7D}" type="datetime1">
              <a:rPr lang="en-US" smtClean="0"/>
              <a:t>12/19/2025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2FAFD0A-67CB-9031-4ADD-C77EB77D62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/>
              <a:t>EE/CPE584 Intro to VLSI</a:t>
            </a: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2365EC2-3CEF-B06B-E480-1413D8EE3C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8A6112-8193-45F5-863E-CC8218595965}" type="slidenum">
              <a:rPr lang="en-US" smtClean="0"/>
              <a:t>20</a:t>
            </a:fld>
            <a:endParaRPr lang="en-US"/>
          </a:p>
        </p:txBody>
      </p:sp>
      <p:pic>
        <p:nvPicPr>
          <p:cNvPr id="8" name="Picture 7" descr="A screenshot of a computer&#10;&#10;AI-generated content may be incorrect.">
            <a:extLst>
              <a:ext uri="{FF2B5EF4-FFF2-40B4-BE49-F238E27FC236}">
                <a16:creationId xmlns:a16="http://schemas.microsoft.com/office/drawing/2014/main" id="{76CA4E73-4EB1-D619-A9E4-E1C6D3494A7B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00" y="1589675"/>
            <a:ext cx="7772400" cy="4212314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C0B4398F-C4C4-15E0-23DC-83A3D388EE63}"/>
              </a:ext>
            </a:extLst>
          </p:cNvPr>
          <p:cNvSpPr txBox="1"/>
          <p:nvPr/>
        </p:nvSpPr>
        <p:spPr>
          <a:xfrm>
            <a:off x="7995180" y="1581173"/>
            <a:ext cx="397404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Tx/>
              <a:buChar char="-"/>
            </a:pPr>
            <a:r>
              <a:rPr lang="en-US" dirty="0"/>
              <a:t>Only shows pins that are truly in one file and not the other</a:t>
            </a:r>
          </a:p>
          <a:p>
            <a:pPr marL="285750" indent="-285750">
              <a:buFontTx/>
              <a:buChar char="-"/>
            </a:pPr>
            <a:r>
              <a:rPr lang="en-US" dirty="0"/>
              <a:t>Provides the cell name, pin name and the lib file they are not in</a:t>
            </a:r>
          </a:p>
        </p:txBody>
      </p: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61EE959D-323D-AA76-3600-A3D0EF87E436}"/>
              </a:ext>
            </a:extLst>
          </p:cNvPr>
          <p:cNvCxnSpPr/>
          <p:nvPr/>
        </p:nvCxnSpPr>
        <p:spPr>
          <a:xfrm flipH="1">
            <a:off x="1478820" y="2281748"/>
            <a:ext cx="3301550" cy="0"/>
          </a:xfrm>
          <a:prstGeom prst="straightConnector1">
            <a:avLst/>
          </a:prstGeom>
          <a:ln w="38100" cap="flat" cmpd="sng" algn="ctr">
            <a:solidFill>
              <a:schemeClr val="accent4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DA126CB0-A77B-F000-E12E-6270EE2184CD}"/>
              </a:ext>
            </a:extLst>
          </p:cNvPr>
          <p:cNvCxnSpPr>
            <a:cxnSpLocks/>
          </p:cNvCxnSpPr>
          <p:nvPr/>
        </p:nvCxnSpPr>
        <p:spPr>
          <a:xfrm flipH="1">
            <a:off x="771441" y="3041051"/>
            <a:ext cx="4008929" cy="0"/>
          </a:xfrm>
          <a:prstGeom prst="straightConnector1">
            <a:avLst/>
          </a:prstGeom>
          <a:ln w="38100" cap="flat" cmpd="sng" algn="ctr">
            <a:solidFill>
              <a:schemeClr val="accent4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F076283A-376F-B1EA-6F76-E8871102D7E2}"/>
              </a:ext>
            </a:extLst>
          </p:cNvPr>
          <p:cNvCxnSpPr>
            <a:cxnSpLocks/>
          </p:cNvCxnSpPr>
          <p:nvPr/>
        </p:nvCxnSpPr>
        <p:spPr>
          <a:xfrm flipH="1">
            <a:off x="3006866" y="3801702"/>
            <a:ext cx="1773504" cy="0"/>
          </a:xfrm>
          <a:prstGeom prst="straightConnector1">
            <a:avLst/>
          </a:prstGeom>
          <a:ln w="38100" cap="flat" cmpd="sng" algn="ctr">
            <a:solidFill>
              <a:schemeClr val="accent4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29" name="TextBox 28">
            <a:extLst>
              <a:ext uri="{FF2B5EF4-FFF2-40B4-BE49-F238E27FC236}">
                <a16:creationId xmlns:a16="http://schemas.microsoft.com/office/drawing/2014/main" id="{F82D37D8-8E35-0F11-634B-83F460015982}"/>
              </a:ext>
            </a:extLst>
          </p:cNvPr>
          <p:cNvSpPr txBox="1"/>
          <p:nvPr/>
        </p:nvSpPr>
        <p:spPr>
          <a:xfrm>
            <a:off x="4936816" y="2097082"/>
            <a:ext cx="3048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accent1">
                    <a:lumMod val="40000"/>
                    <a:lumOff val="60000"/>
                  </a:schemeClr>
                </a:solidFill>
              </a:rPr>
              <a:t>Cell of missing pin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E2DD8875-4136-52A3-A6DC-22182559A7F7}"/>
              </a:ext>
            </a:extLst>
          </p:cNvPr>
          <p:cNvSpPr txBox="1"/>
          <p:nvPr/>
        </p:nvSpPr>
        <p:spPr>
          <a:xfrm>
            <a:off x="4906808" y="2856385"/>
            <a:ext cx="3048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accent1">
                    <a:lumMod val="40000"/>
                    <a:lumOff val="60000"/>
                  </a:schemeClr>
                </a:solidFill>
              </a:rPr>
              <a:t>Missing Pin name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AD82E63D-3129-0866-760B-09C1FF660AA0}"/>
              </a:ext>
            </a:extLst>
          </p:cNvPr>
          <p:cNvSpPr txBox="1"/>
          <p:nvPr/>
        </p:nvSpPr>
        <p:spPr>
          <a:xfrm>
            <a:off x="4828585" y="3642490"/>
            <a:ext cx="3048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accent1">
                    <a:lumMod val="40000"/>
                    <a:lumOff val="60000"/>
                  </a:schemeClr>
                </a:solidFill>
              </a:rPr>
              <a:t>Liberty file of missing pin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6351BBB4-6CE3-548D-377E-90F553904344}"/>
              </a:ext>
            </a:extLst>
          </p:cNvPr>
          <p:cNvSpPr/>
          <p:nvPr/>
        </p:nvSpPr>
        <p:spPr>
          <a:xfrm>
            <a:off x="152400" y="1805651"/>
            <a:ext cx="7724185" cy="185195"/>
          </a:xfrm>
          <a:prstGeom prst="rect">
            <a:avLst/>
          </a:prstGeom>
          <a:solidFill>
            <a:srgbClr val="FFFF00">
              <a:alpha val="50000"/>
            </a:srgb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692216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9ADFA5-D714-4464-5EC2-40A645E8DB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6D3CA9-F51F-1E6F-17BD-710FE712AE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>
                <a:solidFill>
                  <a:srgbClr val="0070C0"/>
                </a:solidFill>
                <a:latin typeface="+mn-lt"/>
                <a:ea typeface="Cambria"/>
              </a:rPr>
              <a:t>Previous Script Showed a lack of detail on why the liberty incorrect pin property failed</a:t>
            </a:r>
            <a:endParaRPr lang="en-US" dirty="0">
              <a:latin typeface="+mn-lt"/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395CB1-5E97-0215-7182-3CD8F504A6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6D28ED-750A-4DFC-A458-38B3E79E4C7D}" type="datetime1">
              <a:rPr lang="en-US" smtClean="0"/>
              <a:t>12/19/2025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728F35F-1249-1355-9BB5-2B6B5FC41E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/>
              <a:t>EE/CPE584 Intro to VLSI</a:t>
            </a: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C45F1F1-A602-B7F2-22DD-0FA5740784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8A6112-8193-45F5-863E-CC8218595965}" type="slidenum">
              <a:rPr lang="en-US" smtClean="0"/>
              <a:t>21</a:t>
            </a:fld>
            <a:endParaRPr lang="en-US"/>
          </a:p>
        </p:txBody>
      </p:sp>
      <p:pic>
        <p:nvPicPr>
          <p:cNvPr id="3" name="Picture 2" descr="A screen shot of a computer error&#10;&#10;AI-generated content may be incorrect.">
            <a:extLst>
              <a:ext uri="{FF2B5EF4-FFF2-40B4-BE49-F238E27FC236}">
                <a16:creationId xmlns:a16="http://schemas.microsoft.com/office/drawing/2014/main" id="{C56833DB-65BB-2695-7B06-0A92FC1DC71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5262" y="2350077"/>
            <a:ext cx="11801475" cy="2157845"/>
          </a:xfrm>
          <a:prstGeom prst="rect">
            <a:avLst/>
          </a:prstGeom>
        </p:spPr>
      </p:pic>
      <p:sp>
        <p:nvSpPr>
          <p:cNvPr id="21" name="TextBox 20">
            <a:extLst>
              <a:ext uri="{FF2B5EF4-FFF2-40B4-BE49-F238E27FC236}">
                <a16:creationId xmlns:a16="http://schemas.microsoft.com/office/drawing/2014/main" id="{EEE44570-2722-C100-2CA6-12D35E0D8EC4}"/>
              </a:ext>
            </a:extLst>
          </p:cNvPr>
          <p:cNvSpPr txBox="1"/>
          <p:nvPr/>
        </p:nvSpPr>
        <p:spPr>
          <a:xfrm>
            <a:off x="542165" y="1892647"/>
            <a:ext cx="217155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Output of Errors File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F23FB41-BF65-64C4-60EE-7D0D3F6E65BF}"/>
              </a:ext>
            </a:extLst>
          </p:cNvPr>
          <p:cNvSpPr txBox="1"/>
          <p:nvPr/>
        </p:nvSpPr>
        <p:spPr>
          <a:xfrm>
            <a:off x="291378" y="4606724"/>
            <a:ext cx="11705359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Tx/>
              <a:buChar char="-"/>
            </a:pPr>
            <a:r>
              <a:rPr lang="en-US" dirty="0"/>
              <a:t>Script tells that there are cell properties missing in both scripts but does not display:</a:t>
            </a:r>
          </a:p>
          <a:p>
            <a:pPr marL="742950" lvl="1" indent="-285750">
              <a:buFontTx/>
              <a:buChar char="-"/>
            </a:pPr>
            <a:r>
              <a:rPr lang="en-US" dirty="0"/>
              <a:t>Which cell</a:t>
            </a:r>
          </a:p>
          <a:p>
            <a:pPr marL="742950" lvl="1" indent="-285750">
              <a:buFontTx/>
              <a:buChar char="-"/>
            </a:pPr>
            <a:r>
              <a:rPr lang="en-US" dirty="0"/>
              <a:t>What properties</a:t>
            </a:r>
          </a:p>
          <a:p>
            <a:pPr marL="742950" lvl="1" indent="-285750">
              <a:buFontTx/>
              <a:buChar char="-"/>
            </a:pPr>
            <a:r>
              <a:rPr lang="en-US" dirty="0"/>
              <a:t>What caused the mismatch/fail 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F5F6EF4D-48EB-DB93-D4EF-54F2CD886545}"/>
              </a:ext>
            </a:extLst>
          </p:cNvPr>
          <p:cNvSpPr/>
          <p:nvPr/>
        </p:nvSpPr>
        <p:spPr>
          <a:xfrm>
            <a:off x="195262" y="2847372"/>
            <a:ext cx="11680363" cy="405114"/>
          </a:xfrm>
          <a:prstGeom prst="rect">
            <a:avLst/>
          </a:prstGeom>
          <a:solidFill>
            <a:srgbClr val="FFFF00">
              <a:alpha val="50000"/>
            </a:srgb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025354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85838FF-5200-7381-98E7-6F9DF2DCF4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6D28ED-750A-4DFC-A458-38B3E79E4C7D}" type="datetime1">
              <a:rPr lang="en-US" smtClean="0"/>
              <a:t>12/19/2025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36F5C9C-A346-4193-C2EB-6D69A1AF53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581400" y="6310312"/>
            <a:ext cx="4114800" cy="365125"/>
          </a:xfrm>
        </p:spPr>
        <p:txBody>
          <a:bodyPr/>
          <a:lstStyle/>
          <a:p>
            <a:r>
              <a:rPr lang="es-ES" dirty="0"/>
              <a:t>EE/CPE584 </a:t>
            </a:r>
            <a:r>
              <a:rPr lang="es-ES" dirty="0" err="1"/>
              <a:t>Intro</a:t>
            </a:r>
            <a:r>
              <a:rPr lang="es-ES" dirty="0"/>
              <a:t> </a:t>
            </a:r>
            <a:r>
              <a:rPr lang="es-ES" dirty="0" err="1"/>
              <a:t>to</a:t>
            </a:r>
            <a:r>
              <a:rPr lang="es-ES" dirty="0"/>
              <a:t> VLSI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8EFE3EE-46B2-CAEB-361C-CC6A1927AF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10700" y="6356349"/>
            <a:ext cx="2743200" cy="365125"/>
          </a:xfrm>
        </p:spPr>
        <p:txBody>
          <a:bodyPr/>
          <a:lstStyle/>
          <a:p>
            <a:fld id="{D08A6112-8193-45F5-863E-CC8218595965}" type="slidenum">
              <a:rPr lang="en-US" smtClean="0"/>
              <a:t>22</a:t>
            </a:fld>
            <a:endParaRPr lang="en-US" dirty="0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5734847C-A1D9-7607-A420-18691CDD2E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000" dirty="0">
                <a:solidFill>
                  <a:srgbClr val="0070C0"/>
                </a:solidFill>
                <a:latin typeface="+mn-lt"/>
                <a:ea typeface="Cambria"/>
              </a:rPr>
              <a:t>Initial Implementations for Property Comparison  </a:t>
            </a:r>
            <a:endParaRPr lang="en-US" dirty="0">
              <a:latin typeface="+mn-lt"/>
            </a:endParaRPr>
          </a:p>
        </p:txBody>
      </p:sp>
      <p:sp>
        <p:nvSpPr>
          <p:cNvPr id="8" name="Terminator 7">
            <a:extLst>
              <a:ext uri="{FF2B5EF4-FFF2-40B4-BE49-F238E27FC236}">
                <a16:creationId xmlns:a16="http://schemas.microsoft.com/office/drawing/2014/main" id="{8932884C-96D6-7E87-1AE8-EB1258CCDC40}"/>
              </a:ext>
            </a:extLst>
          </p:cNvPr>
          <p:cNvSpPr/>
          <p:nvPr/>
        </p:nvSpPr>
        <p:spPr>
          <a:xfrm>
            <a:off x="4987637" y="1243945"/>
            <a:ext cx="2504661" cy="893486"/>
          </a:xfrm>
          <a:prstGeom prst="flowChartTerminator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>
                <a:cs typeface="Times New Roman" panose="02020603050405020304" pitchFamily="18" charset="0"/>
              </a:rPr>
              <a:t>Start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C56F930-58C1-B5EE-60E5-B3F85BC87B96}"/>
              </a:ext>
            </a:extLst>
          </p:cNvPr>
          <p:cNvSpPr txBox="1"/>
          <p:nvPr/>
        </p:nvSpPr>
        <p:spPr>
          <a:xfrm>
            <a:off x="888460" y="1690688"/>
            <a:ext cx="3050697" cy="3970318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dirty="0"/>
              <a:t>Issues:</a:t>
            </a:r>
          </a:p>
          <a:p>
            <a:r>
              <a:rPr lang="en-US" dirty="0"/>
              <a:t>*Only Directions is compared despite having a loop going through all properties</a:t>
            </a:r>
          </a:p>
          <a:p>
            <a:r>
              <a:rPr lang="en-US" dirty="0"/>
              <a:t>**Value of each property must match exactly (ex. Input = Input) leaving limited comparison between two files</a:t>
            </a:r>
          </a:p>
          <a:p>
            <a:r>
              <a:rPr lang="en-US" dirty="0"/>
              <a:t>***Returns fail but does not imply or explain what caused fail</a:t>
            </a:r>
          </a:p>
          <a:p>
            <a:endParaRPr lang="en-US" dirty="0"/>
          </a:p>
        </p:txBody>
      </p:sp>
      <p:sp>
        <p:nvSpPr>
          <p:cNvPr id="10" name="Data 9">
            <a:extLst>
              <a:ext uri="{FF2B5EF4-FFF2-40B4-BE49-F238E27FC236}">
                <a16:creationId xmlns:a16="http://schemas.microsoft.com/office/drawing/2014/main" id="{B6AB5671-66E1-920C-B0FD-87FC99BECC9B}"/>
              </a:ext>
            </a:extLst>
          </p:cNvPr>
          <p:cNvSpPr/>
          <p:nvPr/>
        </p:nvSpPr>
        <p:spPr>
          <a:xfrm>
            <a:off x="5084989" y="2423323"/>
            <a:ext cx="2309949" cy="1210491"/>
          </a:xfrm>
          <a:prstGeom prst="flowChartInputOutpu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>
            <a:normAutofit fontScale="62500" lnSpcReduction="20000"/>
          </a:bodyPr>
          <a:lstStyle/>
          <a:p>
            <a:pPr algn="ctr"/>
            <a:r>
              <a:rPr lang="en-US" dirty="0"/>
              <a:t>Input </a:t>
            </a:r>
            <a:r>
              <a:rPr lang="en-US" dirty="0" err="1"/>
              <a:t>Lib_pin</a:t>
            </a:r>
            <a:r>
              <a:rPr lang="en-US" dirty="0"/>
              <a:t>;</a:t>
            </a:r>
          </a:p>
          <a:p>
            <a:pPr algn="ctr"/>
            <a:r>
              <a:rPr lang="en-US" dirty="0"/>
              <a:t>Input </a:t>
            </a:r>
            <a:r>
              <a:rPr lang="en-US" dirty="0" err="1"/>
              <a:t>Lef_pin</a:t>
            </a:r>
            <a:r>
              <a:rPr lang="en-US" dirty="0"/>
              <a:t>;</a:t>
            </a:r>
          </a:p>
          <a:p>
            <a:pPr algn="ctr"/>
            <a:r>
              <a:rPr lang="en-US" dirty="0"/>
              <a:t>Input </a:t>
            </a:r>
            <a:r>
              <a:rPr lang="en-US" dirty="0" err="1"/>
              <a:t>Lib_pin_property</a:t>
            </a:r>
            <a:r>
              <a:rPr lang="en-US" dirty="0"/>
              <a:t>;</a:t>
            </a:r>
          </a:p>
          <a:p>
            <a:pPr algn="ctr"/>
            <a:r>
              <a:rPr lang="en-US" dirty="0"/>
              <a:t>Input </a:t>
            </a:r>
            <a:r>
              <a:rPr lang="en-US" dirty="0" err="1"/>
              <a:t>Lef_pin_property</a:t>
            </a:r>
            <a:r>
              <a:rPr lang="en-US" dirty="0"/>
              <a:t>;</a:t>
            </a:r>
          </a:p>
        </p:txBody>
      </p:sp>
      <p:sp>
        <p:nvSpPr>
          <p:cNvPr id="11" name="Decision 10">
            <a:extLst>
              <a:ext uri="{FF2B5EF4-FFF2-40B4-BE49-F238E27FC236}">
                <a16:creationId xmlns:a16="http://schemas.microsoft.com/office/drawing/2014/main" id="{A59C4FA4-C797-813E-9A16-8812CBD52B19}"/>
              </a:ext>
            </a:extLst>
          </p:cNvPr>
          <p:cNvSpPr/>
          <p:nvPr/>
        </p:nvSpPr>
        <p:spPr>
          <a:xfrm>
            <a:off x="5213302" y="3864991"/>
            <a:ext cx="2053321" cy="1069848"/>
          </a:xfrm>
          <a:prstGeom prst="flowChartDecision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>
            <a:normAutofit fontScale="70000" lnSpcReduction="20000"/>
          </a:bodyPr>
          <a:lstStyle/>
          <a:p>
            <a:pPr algn="ctr"/>
            <a:r>
              <a:rPr lang="en-US" dirty="0"/>
              <a:t>*</a:t>
            </a:r>
            <a:r>
              <a:rPr lang="en-US" dirty="0" err="1"/>
              <a:t>Lib_pin</a:t>
            </a:r>
            <a:r>
              <a:rPr lang="en-US" dirty="0"/>
              <a:t> == </a:t>
            </a:r>
            <a:r>
              <a:rPr lang="en-US" dirty="0" err="1"/>
              <a:t>Lef_pin</a:t>
            </a:r>
            <a:r>
              <a:rPr lang="en-US" dirty="0"/>
              <a:t>?</a:t>
            </a:r>
          </a:p>
        </p:txBody>
      </p:sp>
      <p:sp>
        <p:nvSpPr>
          <p:cNvPr id="12" name="Decision 11">
            <a:extLst>
              <a:ext uri="{FF2B5EF4-FFF2-40B4-BE49-F238E27FC236}">
                <a16:creationId xmlns:a16="http://schemas.microsoft.com/office/drawing/2014/main" id="{B68995D8-973B-9A36-ED0E-F8E3E019F07A}"/>
              </a:ext>
            </a:extLst>
          </p:cNvPr>
          <p:cNvSpPr/>
          <p:nvPr/>
        </p:nvSpPr>
        <p:spPr>
          <a:xfrm>
            <a:off x="5206953" y="5137267"/>
            <a:ext cx="2053321" cy="1069848"/>
          </a:xfrm>
          <a:prstGeom prst="flowChartDecision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>
            <a:normAutofit fontScale="47500" lnSpcReduction="20000"/>
          </a:bodyPr>
          <a:lstStyle/>
          <a:p>
            <a:pPr algn="ctr"/>
            <a:r>
              <a:rPr lang="en-US" dirty="0"/>
              <a:t>**</a:t>
            </a:r>
            <a:r>
              <a:rPr lang="en-US" dirty="0" err="1"/>
              <a:t>Lib_pin_property</a:t>
            </a:r>
            <a:r>
              <a:rPr lang="en-US" dirty="0"/>
              <a:t> == </a:t>
            </a:r>
            <a:r>
              <a:rPr lang="en-US" dirty="0" err="1"/>
              <a:t>Lef_pin_property</a:t>
            </a:r>
            <a:r>
              <a:rPr lang="en-US" dirty="0"/>
              <a:t>?</a:t>
            </a:r>
          </a:p>
        </p:txBody>
      </p:sp>
      <p:sp>
        <p:nvSpPr>
          <p:cNvPr id="13" name="Data 12">
            <a:extLst>
              <a:ext uri="{FF2B5EF4-FFF2-40B4-BE49-F238E27FC236}">
                <a16:creationId xmlns:a16="http://schemas.microsoft.com/office/drawing/2014/main" id="{A0F335C5-ECA8-CC13-1512-138C13A8540F}"/>
              </a:ext>
            </a:extLst>
          </p:cNvPr>
          <p:cNvSpPr/>
          <p:nvPr/>
        </p:nvSpPr>
        <p:spPr>
          <a:xfrm>
            <a:off x="8663940" y="3864990"/>
            <a:ext cx="2118360" cy="1069849"/>
          </a:xfrm>
          <a:prstGeom prst="flowChartInputOutpu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***Output failed;</a:t>
            </a:r>
          </a:p>
        </p:txBody>
      </p:sp>
      <p:cxnSp>
        <p:nvCxnSpPr>
          <p:cNvPr id="16" name="Elbow Connector 15">
            <a:extLst>
              <a:ext uri="{FF2B5EF4-FFF2-40B4-BE49-F238E27FC236}">
                <a16:creationId xmlns:a16="http://schemas.microsoft.com/office/drawing/2014/main" id="{116D9951-AAA7-F05E-9BFF-65FC650DB122}"/>
              </a:ext>
            </a:extLst>
          </p:cNvPr>
          <p:cNvCxnSpPr>
            <a:stCxn id="8" idx="2"/>
            <a:endCxn id="10" idx="1"/>
          </p:cNvCxnSpPr>
          <p:nvPr/>
        </p:nvCxnSpPr>
        <p:spPr>
          <a:xfrm rot="5400000">
            <a:off x="6097020" y="2280375"/>
            <a:ext cx="285892" cy="4"/>
          </a:xfrm>
          <a:prstGeom prst="bentConnector3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8" name="Elbow Connector 17">
            <a:extLst>
              <a:ext uri="{FF2B5EF4-FFF2-40B4-BE49-F238E27FC236}">
                <a16:creationId xmlns:a16="http://schemas.microsoft.com/office/drawing/2014/main" id="{4B65E590-BF16-1063-F12E-ABD3DC9A7118}"/>
              </a:ext>
            </a:extLst>
          </p:cNvPr>
          <p:cNvCxnSpPr>
            <a:stCxn id="10" idx="4"/>
            <a:endCxn id="11" idx="0"/>
          </p:cNvCxnSpPr>
          <p:nvPr/>
        </p:nvCxnSpPr>
        <p:spPr>
          <a:xfrm rot="5400000">
            <a:off x="6124376" y="3749402"/>
            <a:ext cx="231177" cy="1"/>
          </a:xfrm>
          <a:prstGeom prst="bentConnector3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0" name="Elbow Connector 19">
            <a:extLst>
              <a:ext uri="{FF2B5EF4-FFF2-40B4-BE49-F238E27FC236}">
                <a16:creationId xmlns:a16="http://schemas.microsoft.com/office/drawing/2014/main" id="{E36D1F9D-3478-2AAE-EF9E-32ACFD5CA617}"/>
              </a:ext>
            </a:extLst>
          </p:cNvPr>
          <p:cNvCxnSpPr>
            <a:stCxn id="11" idx="2"/>
            <a:endCxn id="12" idx="0"/>
          </p:cNvCxnSpPr>
          <p:nvPr/>
        </p:nvCxnSpPr>
        <p:spPr>
          <a:xfrm rot="5400000">
            <a:off x="6135575" y="5032879"/>
            <a:ext cx="202428" cy="6349"/>
          </a:xfrm>
          <a:prstGeom prst="bentConnector3">
            <a:avLst>
              <a:gd name="adj1" fmla="val 1064"/>
            </a:avLst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4" name="Elbow Connector 23">
            <a:extLst>
              <a:ext uri="{FF2B5EF4-FFF2-40B4-BE49-F238E27FC236}">
                <a16:creationId xmlns:a16="http://schemas.microsoft.com/office/drawing/2014/main" id="{5E5A1987-7C83-5F1E-6DA7-6F4737508BD3}"/>
              </a:ext>
            </a:extLst>
          </p:cNvPr>
          <p:cNvCxnSpPr>
            <a:stCxn id="11" idx="3"/>
            <a:endCxn id="13" idx="2"/>
          </p:cNvCxnSpPr>
          <p:nvPr/>
        </p:nvCxnSpPr>
        <p:spPr>
          <a:xfrm>
            <a:off x="7266623" y="4399915"/>
            <a:ext cx="1609153" cy="12700"/>
          </a:xfrm>
          <a:prstGeom prst="bentConnector3">
            <a:avLst>
              <a:gd name="adj1" fmla="val -195"/>
            </a:avLst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7" name="TextBox 26">
            <a:extLst>
              <a:ext uri="{FF2B5EF4-FFF2-40B4-BE49-F238E27FC236}">
                <a16:creationId xmlns:a16="http://schemas.microsoft.com/office/drawing/2014/main" id="{32CDCF00-FD95-1938-9A4A-BF5E5F51584F}"/>
              </a:ext>
            </a:extLst>
          </p:cNvPr>
          <p:cNvSpPr txBox="1"/>
          <p:nvPr/>
        </p:nvSpPr>
        <p:spPr>
          <a:xfrm>
            <a:off x="7492298" y="4043283"/>
            <a:ext cx="64586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No</a:t>
            </a:r>
          </a:p>
        </p:txBody>
      </p:sp>
      <p:cxnSp>
        <p:nvCxnSpPr>
          <p:cNvPr id="29" name="Elbow Connector 28">
            <a:extLst>
              <a:ext uri="{FF2B5EF4-FFF2-40B4-BE49-F238E27FC236}">
                <a16:creationId xmlns:a16="http://schemas.microsoft.com/office/drawing/2014/main" id="{718D0F26-BB63-03A6-0CEF-FBE59FC1FF1B}"/>
              </a:ext>
            </a:extLst>
          </p:cNvPr>
          <p:cNvCxnSpPr>
            <a:stCxn id="12" idx="3"/>
            <a:endCxn id="13" idx="3"/>
          </p:cNvCxnSpPr>
          <p:nvPr/>
        </p:nvCxnSpPr>
        <p:spPr>
          <a:xfrm flipV="1">
            <a:off x="7260274" y="4934839"/>
            <a:ext cx="2251010" cy="737352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0" name="TextBox 29">
            <a:extLst>
              <a:ext uri="{FF2B5EF4-FFF2-40B4-BE49-F238E27FC236}">
                <a16:creationId xmlns:a16="http://schemas.microsoft.com/office/drawing/2014/main" id="{08CC557F-1DDC-608D-03B7-BA81F9BD70B4}"/>
              </a:ext>
            </a:extLst>
          </p:cNvPr>
          <p:cNvSpPr txBox="1"/>
          <p:nvPr/>
        </p:nvSpPr>
        <p:spPr>
          <a:xfrm>
            <a:off x="7492298" y="5340464"/>
            <a:ext cx="64586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No</a:t>
            </a:r>
          </a:p>
        </p:txBody>
      </p:sp>
      <p:cxnSp>
        <p:nvCxnSpPr>
          <p:cNvPr id="32" name="Elbow Connector 31">
            <a:extLst>
              <a:ext uri="{FF2B5EF4-FFF2-40B4-BE49-F238E27FC236}">
                <a16:creationId xmlns:a16="http://schemas.microsoft.com/office/drawing/2014/main" id="{5F823345-F043-A65C-FF20-CABFE5E0F715}"/>
              </a:ext>
            </a:extLst>
          </p:cNvPr>
          <p:cNvCxnSpPr>
            <a:stCxn id="12" idx="1"/>
            <a:endCxn id="10" idx="2"/>
          </p:cNvCxnSpPr>
          <p:nvPr/>
        </p:nvCxnSpPr>
        <p:spPr>
          <a:xfrm rot="10800000" flipH="1">
            <a:off x="5206952" y="3028569"/>
            <a:ext cx="109031" cy="2643622"/>
          </a:xfrm>
          <a:prstGeom prst="bentConnector3">
            <a:avLst>
              <a:gd name="adj1" fmla="val -321527"/>
            </a:avLst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3" name="TextBox 32">
            <a:extLst>
              <a:ext uri="{FF2B5EF4-FFF2-40B4-BE49-F238E27FC236}">
                <a16:creationId xmlns:a16="http://schemas.microsoft.com/office/drawing/2014/main" id="{8756F5B3-E831-74FC-F8F2-281268F2CAD1}"/>
              </a:ext>
            </a:extLst>
          </p:cNvPr>
          <p:cNvSpPr txBox="1"/>
          <p:nvPr/>
        </p:nvSpPr>
        <p:spPr>
          <a:xfrm>
            <a:off x="4164832" y="3789750"/>
            <a:ext cx="64586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Yes;</a:t>
            </a:r>
          </a:p>
          <a:p>
            <a:r>
              <a:rPr lang="en-US" dirty="0"/>
              <a:t>Next pin</a:t>
            </a:r>
          </a:p>
        </p:txBody>
      </p:sp>
    </p:spTree>
    <p:extLst>
      <p:ext uri="{BB962C8B-B14F-4D97-AF65-F5344CB8AC3E}">
        <p14:creationId xmlns:p14="http://schemas.microsoft.com/office/powerpoint/2010/main" val="271943091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2AAE71-65AB-68B9-5F0C-FE603E86E4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35548F-8F30-3D20-69A4-994897EE07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9368"/>
            <a:ext cx="10515600" cy="1325563"/>
          </a:xfrm>
        </p:spPr>
        <p:txBody>
          <a:bodyPr>
            <a:normAutofit/>
          </a:bodyPr>
          <a:lstStyle/>
          <a:p>
            <a:r>
              <a:rPr lang="en-US" sz="4000" dirty="0">
                <a:solidFill>
                  <a:srgbClr val="0070C0"/>
                </a:solidFill>
                <a:latin typeface="+mn-lt"/>
                <a:ea typeface="Cambria" panose="02040503050406030204" pitchFamily="18" charset="0"/>
              </a:rPr>
              <a:t>New Implementations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65EDFEB-9D38-97E6-EBA7-9323A693BE3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2600" y="1354931"/>
            <a:ext cx="11226800" cy="4613275"/>
          </a:xfrm>
        </p:spPr>
        <p:txBody>
          <a:bodyPr>
            <a:normAutofit/>
          </a:bodyPr>
          <a:lstStyle/>
          <a:p>
            <a:r>
              <a:rPr lang="en-US" dirty="0">
                <a:ea typeface="Cambria" panose="02040503050406030204" pitchFamily="18" charset="0"/>
              </a:rPr>
              <a:t>The new script current supports comparisons for</a:t>
            </a:r>
          </a:p>
          <a:p>
            <a:pPr lvl="1"/>
            <a:r>
              <a:rPr lang="en-US" dirty="0">
                <a:ea typeface="Cambria" panose="02040503050406030204" pitchFamily="18" charset="0"/>
              </a:rPr>
              <a:t>Cells:</a:t>
            </a:r>
          </a:p>
          <a:p>
            <a:pPr lvl="2"/>
            <a:r>
              <a:rPr lang="en-US" dirty="0">
                <a:ea typeface="Cambria" panose="02040503050406030204" pitchFamily="18" charset="0"/>
              </a:rPr>
              <a:t>Area -  Ensures Area from LIB files matches the Areas from LEF files</a:t>
            </a:r>
          </a:p>
          <a:p>
            <a:pPr lvl="1"/>
            <a:r>
              <a:rPr lang="en-US" dirty="0">
                <a:ea typeface="Cambria" panose="02040503050406030204" pitchFamily="18" charset="0"/>
              </a:rPr>
              <a:t>Pins:</a:t>
            </a:r>
          </a:p>
          <a:p>
            <a:pPr lvl="2"/>
            <a:r>
              <a:rPr lang="en-US" dirty="0">
                <a:ea typeface="Cambria" panose="02040503050406030204" pitchFamily="18" charset="0"/>
              </a:rPr>
              <a:t>Direction – ensures directions from both LIB and LEF matches</a:t>
            </a:r>
          </a:p>
          <a:p>
            <a:pPr lvl="2"/>
            <a:r>
              <a:rPr lang="en-US" dirty="0">
                <a:ea typeface="Cambria" panose="02040503050406030204" pitchFamily="18" charset="0"/>
              </a:rPr>
              <a:t>Clock – Verifies LIB clock pin aligns with LEF “USE” property</a:t>
            </a:r>
          </a:p>
          <a:p>
            <a:pPr lvl="2"/>
            <a:r>
              <a:rPr lang="en-US" dirty="0" err="1">
                <a:ea typeface="Cambria" panose="02040503050406030204" pitchFamily="18" charset="0"/>
              </a:rPr>
              <a:t>PG_Type</a:t>
            </a:r>
            <a:r>
              <a:rPr lang="en-US" dirty="0">
                <a:ea typeface="Cambria" panose="02040503050406030204" pitchFamily="18" charset="0"/>
              </a:rPr>
              <a:t> – Verifies LIB power or ground pins aligns with “USE” properties</a:t>
            </a:r>
          </a:p>
          <a:p>
            <a:pPr lvl="2"/>
            <a:r>
              <a:rPr lang="en-US" dirty="0" err="1">
                <a:ea typeface="Cambria" panose="02040503050406030204" pitchFamily="18" charset="0"/>
              </a:rPr>
              <a:t>Voltage_Name</a:t>
            </a:r>
            <a:r>
              <a:rPr lang="en-US" dirty="0">
                <a:ea typeface="Cambria" panose="02040503050406030204" pitchFamily="18" charset="0"/>
              </a:rPr>
              <a:t> – ensures the voltage name in LIB is consistent </a:t>
            </a:r>
          </a:p>
          <a:p>
            <a:pPr lvl="2"/>
            <a:r>
              <a:rPr lang="en-US" dirty="0" err="1">
                <a:ea typeface="Cambria" panose="02040503050406030204" pitchFamily="18" charset="0"/>
              </a:rPr>
              <a:t>Related_Power_Pin</a:t>
            </a:r>
            <a:r>
              <a:rPr lang="en-US" dirty="0">
                <a:ea typeface="Cambria" panose="02040503050406030204" pitchFamily="18" charset="0"/>
              </a:rPr>
              <a:t> / </a:t>
            </a:r>
            <a:r>
              <a:rPr lang="en-US" dirty="0" err="1">
                <a:ea typeface="Cambria" panose="02040503050406030204" pitchFamily="18" charset="0"/>
              </a:rPr>
              <a:t>Related_Ground_Pins</a:t>
            </a:r>
            <a:r>
              <a:rPr lang="en-US" dirty="0">
                <a:ea typeface="Cambria" panose="02040503050406030204" pitchFamily="18" charset="0"/>
              </a:rPr>
              <a:t> – validates References between power and ground properties between pins in the LIB file. 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1C73292-5FB9-F916-A596-8AD43F15F7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6D28ED-750A-4DFC-A458-38B3E79E4C7D}" type="datetime1">
              <a:rPr lang="en-US" sz="1400" smtClean="0">
                <a:solidFill>
                  <a:srgbClr val="0070C0"/>
                </a:solidFill>
                <a:ea typeface="Cambria" panose="02040503050406030204" pitchFamily="18" charset="0"/>
              </a:rPr>
              <a:t>12/19/2025</a:t>
            </a:fld>
            <a:endParaRPr lang="en-US" sz="1400">
              <a:solidFill>
                <a:srgbClr val="0070C0"/>
              </a:solidFill>
              <a:ea typeface="Cambria" panose="02040503050406030204" pitchFamily="18" charset="0"/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F9B5EAF-F680-34C4-47D2-68E23246C1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 sz="1400">
                <a:solidFill>
                  <a:srgbClr val="0070C0"/>
                </a:solidFill>
                <a:ea typeface="Cambria" panose="02040503050406030204" pitchFamily="18" charset="0"/>
              </a:rPr>
              <a:t>EE/CPE584 </a:t>
            </a:r>
            <a:r>
              <a:rPr lang="es-ES" sz="1400" err="1">
                <a:solidFill>
                  <a:srgbClr val="0070C0"/>
                </a:solidFill>
                <a:ea typeface="Cambria" panose="02040503050406030204" pitchFamily="18" charset="0"/>
              </a:rPr>
              <a:t>Intro</a:t>
            </a:r>
            <a:r>
              <a:rPr lang="es-ES" sz="1400">
                <a:solidFill>
                  <a:srgbClr val="0070C0"/>
                </a:solidFill>
                <a:ea typeface="Cambria" panose="02040503050406030204" pitchFamily="18" charset="0"/>
              </a:rPr>
              <a:t> </a:t>
            </a:r>
            <a:r>
              <a:rPr lang="es-ES" sz="1400" err="1">
                <a:solidFill>
                  <a:srgbClr val="0070C0"/>
                </a:solidFill>
                <a:ea typeface="Cambria" panose="02040503050406030204" pitchFamily="18" charset="0"/>
              </a:rPr>
              <a:t>to</a:t>
            </a:r>
            <a:r>
              <a:rPr lang="es-ES" sz="1400">
                <a:solidFill>
                  <a:srgbClr val="0070C0"/>
                </a:solidFill>
                <a:ea typeface="Cambria" panose="02040503050406030204" pitchFamily="18" charset="0"/>
              </a:rPr>
              <a:t> VLSI</a:t>
            </a:r>
            <a:endParaRPr lang="en-US" sz="1400">
              <a:solidFill>
                <a:srgbClr val="0070C0"/>
              </a:solidFill>
              <a:ea typeface="Cambria" panose="02040503050406030204" pitchFamily="18" charset="0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0DC4C2C-3594-0D50-91A0-7D0FECC124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8A6112-8193-45F5-863E-CC8218595965}" type="slidenum">
              <a:rPr lang="en-US" sz="1400" smtClean="0">
                <a:solidFill>
                  <a:srgbClr val="0070C0"/>
                </a:solidFill>
                <a:ea typeface="Cambria" panose="02040503050406030204" pitchFamily="18" charset="0"/>
              </a:rPr>
              <a:t>23</a:t>
            </a:fld>
            <a:endParaRPr lang="en-US" sz="1400">
              <a:solidFill>
                <a:srgbClr val="0070C0"/>
              </a:solidFill>
              <a:ea typeface="Cambria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5770442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107848-3768-1425-1212-AC4E0B7633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0070C0"/>
                </a:solidFill>
                <a:latin typeface="+mn-lt"/>
                <a:ea typeface="Cambria" panose="02040503050406030204" pitchFamily="18" charset="0"/>
              </a:rPr>
              <a:t>New Implementation Flowchart</a:t>
            </a:r>
            <a:endParaRPr lang="en-US" dirty="0">
              <a:latin typeface="+mn-lt"/>
            </a:endParaRP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7477EA6-2827-26DE-2286-11F9C4831E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612801-9325-4A1B-AAC6-5236E02DCD9A}" type="datetime1">
              <a:rPr lang="en-US" smtClean="0"/>
              <a:t>12/19/2025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AFCEED2-32CE-8AAB-666F-08D9E10E58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/>
              <a:t>EE/CPE584 Intro to VLSI</a:t>
            </a:r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D59BC48-B3AA-EB46-0889-D97C3BAD55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8A6112-8193-45F5-863E-CC8218595965}" type="slidenum">
              <a:rPr lang="en-US" smtClean="0"/>
              <a:t>24</a:t>
            </a:fld>
            <a:endParaRPr lang="en-US"/>
          </a:p>
        </p:txBody>
      </p:sp>
      <p:sp>
        <p:nvSpPr>
          <p:cNvPr id="6" name="Terminator 5">
            <a:extLst>
              <a:ext uri="{FF2B5EF4-FFF2-40B4-BE49-F238E27FC236}">
                <a16:creationId xmlns:a16="http://schemas.microsoft.com/office/drawing/2014/main" id="{C4E87997-B56A-393B-42D9-D173CAB8917B}"/>
              </a:ext>
            </a:extLst>
          </p:cNvPr>
          <p:cNvSpPr/>
          <p:nvPr/>
        </p:nvSpPr>
        <p:spPr>
          <a:xfrm>
            <a:off x="957469" y="1449685"/>
            <a:ext cx="2504661" cy="893486"/>
          </a:xfrm>
          <a:prstGeom prst="flowChartTerminator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>
                <a:cs typeface="Times New Roman" panose="02020603050405020304" pitchFamily="18" charset="0"/>
              </a:rPr>
              <a:t>Start</a:t>
            </a:r>
          </a:p>
        </p:txBody>
      </p:sp>
      <p:sp>
        <p:nvSpPr>
          <p:cNvPr id="7" name="Process 6">
            <a:extLst>
              <a:ext uri="{FF2B5EF4-FFF2-40B4-BE49-F238E27FC236}">
                <a16:creationId xmlns:a16="http://schemas.microsoft.com/office/drawing/2014/main" id="{CD7D0B95-8477-00E8-DA0B-56866646CEE4}"/>
              </a:ext>
            </a:extLst>
          </p:cNvPr>
          <p:cNvSpPr/>
          <p:nvPr/>
        </p:nvSpPr>
        <p:spPr>
          <a:xfrm>
            <a:off x="1050234" y="2663349"/>
            <a:ext cx="2319130" cy="906780"/>
          </a:xfrm>
          <a:prstGeom prst="flowChartProcess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Case </a:t>
            </a:r>
            <a:r>
              <a:rPr lang="en-US" dirty="0" err="1"/>
              <a:t>Comparison_Type</a:t>
            </a:r>
            <a:endParaRPr lang="en-US" dirty="0"/>
          </a:p>
        </p:txBody>
      </p:sp>
      <p:sp>
        <p:nvSpPr>
          <p:cNvPr id="8" name="Decision 7">
            <a:extLst>
              <a:ext uri="{FF2B5EF4-FFF2-40B4-BE49-F238E27FC236}">
                <a16:creationId xmlns:a16="http://schemas.microsoft.com/office/drawing/2014/main" id="{C06E1B0E-8701-C518-F277-1B6E51E16AE0}"/>
              </a:ext>
            </a:extLst>
          </p:cNvPr>
          <p:cNvSpPr/>
          <p:nvPr/>
        </p:nvSpPr>
        <p:spPr>
          <a:xfrm>
            <a:off x="1071015" y="4130755"/>
            <a:ext cx="2277566" cy="1283910"/>
          </a:xfrm>
          <a:prstGeom prst="flowChartDecision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>
            <a:spAutoFit/>
          </a:bodyPr>
          <a:lstStyle/>
          <a:p>
            <a:pPr algn="ctr"/>
            <a:r>
              <a:rPr lang="en-US" dirty="0" err="1"/>
              <a:t>Voltage_Name</a:t>
            </a:r>
            <a:endParaRPr 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C35D684-B3AD-23CD-5657-E53BCC2F3654}"/>
              </a:ext>
            </a:extLst>
          </p:cNvPr>
          <p:cNvSpPr txBox="1"/>
          <p:nvPr/>
        </p:nvSpPr>
        <p:spPr>
          <a:xfrm>
            <a:off x="1615608" y="5962591"/>
            <a:ext cx="118838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Next Slide</a:t>
            </a:r>
          </a:p>
        </p:txBody>
      </p:sp>
      <p:cxnSp>
        <p:nvCxnSpPr>
          <p:cNvPr id="11" name="Elbow Connector 10">
            <a:extLst>
              <a:ext uri="{FF2B5EF4-FFF2-40B4-BE49-F238E27FC236}">
                <a16:creationId xmlns:a16="http://schemas.microsoft.com/office/drawing/2014/main" id="{968A5F02-EB43-6CFF-B659-AB513F06DBDB}"/>
              </a:ext>
            </a:extLst>
          </p:cNvPr>
          <p:cNvCxnSpPr>
            <a:stCxn id="6" idx="2"/>
            <a:endCxn id="7" idx="0"/>
          </p:cNvCxnSpPr>
          <p:nvPr/>
        </p:nvCxnSpPr>
        <p:spPr>
          <a:xfrm rot="5400000">
            <a:off x="2049711" y="2503260"/>
            <a:ext cx="320178" cy="1"/>
          </a:xfrm>
          <a:prstGeom prst="bentConnector3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3" name="Elbow Connector 12">
            <a:extLst>
              <a:ext uri="{FF2B5EF4-FFF2-40B4-BE49-F238E27FC236}">
                <a16:creationId xmlns:a16="http://schemas.microsoft.com/office/drawing/2014/main" id="{D2635AF7-4D63-451C-4C71-D66179727FD7}"/>
              </a:ext>
            </a:extLst>
          </p:cNvPr>
          <p:cNvCxnSpPr>
            <a:stCxn id="7" idx="2"/>
            <a:endCxn id="8" idx="0"/>
          </p:cNvCxnSpPr>
          <p:nvPr/>
        </p:nvCxnSpPr>
        <p:spPr>
          <a:xfrm rot="5400000">
            <a:off x="1929486" y="3850442"/>
            <a:ext cx="560626" cy="1"/>
          </a:xfrm>
          <a:prstGeom prst="bentConnector3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6" name="Elbow Connector 15">
            <a:extLst>
              <a:ext uri="{FF2B5EF4-FFF2-40B4-BE49-F238E27FC236}">
                <a16:creationId xmlns:a16="http://schemas.microsoft.com/office/drawing/2014/main" id="{47288E66-D05F-A024-6E8A-DADB24DD1360}"/>
              </a:ext>
            </a:extLst>
          </p:cNvPr>
          <p:cNvCxnSpPr>
            <a:stCxn id="8" idx="2"/>
            <a:endCxn id="9" idx="0"/>
          </p:cNvCxnSpPr>
          <p:nvPr/>
        </p:nvCxnSpPr>
        <p:spPr>
          <a:xfrm rot="16200000" flipH="1">
            <a:off x="1935835" y="5688627"/>
            <a:ext cx="547926" cy="1"/>
          </a:xfrm>
          <a:prstGeom prst="bentConnector3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7" name="Decision 16">
            <a:extLst>
              <a:ext uri="{FF2B5EF4-FFF2-40B4-BE49-F238E27FC236}">
                <a16:creationId xmlns:a16="http://schemas.microsoft.com/office/drawing/2014/main" id="{C15A3EB1-4C02-ED96-9A09-28654C6FCD2D}"/>
              </a:ext>
            </a:extLst>
          </p:cNvPr>
          <p:cNvSpPr/>
          <p:nvPr/>
        </p:nvSpPr>
        <p:spPr>
          <a:xfrm>
            <a:off x="4719204" y="4175232"/>
            <a:ext cx="2753591" cy="1194955"/>
          </a:xfrm>
          <a:prstGeom prst="flowChartDecision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>
            <a:normAutofit fontScale="85000" lnSpcReduction="10000"/>
          </a:bodyPr>
          <a:lstStyle/>
          <a:p>
            <a:pPr algn="ctr"/>
            <a:r>
              <a:rPr lang="en-US" dirty="0" err="1"/>
              <a:t>Voltage_name</a:t>
            </a:r>
            <a:r>
              <a:rPr lang="en-US" dirty="0"/>
              <a:t> == pin name?</a:t>
            </a:r>
          </a:p>
        </p:txBody>
      </p:sp>
      <p:sp>
        <p:nvSpPr>
          <p:cNvPr id="18" name="Terminator 17">
            <a:extLst>
              <a:ext uri="{FF2B5EF4-FFF2-40B4-BE49-F238E27FC236}">
                <a16:creationId xmlns:a16="http://schemas.microsoft.com/office/drawing/2014/main" id="{057374C4-42A2-D622-E103-08E0F76F24D3}"/>
              </a:ext>
            </a:extLst>
          </p:cNvPr>
          <p:cNvSpPr/>
          <p:nvPr/>
        </p:nvSpPr>
        <p:spPr>
          <a:xfrm>
            <a:off x="9550485" y="4325966"/>
            <a:ext cx="2504661" cy="893486"/>
          </a:xfrm>
          <a:prstGeom prst="flowChartTerminator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>
                <a:cs typeface="Times New Roman" panose="02020603050405020304" pitchFamily="18" charset="0"/>
              </a:rPr>
              <a:t>End</a:t>
            </a:r>
          </a:p>
        </p:txBody>
      </p:sp>
      <p:sp>
        <p:nvSpPr>
          <p:cNvPr id="20" name="Data 19">
            <a:extLst>
              <a:ext uri="{FF2B5EF4-FFF2-40B4-BE49-F238E27FC236}">
                <a16:creationId xmlns:a16="http://schemas.microsoft.com/office/drawing/2014/main" id="{E7D28187-FFC5-8757-AD20-65279326718A}"/>
              </a:ext>
            </a:extLst>
          </p:cNvPr>
          <p:cNvSpPr/>
          <p:nvPr/>
        </p:nvSpPr>
        <p:spPr>
          <a:xfrm>
            <a:off x="5288925" y="1826890"/>
            <a:ext cx="1614147" cy="1032561"/>
          </a:xfrm>
          <a:prstGeom prst="flowChartInputOutpu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Output Error;</a:t>
            </a:r>
          </a:p>
        </p:txBody>
      </p:sp>
      <p:cxnSp>
        <p:nvCxnSpPr>
          <p:cNvPr id="22" name="Elbow Connector 21">
            <a:extLst>
              <a:ext uri="{FF2B5EF4-FFF2-40B4-BE49-F238E27FC236}">
                <a16:creationId xmlns:a16="http://schemas.microsoft.com/office/drawing/2014/main" id="{3C0E4BDF-8374-A5F0-FA88-E0CDB2E88339}"/>
              </a:ext>
            </a:extLst>
          </p:cNvPr>
          <p:cNvCxnSpPr>
            <a:stCxn id="8" idx="3"/>
            <a:endCxn id="17" idx="1"/>
          </p:cNvCxnSpPr>
          <p:nvPr/>
        </p:nvCxnSpPr>
        <p:spPr>
          <a:xfrm>
            <a:off x="3348581" y="4772710"/>
            <a:ext cx="1370623" cy="12700"/>
          </a:xfrm>
          <a:prstGeom prst="bentConnector3">
            <a:avLst>
              <a:gd name="adj1" fmla="val -677"/>
            </a:avLst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4" name="Elbow Connector 23">
            <a:extLst>
              <a:ext uri="{FF2B5EF4-FFF2-40B4-BE49-F238E27FC236}">
                <a16:creationId xmlns:a16="http://schemas.microsoft.com/office/drawing/2014/main" id="{84216800-E029-D8F9-8DF7-5211F4D5D4FD}"/>
              </a:ext>
            </a:extLst>
          </p:cNvPr>
          <p:cNvCxnSpPr>
            <a:stCxn id="17" idx="0"/>
            <a:endCxn id="20" idx="4"/>
          </p:cNvCxnSpPr>
          <p:nvPr/>
        </p:nvCxnSpPr>
        <p:spPr>
          <a:xfrm rot="16200000" flipV="1">
            <a:off x="5438110" y="3517341"/>
            <a:ext cx="1315781" cy="1"/>
          </a:xfrm>
          <a:prstGeom prst="bentConnector3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6" name="Elbow Connector 25">
            <a:extLst>
              <a:ext uri="{FF2B5EF4-FFF2-40B4-BE49-F238E27FC236}">
                <a16:creationId xmlns:a16="http://schemas.microsoft.com/office/drawing/2014/main" id="{6C74AE07-19BE-3011-1077-76EB51C7402A}"/>
              </a:ext>
            </a:extLst>
          </p:cNvPr>
          <p:cNvCxnSpPr>
            <a:stCxn id="20" idx="5"/>
            <a:endCxn id="18" idx="0"/>
          </p:cNvCxnSpPr>
          <p:nvPr/>
        </p:nvCxnSpPr>
        <p:spPr>
          <a:xfrm>
            <a:off x="6741657" y="2343171"/>
            <a:ext cx="4061159" cy="1982795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8" name="Elbow Connector 27">
            <a:extLst>
              <a:ext uri="{FF2B5EF4-FFF2-40B4-BE49-F238E27FC236}">
                <a16:creationId xmlns:a16="http://schemas.microsoft.com/office/drawing/2014/main" id="{DB44AA9C-D5C7-0B53-AADE-13721562A2C3}"/>
              </a:ext>
            </a:extLst>
          </p:cNvPr>
          <p:cNvCxnSpPr>
            <a:endCxn id="18" idx="1"/>
          </p:cNvCxnSpPr>
          <p:nvPr/>
        </p:nvCxnSpPr>
        <p:spPr>
          <a:xfrm flipV="1">
            <a:off x="7472795" y="4772709"/>
            <a:ext cx="2077690" cy="12701"/>
          </a:xfrm>
          <a:prstGeom prst="bentConnector3">
            <a:avLst>
              <a:gd name="adj1" fmla="val -1204"/>
            </a:avLst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1" name="TextBox 30">
            <a:extLst>
              <a:ext uri="{FF2B5EF4-FFF2-40B4-BE49-F238E27FC236}">
                <a16:creationId xmlns:a16="http://schemas.microsoft.com/office/drawing/2014/main" id="{4C9C4C6E-79DF-B778-F312-3A4B3BCF5EDF}"/>
              </a:ext>
            </a:extLst>
          </p:cNvPr>
          <p:cNvSpPr txBox="1"/>
          <p:nvPr/>
        </p:nvSpPr>
        <p:spPr>
          <a:xfrm>
            <a:off x="5313906" y="3429000"/>
            <a:ext cx="83527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False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A1C08D84-BEAF-4023-2B7E-D538FDD2E0FD}"/>
              </a:ext>
            </a:extLst>
          </p:cNvPr>
          <p:cNvSpPr txBox="1"/>
          <p:nvPr/>
        </p:nvSpPr>
        <p:spPr>
          <a:xfrm>
            <a:off x="8002284" y="4386244"/>
            <a:ext cx="83527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True</a:t>
            </a:r>
          </a:p>
        </p:txBody>
      </p:sp>
    </p:spTree>
    <p:extLst>
      <p:ext uri="{BB962C8B-B14F-4D97-AF65-F5344CB8AC3E}">
        <p14:creationId xmlns:p14="http://schemas.microsoft.com/office/powerpoint/2010/main" val="221152989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78DE7E-49D2-5108-07CB-9151697E84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0070C0"/>
                </a:solidFill>
                <a:latin typeface="+mn-lt"/>
                <a:ea typeface="Cambria" panose="02040503050406030204" pitchFamily="18" charset="0"/>
              </a:rPr>
              <a:t>New Implementation Flowchart</a:t>
            </a:r>
            <a:endParaRPr lang="en-US" dirty="0">
              <a:latin typeface="+mn-lt"/>
            </a:endParaRP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DF699FD-0EA5-B5A6-D2AB-F5D543484F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612801-9325-4A1B-AAC6-5236E02DCD9A}" type="datetime1">
              <a:rPr lang="en-US" smtClean="0"/>
              <a:t>12/19/2025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FADB88B-2F51-F1C0-D8E1-6AE26181D3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/>
              <a:t>EE/CPE584 Intro to VLSI</a:t>
            </a:r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942EBD4-DA79-2032-3D06-9CAD9BCFD0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8A6112-8193-45F5-863E-CC8218595965}" type="slidenum">
              <a:rPr lang="en-US" smtClean="0"/>
              <a:t>25</a:t>
            </a:fld>
            <a:endParaRPr lang="en-US"/>
          </a:p>
        </p:txBody>
      </p:sp>
      <p:sp>
        <p:nvSpPr>
          <p:cNvPr id="6" name="Decision 5">
            <a:extLst>
              <a:ext uri="{FF2B5EF4-FFF2-40B4-BE49-F238E27FC236}">
                <a16:creationId xmlns:a16="http://schemas.microsoft.com/office/drawing/2014/main" id="{F3882021-22A6-7D5A-4DEF-C43C0CF12294}"/>
              </a:ext>
            </a:extLst>
          </p:cNvPr>
          <p:cNvSpPr/>
          <p:nvPr/>
        </p:nvSpPr>
        <p:spPr>
          <a:xfrm>
            <a:off x="838200" y="2145090"/>
            <a:ext cx="2277566" cy="1283910"/>
          </a:xfrm>
          <a:prstGeom prst="flowChartDecision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>
            <a:spAutoFit/>
          </a:bodyPr>
          <a:lstStyle/>
          <a:p>
            <a:pPr algn="ctr"/>
            <a:r>
              <a:rPr lang="en-US" dirty="0" err="1"/>
              <a:t>Related_Power</a:t>
            </a:r>
            <a:endParaRPr lang="en-US" dirty="0"/>
          </a:p>
        </p:txBody>
      </p:sp>
      <p:sp>
        <p:nvSpPr>
          <p:cNvPr id="7" name="Decision 6">
            <a:extLst>
              <a:ext uri="{FF2B5EF4-FFF2-40B4-BE49-F238E27FC236}">
                <a16:creationId xmlns:a16="http://schemas.microsoft.com/office/drawing/2014/main" id="{D21F904F-D030-8250-D5DD-13C12F2CA9C6}"/>
              </a:ext>
            </a:extLst>
          </p:cNvPr>
          <p:cNvSpPr/>
          <p:nvPr/>
        </p:nvSpPr>
        <p:spPr>
          <a:xfrm>
            <a:off x="831850" y="4025533"/>
            <a:ext cx="2277566" cy="1283910"/>
          </a:xfrm>
          <a:prstGeom prst="flowChartDecision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>
            <a:spAutoFit/>
          </a:bodyPr>
          <a:lstStyle/>
          <a:p>
            <a:pPr algn="ctr"/>
            <a:r>
              <a:rPr lang="en-US" dirty="0" err="1"/>
              <a:t>Related_Ground</a:t>
            </a:r>
            <a:endParaRPr 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BD8D534-E1A3-6253-408E-295B0325E345}"/>
              </a:ext>
            </a:extLst>
          </p:cNvPr>
          <p:cNvSpPr txBox="1"/>
          <p:nvPr/>
        </p:nvSpPr>
        <p:spPr>
          <a:xfrm>
            <a:off x="1192808" y="1548557"/>
            <a:ext cx="156834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Previous Slide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0A8D28F-976E-3015-6EB9-5A6662C4FF8E}"/>
              </a:ext>
            </a:extLst>
          </p:cNvPr>
          <p:cNvSpPr txBox="1"/>
          <p:nvPr/>
        </p:nvSpPr>
        <p:spPr>
          <a:xfrm>
            <a:off x="1382792" y="5987018"/>
            <a:ext cx="118838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Next Slide</a:t>
            </a:r>
          </a:p>
        </p:txBody>
      </p:sp>
      <p:cxnSp>
        <p:nvCxnSpPr>
          <p:cNvPr id="12" name="Elbow Connector 11">
            <a:extLst>
              <a:ext uri="{FF2B5EF4-FFF2-40B4-BE49-F238E27FC236}">
                <a16:creationId xmlns:a16="http://schemas.microsoft.com/office/drawing/2014/main" id="{246F9C4B-2C40-817A-F9D0-AA0C92964911}"/>
              </a:ext>
            </a:extLst>
          </p:cNvPr>
          <p:cNvCxnSpPr>
            <a:stCxn id="9" idx="2"/>
            <a:endCxn id="6" idx="0"/>
          </p:cNvCxnSpPr>
          <p:nvPr/>
        </p:nvCxnSpPr>
        <p:spPr>
          <a:xfrm rot="16200000" flipH="1">
            <a:off x="1863382" y="2031488"/>
            <a:ext cx="227201" cy="2"/>
          </a:xfrm>
          <a:prstGeom prst="bentConnector3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6" name="Elbow Connector 15">
            <a:extLst>
              <a:ext uri="{FF2B5EF4-FFF2-40B4-BE49-F238E27FC236}">
                <a16:creationId xmlns:a16="http://schemas.microsoft.com/office/drawing/2014/main" id="{E8FF105D-9030-009B-061B-3D45A30FEEEA}"/>
              </a:ext>
            </a:extLst>
          </p:cNvPr>
          <p:cNvCxnSpPr>
            <a:cxnSpLocks/>
            <a:stCxn id="6" idx="2"/>
            <a:endCxn id="7" idx="0"/>
          </p:cNvCxnSpPr>
          <p:nvPr/>
        </p:nvCxnSpPr>
        <p:spPr>
          <a:xfrm rot="5400000">
            <a:off x="1675542" y="3724091"/>
            <a:ext cx="596533" cy="6350"/>
          </a:xfrm>
          <a:prstGeom prst="bentConnector3">
            <a:avLst>
              <a:gd name="adj1" fmla="val -2257"/>
            </a:avLst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0" name="Elbow Connector 19">
            <a:extLst>
              <a:ext uri="{FF2B5EF4-FFF2-40B4-BE49-F238E27FC236}">
                <a16:creationId xmlns:a16="http://schemas.microsoft.com/office/drawing/2014/main" id="{F95A01A6-77CA-5E9C-7D43-40DD93F0393D}"/>
              </a:ext>
            </a:extLst>
          </p:cNvPr>
          <p:cNvCxnSpPr>
            <a:stCxn id="7" idx="2"/>
            <a:endCxn id="10" idx="0"/>
          </p:cNvCxnSpPr>
          <p:nvPr/>
        </p:nvCxnSpPr>
        <p:spPr>
          <a:xfrm rot="16200000" flipH="1">
            <a:off x="1635021" y="5645055"/>
            <a:ext cx="677575" cy="6350"/>
          </a:xfrm>
          <a:prstGeom prst="bentConnector3">
            <a:avLst>
              <a:gd name="adj1" fmla="val -607"/>
            </a:avLst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3" name="Decision 22">
            <a:extLst>
              <a:ext uri="{FF2B5EF4-FFF2-40B4-BE49-F238E27FC236}">
                <a16:creationId xmlns:a16="http://schemas.microsoft.com/office/drawing/2014/main" id="{F60EC363-8394-7B3F-4E99-4166F1BB7904}"/>
              </a:ext>
            </a:extLst>
          </p:cNvPr>
          <p:cNvSpPr/>
          <p:nvPr/>
        </p:nvSpPr>
        <p:spPr>
          <a:xfrm>
            <a:off x="3450714" y="2184685"/>
            <a:ext cx="2753591" cy="1194955"/>
          </a:xfrm>
          <a:prstGeom prst="flowChartDecision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>
            <a:normAutofit fontScale="77500" lnSpcReduction="20000"/>
          </a:bodyPr>
          <a:lstStyle/>
          <a:p>
            <a:pPr algn="ctr"/>
            <a:r>
              <a:rPr lang="en-US" dirty="0" err="1"/>
              <a:t>Related_Power</a:t>
            </a:r>
            <a:r>
              <a:rPr lang="en-US" dirty="0"/>
              <a:t> == </a:t>
            </a:r>
            <a:r>
              <a:rPr lang="en-US" dirty="0">
                <a:solidFill>
                  <a:schemeClr val="tx1"/>
                </a:solidFill>
                <a:ea typeface="Cambria" panose="02040503050406030204" pitchFamily="18" charset="0"/>
              </a:rPr>
              <a:t>VPWR || VPB</a:t>
            </a:r>
            <a:endParaRPr lang="en-US" dirty="0"/>
          </a:p>
        </p:txBody>
      </p:sp>
      <p:sp>
        <p:nvSpPr>
          <p:cNvPr id="24" name="Decision 23">
            <a:extLst>
              <a:ext uri="{FF2B5EF4-FFF2-40B4-BE49-F238E27FC236}">
                <a16:creationId xmlns:a16="http://schemas.microsoft.com/office/drawing/2014/main" id="{F0895438-25B7-A14C-6682-AC32ACFC1E52}"/>
              </a:ext>
            </a:extLst>
          </p:cNvPr>
          <p:cNvSpPr/>
          <p:nvPr/>
        </p:nvSpPr>
        <p:spPr>
          <a:xfrm>
            <a:off x="3450713" y="4069298"/>
            <a:ext cx="2753591" cy="1194955"/>
          </a:xfrm>
          <a:prstGeom prst="flowChartDecision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>
            <a:normAutofit fontScale="70000" lnSpcReduction="20000"/>
          </a:bodyPr>
          <a:lstStyle/>
          <a:p>
            <a:pPr algn="ctr"/>
            <a:r>
              <a:rPr lang="en-US" dirty="0" err="1"/>
              <a:t>Related_Ground</a:t>
            </a:r>
            <a:r>
              <a:rPr lang="en-US" dirty="0"/>
              <a:t> == </a:t>
            </a:r>
            <a:r>
              <a:rPr lang="en-US" dirty="0">
                <a:solidFill>
                  <a:schemeClr val="tx1"/>
                </a:solidFill>
                <a:ea typeface="Cambria" panose="02040503050406030204" pitchFamily="18" charset="0"/>
              </a:rPr>
              <a:t>VPWR || VPB</a:t>
            </a:r>
            <a:endParaRPr lang="en-US" dirty="0"/>
          </a:p>
        </p:txBody>
      </p:sp>
      <p:sp>
        <p:nvSpPr>
          <p:cNvPr id="25" name="Terminator 24">
            <a:extLst>
              <a:ext uri="{FF2B5EF4-FFF2-40B4-BE49-F238E27FC236}">
                <a16:creationId xmlns:a16="http://schemas.microsoft.com/office/drawing/2014/main" id="{BA66614E-A69D-1AD1-C347-2BA30AFF3C6E}"/>
              </a:ext>
            </a:extLst>
          </p:cNvPr>
          <p:cNvSpPr/>
          <p:nvPr/>
        </p:nvSpPr>
        <p:spPr>
          <a:xfrm>
            <a:off x="9340361" y="3280522"/>
            <a:ext cx="2504661" cy="893486"/>
          </a:xfrm>
          <a:prstGeom prst="flowChartTerminator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>
                <a:cs typeface="Times New Roman" panose="02020603050405020304" pitchFamily="18" charset="0"/>
              </a:rPr>
              <a:t>End</a:t>
            </a:r>
          </a:p>
        </p:txBody>
      </p:sp>
      <p:sp>
        <p:nvSpPr>
          <p:cNvPr id="26" name="Data 25">
            <a:extLst>
              <a:ext uri="{FF2B5EF4-FFF2-40B4-BE49-F238E27FC236}">
                <a16:creationId xmlns:a16="http://schemas.microsoft.com/office/drawing/2014/main" id="{4965BC65-3907-626F-149A-FD944F9907D5}"/>
              </a:ext>
            </a:extLst>
          </p:cNvPr>
          <p:cNvSpPr/>
          <p:nvPr/>
        </p:nvSpPr>
        <p:spPr>
          <a:xfrm>
            <a:off x="7008176" y="3210985"/>
            <a:ext cx="1614147" cy="1032561"/>
          </a:xfrm>
          <a:prstGeom prst="flowChartInputOutpu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Output Error;</a:t>
            </a:r>
          </a:p>
        </p:txBody>
      </p:sp>
      <p:cxnSp>
        <p:nvCxnSpPr>
          <p:cNvPr id="28" name="Elbow Connector 27">
            <a:extLst>
              <a:ext uri="{FF2B5EF4-FFF2-40B4-BE49-F238E27FC236}">
                <a16:creationId xmlns:a16="http://schemas.microsoft.com/office/drawing/2014/main" id="{CAF5F3B8-CDF3-2617-6FEC-7536A8AB24BC}"/>
              </a:ext>
            </a:extLst>
          </p:cNvPr>
          <p:cNvCxnSpPr>
            <a:stCxn id="6" idx="3"/>
            <a:endCxn id="23" idx="1"/>
          </p:cNvCxnSpPr>
          <p:nvPr/>
        </p:nvCxnSpPr>
        <p:spPr>
          <a:xfrm flipV="1">
            <a:off x="3115766" y="2782163"/>
            <a:ext cx="334948" cy="4882"/>
          </a:xfrm>
          <a:prstGeom prst="bentConnector3">
            <a:avLst>
              <a:gd name="adj1" fmla="val 2751"/>
            </a:avLst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1" name="Elbow Connector 30">
            <a:extLst>
              <a:ext uri="{FF2B5EF4-FFF2-40B4-BE49-F238E27FC236}">
                <a16:creationId xmlns:a16="http://schemas.microsoft.com/office/drawing/2014/main" id="{6B5B3434-C79D-2EE7-6F6F-B935EFB00CB5}"/>
              </a:ext>
            </a:extLst>
          </p:cNvPr>
          <p:cNvCxnSpPr>
            <a:stCxn id="7" idx="3"/>
            <a:endCxn id="24" idx="1"/>
          </p:cNvCxnSpPr>
          <p:nvPr/>
        </p:nvCxnSpPr>
        <p:spPr>
          <a:xfrm flipV="1">
            <a:off x="3109416" y="4666776"/>
            <a:ext cx="341297" cy="712"/>
          </a:xfrm>
          <a:prstGeom prst="bentConnector3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3" name="Elbow Connector 32">
            <a:extLst>
              <a:ext uri="{FF2B5EF4-FFF2-40B4-BE49-F238E27FC236}">
                <a16:creationId xmlns:a16="http://schemas.microsoft.com/office/drawing/2014/main" id="{BC7F89D8-B561-A6EE-A261-71D16B670304}"/>
              </a:ext>
            </a:extLst>
          </p:cNvPr>
          <p:cNvCxnSpPr>
            <a:cxnSpLocks/>
            <a:stCxn id="23" idx="3"/>
            <a:endCxn id="26" idx="1"/>
          </p:cNvCxnSpPr>
          <p:nvPr/>
        </p:nvCxnSpPr>
        <p:spPr>
          <a:xfrm>
            <a:off x="6204305" y="2782163"/>
            <a:ext cx="1610945" cy="428822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6" name="Elbow Connector 35">
            <a:extLst>
              <a:ext uri="{FF2B5EF4-FFF2-40B4-BE49-F238E27FC236}">
                <a16:creationId xmlns:a16="http://schemas.microsoft.com/office/drawing/2014/main" id="{529E33A2-6F03-5391-29D3-45D996924C72}"/>
              </a:ext>
            </a:extLst>
          </p:cNvPr>
          <p:cNvCxnSpPr>
            <a:endCxn id="26" idx="3"/>
          </p:cNvCxnSpPr>
          <p:nvPr/>
        </p:nvCxnSpPr>
        <p:spPr>
          <a:xfrm flipV="1">
            <a:off x="6204304" y="4243546"/>
            <a:ext cx="1449531" cy="423230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8" name="Elbow Connector 37">
            <a:extLst>
              <a:ext uri="{FF2B5EF4-FFF2-40B4-BE49-F238E27FC236}">
                <a16:creationId xmlns:a16="http://schemas.microsoft.com/office/drawing/2014/main" id="{96F06B92-3E9C-5DB7-AC28-AC37CD854ADE}"/>
              </a:ext>
            </a:extLst>
          </p:cNvPr>
          <p:cNvCxnSpPr>
            <a:stCxn id="23" idx="0"/>
            <a:endCxn id="25" idx="0"/>
          </p:cNvCxnSpPr>
          <p:nvPr/>
        </p:nvCxnSpPr>
        <p:spPr>
          <a:xfrm rot="16200000" flipH="1">
            <a:off x="7162182" y="-149988"/>
            <a:ext cx="1095837" cy="5765182"/>
          </a:xfrm>
          <a:prstGeom prst="bentConnector3">
            <a:avLst>
              <a:gd name="adj1" fmla="val -20861"/>
            </a:avLst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0" name="Elbow Connector 39">
            <a:extLst>
              <a:ext uri="{FF2B5EF4-FFF2-40B4-BE49-F238E27FC236}">
                <a16:creationId xmlns:a16="http://schemas.microsoft.com/office/drawing/2014/main" id="{9AC2262B-1859-EE19-F83C-85E3C79A4379}"/>
              </a:ext>
            </a:extLst>
          </p:cNvPr>
          <p:cNvCxnSpPr>
            <a:stCxn id="24" idx="2"/>
            <a:endCxn id="25" idx="2"/>
          </p:cNvCxnSpPr>
          <p:nvPr/>
        </p:nvCxnSpPr>
        <p:spPr>
          <a:xfrm rot="5400000" flipH="1" flipV="1">
            <a:off x="7164977" y="1836539"/>
            <a:ext cx="1090245" cy="5765183"/>
          </a:xfrm>
          <a:prstGeom prst="bentConnector3">
            <a:avLst>
              <a:gd name="adj1" fmla="val -20968"/>
            </a:avLst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41" name="TextBox 40">
            <a:extLst>
              <a:ext uri="{FF2B5EF4-FFF2-40B4-BE49-F238E27FC236}">
                <a16:creationId xmlns:a16="http://schemas.microsoft.com/office/drawing/2014/main" id="{B282119D-5DE3-0BE0-7047-8DEB5238365B}"/>
              </a:ext>
            </a:extLst>
          </p:cNvPr>
          <p:cNvSpPr txBox="1"/>
          <p:nvPr/>
        </p:nvSpPr>
        <p:spPr>
          <a:xfrm>
            <a:off x="6204304" y="2444469"/>
            <a:ext cx="83527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False</a:t>
            </a:r>
          </a:p>
        </p:txBody>
      </p:sp>
      <p:cxnSp>
        <p:nvCxnSpPr>
          <p:cNvPr id="43" name="Elbow Connector 42">
            <a:extLst>
              <a:ext uri="{FF2B5EF4-FFF2-40B4-BE49-F238E27FC236}">
                <a16:creationId xmlns:a16="http://schemas.microsoft.com/office/drawing/2014/main" id="{FC0EC8A4-CF35-2DE6-60CE-9D52212A3B08}"/>
              </a:ext>
            </a:extLst>
          </p:cNvPr>
          <p:cNvCxnSpPr>
            <a:stCxn id="26" idx="5"/>
            <a:endCxn id="25" idx="1"/>
          </p:cNvCxnSpPr>
          <p:nvPr/>
        </p:nvCxnSpPr>
        <p:spPr>
          <a:xfrm flipV="1">
            <a:off x="8460908" y="3727265"/>
            <a:ext cx="879453" cy="1"/>
          </a:xfrm>
          <a:prstGeom prst="bentConnector3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47" name="TextBox 46">
            <a:extLst>
              <a:ext uri="{FF2B5EF4-FFF2-40B4-BE49-F238E27FC236}">
                <a16:creationId xmlns:a16="http://schemas.microsoft.com/office/drawing/2014/main" id="{E8F1A42A-E77A-E9A7-E8EF-D19AE6D96012}"/>
              </a:ext>
            </a:extLst>
          </p:cNvPr>
          <p:cNvSpPr txBox="1"/>
          <p:nvPr/>
        </p:nvSpPr>
        <p:spPr>
          <a:xfrm>
            <a:off x="6188605" y="4348256"/>
            <a:ext cx="83527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False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927F8D70-C026-4CAE-39E1-FBBFEF728DE3}"/>
              </a:ext>
            </a:extLst>
          </p:cNvPr>
          <p:cNvSpPr txBox="1"/>
          <p:nvPr/>
        </p:nvSpPr>
        <p:spPr>
          <a:xfrm>
            <a:off x="5228492" y="5526329"/>
            <a:ext cx="83527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True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72FB4A02-CF50-BD8F-19DB-6670DFE1E179}"/>
              </a:ext>
            </a:extLst>
          </p:cNvPr>
          <p:cNvSpPr txBox="1"/>
          <p:nvPr/>
        </p:nvSpPr>
        <p:spPr>
          <a:xfrm>
            <a:off x="5228492" y="1629574"/>
            <a:ext cx="83527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True</a:t>
            </a:r>
          </a:p>
        </p:txBody>
      </p:sp>
    </p:spTree>
    <p:extLst>
      <p:ext uri="{BB962C8B-B14F-4D97-AF65-F5344CB8AC3E}">
        <p14:creationId xmlns:p14="http://schemas.microsoft.com/office/powerpoint/2010/main" val="26740415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A09BF7-BCDE-8EE1-2247-A870984536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2A16B9-9FBC-A77A-6BF8-3888768037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0070C0"/>
                </a:solidFill>
                <a:latin typeface="+mn-lt"/>
                <a:ea typeface="Cambria" panose="02040503050406030204" pitchFamily="18" charset="0"/>
              </a:rPr>
              <a:t>New Implementation Flowchart</a:t>
            </a:r>
            <a:endParaRPr lang="en-US" dirty="0">
              <a:latin typeface="+mn-lt"/>
            </a:endParaRP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CDA10CD-EB61-1204-9CF6-EBAF7BA654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612801-9325-4A1B-AAC6-5236E02DCD9A}" type="datetime1">
              <a:rPr lang="en-US" smtClean="0"/>
              <a:t>12/19/2025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BB75383-81EB-7299-9E8A-CD85ACECAE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/>
              <a:t>EE/CPE584 Intro to VLSI</a:t>
            </a:r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1DBE545-DA6A-B403-8250-8B2D082364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8A6112-8193-45F5-863E-CC8218595965}" type="slidenum">
              <a:rPr lang="en-US" smtClean="0"/>
              <a:t>26</a:t>
            </a:fld>
            <a:endParaRPr lang="en-US"/>
          </a:p>
        </p:txBody>
      </p:sp>
      <p:sp>
        <p:nvSpPr>
          <p:cNvPr id="6" name="Decision 5">
            <a:extLst>
              <a:ext uri="{FF2B5EF4-FFF2-40B4-BE49-F238E27FC236}">
                <a16:creationId xmlns:a16="http://schemas.microsoft.com/office/drawing/2014/main" id="{A5F2762C-5B8C-4427-7A33-902A5B310DCA}"/>
              </a:ext>
            </a:extLst>
          </p:cNvPr>
          <p:cNvSpPr/>
          <p:nvPr/>
        </p:nvSpPr>
        <p:spPr>
          <a:xfrm>
            <a:off x="838200" y="3062168"/>
            <a:ext cx="2277566" cy="733663"/>
          </a:xfrm>
          <a:prstGeom prst="flowChartDecision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>
            <a:spAutoFit/>
          </a:bodyPr>
          <a:lstStyle/>
          <a:p>
            <a:pPr algn="ctr"/>
            <a:r>
              <a:rPr lang="en-US" dirty="0"/>
              <a:t>Direction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D9FF10E-095A-437D-7C33-1DE372D448AD}"/>
              </a:ext>
            </a:extLst>
          </p:cNvPr>
          <p:cNvSpPr txBox="1"/>
          <p:nvPr/>
        </p:nvSpPr>
        <p:spPr>
          <a:xfrm>
            <a:off x="1192810" y="1506022"/>
            <a:ext cx="156834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Previous Slide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159CEC0-8B8B-3172-77E0-DB29F97B4AFA}"/>
              </a:ext>
            </a:extLst>
          </p:cNvPr>
          <p:cNvSpPr txBox="1"/>
          <p:nvPr/>
        </p:nvSpPr>
        <p:spPr>
          <a:xfrm>
            <a:off x="1382791" y="5987018"/>
            <a:ext cx="118838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Next Slide</a:t>
            </a:r>
          </a:p>
        </p:txBody>
      </p:sp>
      <p:cxnSp>
        <p:nvCxnSpPr>
          <p:cNvPr id="10" name="Elbow Connector 9">
            <a:extLst>
              <a:ext uri="{FF2B5EF4-FFF2-40B4-BE49-F238E27FC236}">
                <a16:creationId xmlns:a16="http://schemas.microsoft.com/office/drawing/2014/main" id="{4B3893C8-0F6D-0AD4-EA28-18AF4F53B2E8}"/>
              </a:ext>
            </a:extLst>
          </p:cNvPr>
          <p:cNvCxnSpPr>
            <a:stCxn id="7" idx="2"/>
            <a:endCxn id="6" idx="0"/>
          </p:cNvCxnSpPr>
          <p:nvPr/>
        </p:nvCxnSpPr>
        <p:spPr>
          <a:xfrm rot="5400000">
            <a:off x="1383576" y="2468761"/>
            <a:ext cx="1186814" cy="12700"/>
          </a:xfrm>
          <a:prstGeom prst="bentConnector3">
            <a:avLst>
              <a:gd name="adj1" fmla="val -781"/>
            </a:avLst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3" name="Elbow Connector 12">
            <a:extLst>
              <a:ext uri="{FF2B5EF4-FFF2-40B4-BE49-F238E27FC236}">
                <a16:creationId xmlns:a16="http://schemas.microsoft.com/office/drawing/2014/main" id="{F1B2EEAA-56F4-E39B-D818-F440CBF86B9F}"/>
              </a:ext>
            </a:extLst>
          </p:cNvPr>
          <p:cNvCxnSpPr>
            <a:stCxn id="6" idx="2"/>
            <a:endCxn id="8" idx="0"/>
          </p:cNvCxnSpPr>
          <p:nvPr/>
        </p:nvCxnSpPr>
        <p:spPr>
          <a:xfrm rot="5400000">
            <a:off x="881390" y="4891424"/>
            <a:ext cx="2191187" cy="1"/>
          </a:xfrm>
          <a:prstGeom prst="bentConnector3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6" name="Decision 15">
            <a:extLst>
              <a:ext uri="{FF2B5EF4-FFF2-40B4-BE49-F238E27FC236}">
                <a16:creationId xmlns:a16="http://schemas.microsoft.com/office/drawing/2014/main" id="{4984BDB9-5E8A-F588-4DE3-BA4FC147E8B9}"/>
              </a:ext>
            </a:extLst>
          </p:cNvPr>
          <p:cNvSpPr/>
          <p:nvPr/>
        </p:nvSpPr>
        <p:spPr>
          <a:xfrm>
            <a:off x="4532168" y="2828563"/>
            <a:ext cx="2753591" cy="1194955"/>
          </a:xfrm>
          <a:prstGeom prst="flowChartDecision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>
            <a:normAutofit fontScale="70000" lnSpcReduction="20000"/>
          </a:bodyPr>
          <a:lstStyle/>
          <a:p>
            <a:pPr algn="ctr"/>
            <a:r>
              <a:rPr lang="en-US" dirty="0" err="1"/>
              <a:t>Lef_Direction</a:t>
            </a:r>
            <a:r>
              <a:rPr lang="en-US" dirty="0"/>
              <a:t> == </a:t>
            </a:r>
            <a:r>
              <a:rPr lang="en-US" dirty="0" err="1"/>
              <a:t>Lib_Direction</a:t>
            </a:r>
            <a:endParaRPr lang="en-US" dirty="0"/>
          </a:p>
        </p:txBody>
      </p:sp>
      <p:sp>
        <p:nvSpPr>
          <p:cNvPr id="17" name="Terminator 16">
            <a:extLst>
              <a:ext uri="{FF2B5EF4-FFF2-40B4-BE49-F238E27FC236}">
                <a16:creationId xmlns:a16="http://schemas.microsoft.com/office/drawing/2014/main" id="{C9006165-AE36-8D95-B12F-86598C66AEC1}"/>
              </a:ext>
            </a:extLst>
          </p:cNvPr>
          <p:cNvSpPr/>
          <p:nvPr/>
        </p:nvSpPr>
        <p:spPr>
          <a:xfrm>
            <a:off x="9481039" y="2979297"/>
            <a:ext cx="2504661" cy="893486"/>
          </a:xfrm>
          <a:prstGeom prst="flowChartTerminator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>
                <a:cs typeface="Times New Roman" panose="02020603050405020304" pitchFamily="18" charset="0"/>
              </a:rPr>
              <a:t>End</a:t>
            </a:r>
          </a:p>
        </p:txBody>
      </p:sp>
      <p:sp>
        <p:nvSpPr>
          <p:cNvPr id="18" name="Data 17">
            <a:extLst>
              <a:ext uri="{FF2B5EF4-FFF2-40B4-BE49-F238E27FC236}">
                <a16:creationId xmlns:a16="http://schemas.microsoft.com/office/drawing/2014/main" id="{6E38B25F-D66F-6C68-E97E-4D5B8929FE4F}"/>
              </a:ext>
            </a:extLst>
          </p:cNvPr>
          <p:cNvSpPr/>
          <p:nvPr/>
        </p:nvSpPr>
        <p:spPr>
          <a:xfrm>
            <a:off x="5101889" y="5139123"/>
            <a:ext cx="1614147" cy="1032561"/>
          </a:xfrm>
          <a:prstGeom prst="flowChartInputOutpu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Output Error;</a:t>
            </a:r>
          </a:p>
        </p:txBody>
      </p:sp>
      <p:cxnSp>
        <p:nvCxnSpPr>
          <p:cNvPr id="20" name="Elbow Connector 19">
            <a:extLst>
              <a:ext uri="{FF2B5EF4-FFF2-40B4-BE49-F238E27FC236}">
                <a16:creationId xmlns:a16="http://schemas.microsoft.com/office/drawing/2014/main" id="{1E574FED-CE2F-4B5F-8AF5-6ED255E13CAF}"/>
              </a:ext>
            </a:extLst>
          </p:cNvPr>
          <p:cNvCxnSpPr>
            <a:stCxn id="6" idx="3"/>
            <a:endCxn id="16" idx="1"/>
          </p:cNvCxnSpPr>
          <p:nvPr/>
        </p:nvCxnSpPr>
        <p:spPr>
          <a:xfrm flipV="1">
            <a:off x="3115766" y="3426041"/>
            <a:ext cx="1416402" cy="2959"/>
          </a:xfrm>
          <a:prstGeom prst="bentConnector3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2" name="Elbow Connector 21">
            <a:extLst>
              <a:ext uri="{FF2B5EF4-FFF2-40B4-BE49-F238E27FC236}">
                <a16:creationId xmlns:a16="http://schemas.microsoft.com/office/drawing/2014/main" id="{9E92D27E-1FA7-F8A7-5F1A-2A9E8679C8C7}"/>
              </a:ext>
            </a:extLst>
          </p:cNvPr>
          <p:cNvCxnSpPr>
            <a:stCxn id="16" idx="2"/>
            <a:endCxn id="18" idx="1"/>
          </p:cNvCxnSpPr>
          <p:nvPr/>
        </p:nvCxnSpPr>
        <p:spPr>
          <a:xfrm rot="5400000">
            <a:off x="5351162" y="4581320"/>
            <a:ext cx="1115605" cy="1"/>
          </a:xfrm>
          <a:prstGeom prst="bentConnector3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4" name="Elbow Connector 23">
            <a:extLst>
              <a:ext uri="{FF2B5EF4-FFF2-40B4-BE49-F238E27FC236}">
                <a16:creationId xmlns:a16="http://schemas.microsoft.com/office/drawing/2014/main" id="{4AB22CAC-28FA-844F-5931-BDBE2E78F0B2}"/>
              </a:ext>
            </a:extLst>
          </p:cNvPr>
          <p:cNvCxnSpPr>
            <a:endCxn id="17" idx="2"/>
          </p:cNvCxnSpPr>
          <p:nvPr/>
        </p:nvCxnSpPr>
        <p:spPr>
          <a:xfrm flipV="1">
            <a:off x="6594231" y="3872783"/>
            <a:ext cx="4139139" cy="1824632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8" name="Elbow Connector 27">
            <a:extLst>
              <a:ext uri="{FF2B5EF4-FFF2-40B4-BE49-F238E27FC236}">
                <a16:creationId xmlns:a16="http://schemas.microsoft.com/office/drawing/2014/main" id="{88EDDF0C-9FAD-337D-1150-313B0216DAE0}"/>
              </a:ext>
            </a:extLst>
          </p:cNvPr>
          <p:cNvCxnSpPr>
            <a:stCxn id="16" idx="0"/>
            <a:endCxn id="17" idx="0"/>
          </p:cNvCxnSpPr>
          <p:nvPr/>
        </p:nvCxnSpPr>
        <p:spPr>
          <a:xfrm rot="16200000" flipH="1">
            <a:off x="8245800" y="491727"/>
            <a:ext cx="150734" cy="4824406"/>
          </a:xfrm>
          <a:prstGeom prst="bentConnector3">
            <a:avLst>
              <a:gd name="adj1" fmla="val -729124"/>
            </a:avLst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0" name="TextBox 29">
            <a:extLst>
              <a:ext uri="{FF2B5EF4-FFF2-40B4-BE49-F238E27FC236}">
                <a16:creationId xmlns:a16="http://schemas.microsoft.com/office/drawing/2014/main" id="{B8ADA9F8-DF63-0D33-643A-B17492287D6E}"/>
              </a:ext>
            </a:extLst>
          </p:cNvPr>
          <p:cNvSpPr txBox="1"/>
          <p:nvPr/>
        </p:nvSpPr>
        <p:spPr>
          <a:xfrm>
            <a:off x="5880766" y="4138382"/>
            <a:ext cx="83527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False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77C6F471-C2EB-A33B-B4E7-18D1383813DC}"/>
              </a:ext>
            </a:extLst>
          </p:cNvPr>
          <p:cNvSpPr txBox="1"/>
          <p:nvPr/>
        </p:nvSpPr>
        <p:spPr>
          <a:xfrm>
            <a:off x="5880766" y="2105779"/>
            <a:ext cx="83527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True</a:t>
            </a:r>
          </a:p>
        </p:txBody>
      </p:sp>
    </p:spTree>
    <p:extLst>
      <p:ext uri="{BB962C8B-B14F-4D97-AF65-F5344CB8AC3E}">
        <p14:creationId xmlns:p14="http://schemas.microsoft.com/office/powerpoint/2010/main" val="130444845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FF500E-A7D8-F0C0-7426-61D4288BC4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41A721-FAE6-FF91-1F35-0E7F403262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0070C0"/>
                </a:solidFill>
                <a:latin typeface="+mn-lt"/>
                <a:ea typeface="Cambria" panose="02040503050406030204" pitchFamily="18" charset="0"/>
              </a:rPr>
              <a:t>New Implementation Flowchart</a:t>
            </a:r>
            <a:endParaRPr lang="en-US" dirty="0">
              <a:latin typeface="+mn-lt"/>
            </a:endParaRP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AA84E18-0785-CBB4-37E9-EB444189DE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612801-9325-4A1B-AAC6-5236E02DCD9A}" type="datetime1">
              <a:rPr lang="en-US" smtClean="0"/>
              <a:t>12/19/2025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E19C499-6F0C-E717-C9C5-7E0A91111D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/>
              <a:t>EE/CPE584 Intro to VLSI</a:t>
            </a:r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A5A9B4E-8FE9-5141-4693-D84ABA3A09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8A6112-8193-45F5-863E-CC8218595965}" type="slidenum">
              <a:rPr lang="en-US" smtClean="0"/>
              <a:t>27</a:t>
            </a:fld>
            <a:endParaRPr lang="en-US"/>
          </a:p>
        </p:txBody>
      </p:sp>
      <p:sp>
        <p:nvSpPr>
          <p:cNvPr id="6" name="Decision 5">
            <a:extLst>
              <a:ext uri="{FF2B5EF4-FFF2-40B4-BE49-F238E27FC236}">
                <a16:creationId xmlns:a16="http://schemas.microsoft.com/office/drawing/2014/main" id="{00D948AC-B022-5159-1417-4C8AFE996A82}"/>
              </a:ext>
            </a:extLst>
          </p:cNvPr>
          <p:cNvSpPr/>
          <p:nvPr/>
        </p:nvSpPr>
        <p:spPr>
          <a:xfrm>
            <a:off x="838200" y="3062168"/>
            <a:ext cx="2277566" cy="733663"/>
          </a:xfrm>
          <a:prstGeom prst="flowChartDecision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>
            <a:spAutoFit/>
          </a:bodyPr>
          <a:lstStyle/>
          <a:p>
            <a:pPr algn="ctr"/>
            <a:r>
              <a:rPr lang="en-US" dirty="0"/>
              <a:t>Clock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53FB49F-1CBC-9FEA-B396-D5C01D427060}"/>
              </a:ext>
            </a:extLst>
          </p:cNvPr>
          <p:cNvSpPr txBox="1"/>
          <p:nvPr/>
        </p:nvSpPr>
        <p:spPr>
          <a:xfrm>
            <a:off x="1192810" y="1548557"/>
            <a:ext cx="156834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Previous Slide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940072E-B19F-8B80-B57A-00F6295177F7}"/>
              </a:ext>
            </a:extLst>
          </p:cNvPr>
          <p:cNvSpPr txBox="1"/>
          <p:nvPr/>
        </p:nvSpPr>
        <p:spPr>
          <a:xfrm>
            <a:off x="1382791" y="5810372"/>
            <a:ext cx="118838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Next Slide</a:t>
            </a:r>
          </a:p>
        </p:txBody>
      </p:sp>
      <p:cxnSp>
        <p:nvCxnSpPr>
          <p:cNvPr id="10" name="Elbow Connector 9">
            <a:extLst>
              <a:ext uri="{FF2B5EF4-FFF2-40B4-BE49-F238E27FC236}">
                <a16:creationId xmlns:a16="http://schemas.microsoft.com/office/drawing/2014/main" id="{30924C04-E1C8-A30C-D6D0-1EF8BF735BF2}"/>
              </a:ext>
            </a:extLst>
          </p:cNvPr>
          <p:cNvCxnSpPr>
            <a:cxnSpLocks/>
            <a:stCxn id="7" idx="2"/>
            <a:endCxn id="6" idx="0"/>
          </p:cNvCxnSpPr>
          <p:nvPr/>
        </p:nvCxnSpPr>
        <p:spPr>
          <a:xfrm rot="5400000">
            <a:off x="1404844" y="2490028"/>
            <a:ext cx="1144279" cy="12700"/>
          </a:xfrm>
          <a:prstGeom prst="bentConnector3">
            <a:avLst>
              <a:gd name="adj1" fmla="val -852"/>
            </a:avLst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4" name="Elbow Connector 13">
            <a:extLst>
              <a:ext uri="{FF2B5EF4-FFF2-40B4-BE49-F238E27FC236}">
                <a16:creationId xmlns:a16="http://schemas.microsoft.com/office/drawing/2014/main" id="{13ED1B86-B95D-7400-6F74-2929946B2CAB}"/>
              </a:ext>
            </a:extLst>
          </p:cNvPr>
          <p:cNvCxnSpPr>
            <a:stCxn id="6" idx="2"/>
            <a:endCxn id="8" idx="0"/>
          </p:cNvCxnSpPr>
          <p:nvPr/>
        </p:nvCxnSpPr>
        <p:spPr>
          <a:xfrm rot="5400000">
            <a:off x="969713" y="4803101"/>
            <a:ext cx="2014541" cy="1"/>
          </a:xfrm>
          <a:prstGeom prst="bentConnector3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7" name="Decision 16">
            <a:extLst>
              <a:ext uri="{FF2B5EF4-FFF2-40B4-BE49-F238E27FC236}">
                <a16:creationId xmlns:a16="http://schemas.microsoft.com/office/drawing/2014/main" id="{F520AB6D-9019-E02A-29F1-8A62EC8FA4CE}"/>
              </a:ext>
            </a:extLst>
          </p:cNvPr>
          <p:cNvSpPr/>
          <p:nvPr/>
        </p:nvSpPr>
        <p:spPr>
          <a:xfrm>
            <a:off x="3798277" y="1690688"/>
            <a:ext cx="2730499" cy="800097"/>
          </a:xfrm>
          <a:prstGeom prst="flowChartDecision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>
            <a:normAutofit fontScale="55000" lnSpcReduction="20000"/>
          </a:bodyPr>
          <a:lstStyle/>
          <a:p>
            <a:pPr algn="ctr"/>
            <a:r>
              <a:rPr lang="en-US" dirty="0"/>
              <a:t>LEF_USE == CLOCK;</a:t>
            </a:r>
          </a:p>
          <a:p>
            <a:pPr algn="ctr"/>
            <a:r>
              <a:rPr lang="en-US" dirty="0"/>
              <a:t>LIB_CLOCK == TRUE;</a:t>
            </a:r>
          </a:p>
        </p:txBody>
      </p:sp>
      <p:sp>
        <p:nvSpPr>
          <p:cNvPr id="19" name="Decision 18">
            <a:extLst>
              <a:ext uri="{FF2B5EF4-FFF2-40B4-BE49-F238E27FC236}">
                <a16:creationId xmlns:a16="http://schemas.microsoft.com/office/drawing/2014/main" id="{81059B8C-0673-E4D9-9ED8-87DAB438FAC2}"/>
              </a:ext>
            </a:extLst>
          </p:cNvPr>
          <p:cNvSpPr/>
          <p:nvPr/>
        </p:nvSpPr>
        <p:spPr>
          <a:xfrm>
            <a:off x="3827585" y="2823373"/>
            <a:ext cx="2730499" cy="800097"/>
          </a:xfrm>
          <a:prstGeom prst="flowChartDecision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>
            <a:normAutofit fontScale="47500" lnSpcReduction="20000"/>
          </a:bodyPr>
          <a:lstStyle/>
          <a:p>
            <a:pPr algn="ctr"/>
            <a:r>
              <a:rPr lang="en-US" dirty="0"/>
              <a:t>LEF_USE != CLOCK;</a:t>
            </a:r>
          </a:p>
          <a:p>
            <a:pPr algn="ctr"/>
            <a:r>
              <a:rPr lang="en-US" dirty="0"/>
              <a:t>LIB_CLOCK == FALSE;</a:t>
            </a:r>
          </a:p>
        </p:txBody>
      </p:sp>
      <p:sp>
        <p:nvSpPr>
          <p:cNvPr id="20" name="Decision 19">
            <a:extLst>
              <a:ext uri="{FF2B5EF4-FFF2-40B4-BE49-F238E27FC236}">
                <a16:creationId xmlns:a16="http://schemas.microsoft.com/office/drawing/2014/main" id="{8321D9F4-928C-5162-342E-6002F2FA1763}"/>
              </a:ext>
            </a:extLst>
          </p:cNvPr>
          <p:cNvSpPr/>
          <p:nvPr/>
        </p:nvSpPr>
        <p:spPr>
          <a:xfrm>
            <a:off x="3827585" y="3956058"/>
            <a:ext cx="2730499" cy="800097"/>
          </a:xfrm>
          <a:prstGeom prst="flowChartDecision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>
            <a:normAutofit fontScale="55000" lnSpcReduction="20000"/>
          </a:bodyPr>
          <a:lstStyle/>
          <a:p>
            <a:pPr algn="ctr"/>
            <a:r>
              <a:rPr lang="en-US" dirty="0"/>
              <a:t>LEF_USE != CLOCK;</a:t>
            </a:r>
          </a:p>
          <a:p>
            <a:pPr algn="ctr"/>
            <a:r>
              <a:rPr lang="en-US" dirty="0"/>
              <a:t>LIB_CLOCK == TRUE;</a:t>
            </a:r>
          </a:p>
        </p:txBody>
      </p:sp>
      <p:sp>
        <p:nvSpPr>
          <p:cNvPr id="21" name="Decision 20">
            <a:extLst>
              <a:ext uri="{FF2B5EF4-FFF2-40B4-BE49-F238E27FC236}">
                <a16:creationId xmlns:a16="http://schemas.microsoft.com/office/drawing/2014/main" id="{60F257C1-3033-2FC4-9C18-B527D13CA73E}"/>
              </a:ext>
            </a:extLst>
          </p:cNvPr>
          <p:cNvSpPr/>
          <p:nvPr/>
        </p:nvSpPr>
        <p:spPr>
          <a:xfrm>
            <a:off x="3827585" y="5156204"/>
            <a:ext cx="2730499" cy="800097"/>
          </a:xfrm>
          <a:prstGeom prst="flowChartDecision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>
            <a:normAutofit fontScale="55000" lnSpcReduction="20000"/>
          </a:bodyPr>
          <a:lstStyle/>
          <a:p>
            <a:pPr algn="ctr"/>
            <a:r>
              <a:rPr lang="en-US" dirty="0"/>
              <a:t>LEF_USE == CLOCK;</a:t>
            </a:r>
          </a:p>
          <a:p>
            <a:pPr algn="ctr"/>
            <a:r>
              <a:rPr lang="en-US" dirty="0"/>
              <a:t>LIB_CLOCK != TRUE;</a:t>
            </a:r>
          </a:p>
        </p:txBody>
      </p:sp>
      <p:sp>
        <p:nvSpPr>
          <p:cNvPr id="22" name="Data 21">
            <a:extLst>
              <a:ext uri="{FF2B5EF4-FFF2-40B4-BE49-F238E27FC236}">
                <a16:creationId xmlns:a16="http://schemas.microsoft.com/office/drawing/2014/main" id="{500BB10E-3D6B-19AE-929E-BE68B41C425A}"/>
              </a:ext>
            </a:extLst>
          </p:cNvPr>
          <p:cNvSpPr/>
          <p:nvPr/>
        </p:nvSpPr>
        <p:spPr>
          <a:xfrm>
            <a:off x="8121162" y="4523691"/>
            <a:ext cx="1614147" cy="1032561"/>
          </a:xfrm>
          <a:prstGeom prst="flowChartInputOutpu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Output Error;</a:t>
            </a:r>
          </a:p>
        </p:txBody>
      </p:sp>
      <p:sp>
        <p:nvSpPr>
          <p:cNvPr id="23" name="Terminator 22">
            <a:extLst>
              <a:ext uri="{FF2B5EF4-FFF2-40B4-BE49-F238E27FC236}">
                <a16:creationId xmlns:a16="http://schemas.microsoft.com/office/drawing/2014/main" id="{DD4240B9-DA59-C429-3445-257BDB089F61}"/>
              </a:ext>
            </a:extLst>
          </p:cNvPr>
          <p:cNvSpPr/>
          <p:nvPr/>
        </p:nvSpPr>
        <p:spPr>
          <a:xfrm>
            <a:off x="9556572" y="2982256"/>
            <a:ext cx="2504661" cy="893486"/>
          </a:xfrm>
          <a:prstGeom prst="flowChartTerminator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>
                <a:cs typeface="Times New Roman" panose="02020603050405020304" pitchFamily="18" charset="0"/>
              </a:rPr>
              <a:t>End</a:t>
            </a:r>
          </a:p>
        </p:txBody>
      </p:sp>
      <p:cxnSp>
        <p:nvCxnSpPr>
          <p:cNvPr id="25" name="Elbow Connector 24">
            <a:extLst>
              <a:ext uri="{FF2B5EF4-FFF2-40B4-BE49-F238E27FC236}">
                <a16:creationId xmlns:a16="http://schemas.microsoft.com/office/drawing/2014/main" id="{C42A4655-EAED-8024-3903-8F15CE4A29F1}"/>
              </a:ext>
            </a:extLst>
          </p:cNvPr>
          <p:cNvCxnSpPr>
            <a:stCxn id="22" idx="5"/>
            <a:endCxn id="23" idx="2"/>
          </p:cNvCxnSpPr>
          <p:nvPr/>
        </p:nvCxnSpPr>
        <p:spPr>
          <a:xfrm flipV="1">
            <a:off x="9573894" y="3875742"/>
            <a:ext cx="1235009" cy="1164230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7" name="Elbow Connector 26">
            <a:extLst>
              <a:ext uri="{FF2B5EF4-FFF2-40B4-BE49-F238E27FC236}">
                <a16:creationId xmlns:a16="http://schemas.microsoft.com/office/drawing/2014/main" id="{C0309B4F-61FC-020E-A1FC-38ED37D8FE12}"/>
              </a:ext>
            </a:extLst>
          </p:cNvPr>
          <p:cNvCxnSpPr>
            <a:stCxn id="20" idx="3"/>
            <a:endCxn id="22" idx="2"/>
          </p:cNvCxnSpPr>
          <p:nvPr/>
        </p:nvCxnSpPr>
        <p:spPr>
          <a:xfrm>
            <a:off x="6558084" y="4356107"/>
            <a:ext cx="1724493" cy="683865"/>
          </a:xfrm>
          <a:prstGeom prst="bentConnector3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9" name="Elbow Connector 28">
            <a:extLst>
              <a:ext uri="{FF2B5EF4-FFF2-40B4-BE49-F238E27FC236}">
                <a16:creationId xmlns:a16="http://schemas.microsoft.com/office/drawing/2014/main" id="{B4920714-2E5E-12A1-8990-9AB7C2FD7E0E}"/>
              </a:ext>
            </a:extLst>
          </p:cNvPr>
          <p:cNvCxnSpPr>
            <a:stCxn id="21" idx="3"/>
            <a:endCxn id="22" idx="2"/>
          </p:cNvCxnSpPr>
          <p:nvPr/>
        </p:nvCxnSpPr>
        <p:spPr>
          <a:xfrm flipV="1">
            <a:off x="6558084" y="5039972"/>
            <a:ext cx="1724493" cy="516281"/>
          </a:xfrm>
          <a:prstGeom prst="bentConnector3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1" name="Elbow Connector 30">
            <a:extLst>
              <a:ext uri="{FF2B5EF4-FFF2-40B4-BE49-F238E27FC236}">
                <a16:creationId xmlns:a16="http://schemas.microsoft.com/office/drawing/2014/main" id="{B71B1ACC-3827-8AA7-E0D0-3342B52A517B}"/>
              </a:ext>
            </a:extLst>
          </p:cNvPr>
          <p:cNvCxnSpPr>
            <a:stCxn id="6" idx="3"/>
            <a:endCxn id="21" idx="1"/>
          </p:cNvCxnSpPr>
          <p:nvPr/>
        </p:nvCxnSpPr>
        <p:spPr>
          <a:xfrm>
            <a:off x="3115766" y="3429000"/>
            <a:ext cx="711819" cy="2127253"/>
          </a:xfrm>
          <a:prstGeom prst="bentConnector3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3" name="Elbow Connector 32">
            <a:extLst>
              <a:ext uri="{FF2B5EF4-FFF2-40B4-BE49-F238E27FC236}">
                <a16:creationId xmlns:a16="http://schemas.microsoft.com/office/drawing/2014/main" id="{57912260-7430-392C-FC6D-F21E110B607E}"/>
              </a:ext>
            </a:extLst>
          </p:cNvPr>
          <p:cNvCxnSpPr>
            <a:stCxn id="6" idx="3"/>
            <a:endCxn id="20" idx="1"/>
          </p:cNvCxnSpPr>
          <p:nvPr/>
        </p:nvCxnSpPr>
        <p:spPr>
          <a:xfrm>
            <a:off x="3115766" y="3429000"/>
            <a:ext cx="711819" cy="927107"/>
          </a:xfrm>
          <a:prstGeom prst="bentConnector3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5" name="Elbow Connector 34">
            <a:extLst>
              <a:ext uri="{FF2B5EF4-FFF2-40B4-BE49-F238E27FC236}">
                <a16:creationId xmlns:a16="http://schemas.microsoft.com/office/drawing/2014/main" id="{6116C775-FFF0-B8FB-ED52-24B66D759750}"/>
              </a:ext>
            </a:extLst>
          </p:cNvPr>
          <p:cNvCxnSpPr>
            <a:stCxn id="6" idx="3"/>
            <a:endCxn id="19" idx="1"/>
          </p:cNvCxnSpPr>
          <p:nvPr/>
        </p:nvCxnSpPr>
        <p:spPr>
          <a:xfrm flipV="1">
            <a:off x="3115766" y="3223422"/>
            <a:ext cx="711819" cy="205578"/>
          </a:xfrm>
          <a:prstGeom prst="bentConnector3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7" name="Elbow Connector 36">
            <a:extLst>
              <a:ext uri="{FF2B5EF4-FFF2-40B4-BE49-F238E27FC236}">
                <a16:creationId xmlns:a16="http://schemas.microsoft.com/office/drawing/2014/main" id="{809A3617-02D4-0371-9BE8-006CFC2E2C38}"/>
              </a:ext>
            </a:extLst>
          </p:cNvPr>
          <p:cNvCxnSpPr>
            <a:stCxn id="6" idx="3"/>
            <a:endCxn id="17" idx="1"/>
          </p:cNvCxnSpPr>
          <p:nvPr/>
        </p:nvCxnSpPr>
        <p:spPr>
          <a:xfrm flipV="1">
            <a:off x="3115766" y="2090737"/>
            <a:ext cx="682511" cy="1338263"/>
          </a:xfrm>
          <a:prstGeom prst="bentConnector3">
            <a:avLst>
              <a:gd name="adj1" fmla="val 52577"/>
            </a:avLst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0" name="Elbow Connector 39">
            <a:extLst>
              <a:ext uri="{FF2B5EF4-FFF2-40B4-BE49-F238E27FC236}">
                <a16:creationId xmlns:a16="http://schemas.microsoft.com/office/drawing/2014/main" id="{264DD0BC-5DE9-A4BB-3693-8F043ACCC212}"/>
              </a:ext>
            </a:extLst>
          </p:cNvPr>
          <p:cNvCxnSpPr>
            <a:endCxn id="23" idx="0"/>
          </p:cNvCxnSpPr>
          <p:nvPr/>
        </p:nvCxnSpPr>
        <p:spPr>
          <a:xfrm>
            <a:off x="6558084" y="2090736"/>
            <a:ext cx="4250819" cy="891520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2" name="Elbow Connector 41">
            <a:extLst>
              <a:ext uri="{FF2B5EF4-FFF2-40B4-BE49-F238E27FC236}">
                <a16:creationId xmlns:a16="http://schemas.microsoft.com/office/drawing/2014/main" id="{A399F3EB-F68D-6007-B619-52A70A2B85A2}"/>
              </a:ext>
            </a:extLst>
          </p:cNvPr>
          <p:cNvCxnSpPr>
            <a:stCxn id="19" idx="3"/>
            <a:endCxn id="23" idx="0"/>
          </p:cNvCxnSpPr>
          <p:nvPr/>
        </p:nvCxnSpPr>
        <p:spPr>
          <a:xfrm flipV="1">
            <a:off x="6558084" y="2982256"/>
            <a:ext cx="4250819" cy="241166"/>
          </a:xfrm>
          <a:prstGeom prst="bentConnector4">
            <a:avLst>
              <a:gd name="adj1" fmla="val 13345"/>
              <a:gd name="adj2" fmla="val 260671"/>
            </a:avLst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92868720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635ED2-C3D3-CAD8-C9C1-4E2B79CA18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A4BFEE-3973-F38D-AB6F-7E59F480F6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0070C0"/>
                </a:solidFill>
                <a:latin typeface="+mn-lt"/>
                <a:ea typeface="Cambria" panose="02040503050406030204" pitchFamily="18" charset="0"/>
              </a:rPr>
              <a:t>New Implementation Flowchart</a:t>
            </a:r>
            <a:endParaRPr lang="en-US" dirty="0">
              <a:latin typeface="+mn-lt"/>
            </a:endParaRP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6A08692-A3FF-38C0-CCF5-21B764A474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612801-9325-4A1B-AAC6-5236E02DCD9A}" type="datetime1">
              <a:rPr lang="en-US" smtClean="0"/>
              <a:t>12/19/2025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6DF3408-64A3-DBE1-18F6-D3F98BE553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/>
              <a:t>EE/CPE584 Intro to VLSI</a:t>
            </a:r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5121FB9-7E84-2B41-F92E-9A1294C445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8A6112-8193-45F5-863E-CC8218595965}" type="slidenum">
              <a:rPr lang="en-US" smtClean="0"/>
              <a:t>28</a:t>
            </a:fld>
            <a:endParaRPr lang="en-US"/>
          </a:p>
        </p:txBody>
      </p:sp>
      <p:sp>
        <p:nvSpPr>
          <p:cNvPr id="6" name="Decision 5">
            <a:extLst>
              <a:ext uri="{FF2B5EF4-FFF2-40B4-BE49-F238E27FC236}">
                <a16:creationId xmlns:a16="http://schemas.microsoft.com/office/drawing/2014/main" id="{9EF755E1-F6C4-9F98-9562-723008A48999}"/>
              </a:ext>
            </a:extLst>
          </p:cNvPr>
          <p:cNvSpPr/>
          <p:nvPr/>
        </p:nvSpPr>
        <p:spPr>
          <a:xfrm>
            <a:off x="838200" y="3062168"/>
            <a:ext cx="2277566" cy="733663"/>
          </a:xfrm>
          <a:prstGeom prst="flowChartDecision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>
            <a:spAutoFit/>
          </a:bodyPr>
          <a:lstStyle/>
          <a:p>
            <a:pPr algn="ctr"/>
            <a:r>
              <a:rPr lang="en-US" dirty="0" err="1"/>
              <a:t>PG_Type</a:t>
            </a:r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98FE775-3A7D-0A51-551E-32283E43ABAA}"/>
              </a:ext>
            </a:extLst>
          </p:cNvPr>
          <p:cNvSpPr txBox="1"/>
          <p:nvPr/>
        </p:nvSpPr>
        <p:spPr>
          <a:xfrm>
            <a:off x="1192810" y="1548557"/>
            <a:ext cx="156834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Previous Slide</a:t>
            </a:r>
          </a:p>
        </p:txBody>
      </p:sp>
      <p:sp>
        <p:nvSpPr>
          <p:cNvPr id="9" name="Terminator 8">
            <a:extLst>
              <a:ext uri="{FF2B5EF4-FFF2-40B4-BE49-F238E27FC236}">
                <a16:creationId xmlns:a16="http://schemas.microsoft.com/office/drawing/2014/main" id="{DC8A310A-D1AF-46E4-CFB1-B8628E844425}"/>
              </a:ext>
            </a:extLst>
          </p:cNvPr>
          <p:cNvSpPr/>
          <p:nvPr/>
        </p:nvSpPr>
        <p:spPr>
          <a:xfrm>
            <a:off x="724651" y="5462864"/>
            <a:ext cx="2504661" cy="893486"/>
          </a:xfrm>
          <a:prstGeom prst="flowChartTerminator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>
                <a:cs typeface="Times New Roman" panose="02020603050405020304" pitchFamily="18" charset="0"/>
              </a:rPr>
              <a:t>End</a:t>
            </a:r>
          </a:p>
        </p:txBody>
      </p:sp>
      <p:cxnSp>
        <p:nvCxnSpPr>
          <p:cNvPr id="11" name="Elbow Connector 10">
            <a:extLst>
              <a:ext uri="{FF2B5EF4-FFF2-40B4-BE49-F238E27FC236}">
                <a16:creationId xmlns:a16="http://schemas.microsoft.com/office/drawing/2014/main" id="{04091745-52BC-27AD-511F-48F648E87305}"/>
              </a:ext>
            </a:extLst>
          </p:cNvPr>
          <p:cNvCxnSpPr>
            <a:stCxn id="7" idx="2"/>
            <a:endCxn id="6" idx="0"/>
          </p:cNvCxnSpPr>
          <p:nvPr/>
        </p:nvCxnSpPr>
        <p:spPr>
          <a:xfrm rot="5400000">
            <a:off x="1404844" y="2490028"/>
            <a:ext cx="1144279" cy="12700"/>
          </a:xfrm>
          <a:prstGeom prst="bentConnector3">
            <a:avLst>
              <a:gd name="adj1" fmla="val 56"/>
            </a:avLst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4" name="Elbow Connector 13">
            <a:extLst>
              <a:ext uri="{FF2B5EF4-FFF2-40B4-BE49-F238E27FC236}">
                <a16:creationId xmlns:a16="http://schemas.microsoft.com/office/drawing/2014/main" id="{C418B44E-4355-2778-234B-1C36228EE880}"/>
              </a:ext>
            </a:extLst>
          </p:cNvPr>
          <p:cNvCxnSpPr>
            <a:stCxn id="6" idx="2"/>
            <a:endCxn id="9" idx="0"/>
          </p:cNvCxnSpPr>
          <p:nvPr/>
        </p:nvCxnSpPr>
        <p:spPr>
          <a:xfrm rot="5400000">
            <a:off x="1143467" y="4629347"/>
            <a:ext cx="1667033" cy="1"/>
          </a:xfrm>
          <a:prstGeom prst="bentConnector3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5" name="Data 14">
            <a:extLst>
              <a:ext uri="{FF2B5EF4-FFF2-40B4-BE49-F238E27FC236}">
                <a16:creationId xmlns:a16="http://schemas.microsoft.com/office/drawing/2014/main" id="{CA188578-15DF-0510-8E52-618D5628EB4A}"/>
              </a:ext>
            </a:extLst>
          </p:cNvPr>
          <p:cNvSpPr/>
          <p:nvPr/>
        </p:nvSpPr>
        <p:spPr>
          <a:xfrm>
            <a:off x="3739262" y="1645765"/>
            <a:ext cx="2108719" cy="1369872"/>
          </a:xfrm>
          <a:prstGeom prst="flowChartInputOutpu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Input LEF_USE = Power</a:t>
            </a:r>
          </a:p>
        </p:txBody>
      </p:sp>
      <p:sp>
        <p:nvSpPr>
          <p:cNvPr id="16" name="Data 15">
            <a:extLst>
              <a:ext uri="{FF2B5EF4-FFF2-40B4-BE49-F238E27FC236}">
                <a16:creationId xmlns:a16="http://schemas.microsoft.com/office/drawing/2014/main" id="{65942135-990B-5BF3-175D-832A1076C4B9}"/>
              </a:ext>
            </a:extLst>
          </p:cNvPr>
          <p:cNvSpPr/>
          <p:nvPr/>
        </p:nvSpPr>
        <p:spPr>
          <a:xfrm>
            <a:off x="3739263" y="4777928"/>
            <a:ext cx="2108719" cy="1369872"/>
          </a:xfrm>
          <a:prstGeom prst="flowChartInputOutpu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Input </a:t>
            </a:r>
            <a:r>
              <a:rPr lang="en-US" dirty="0" err="1"/>
              <a:t>Lef_USE</a:t>
            </a:r>
            <a:r>
              <a:rPr lang="en-US" dirty="0"/>
              <a:t> = Ground</a:t>
            </a:r>
          </a:p>
        </p:txBody>
      </p:sp>
      <p:sp>
        <p:nvSpPr>
          <p:cNvPr id="17" name="Decision 16">
            <a:extLst>
              <a:ext uri="{FF2B5EF4-FFF2-40B4-BE49-F238E27FC236}">
                <a16:creationId xmlns:a16="http://schemas.microsoft.com/office/drawing/2014/main" id="{FFE6CCF1-B4BF-6408-1628-B5244694B23D}"/>
              </a:ext>
            </a:extLst>
          </p:cNvPr>
          <p:cNvSpPr/>
          <p:nvPr/>
        </p:nvSpPr>
        <p:spPr>
          <a:xfrm>
            <a:off x="6776604" y="4865386"/>
            <a:ext cx="2753591" cy="1194955"/>
          </a:xfrm>
          <a:prstGeom prst="flowChartDecision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>
            <a:normAutofit/>
          </a:bodyPr>
          <a:lstStyle/>
          <a:p>
            <a:pPr algn="ctr"/>
            <a:r>
              <a:rPr lang="en-US" sz="1200" dirty="0" err="1"/>
              <a:t>PG_Type</a:t>
            </a:r>
            <a:r>
              <a:rPr lang="en-US" sz="1200" dirty="0"/>
              <a:t> = PRIMAR_GROUD</a:t>
            </a:r>
          </a:p>
        </p:txBody>
      </p:sp>
      <p:sp>
        <p:nvSpPr>
          <p:cNvPr id="18" name="Decision 17">
            <a:extLst>
              <a:ext uri="{FF2B5EF4-FFF2-40B4-BE49-F238E27FC236}">
                <a16:creationId xmlns:a16="http://schemas.microsoft.com/office/drawing/2014/main" id="{295E317C-FD5B-B35A-4503-B1A53B1CFB19}"/>
              </a:ext>
            </a:extLst>
          </p:cNvPr>
          <p:cNvSpPr/>
          <p:nvPr/>
        </p:nvSpPr>
        <p:spPr>
          <a:xfrm>
            <a:off x="6776604" y="1733223"/>
            <a:ext cx="2753591" cy="1194955"/>
          </a:xfrm>
          <a:prstGeom prst="flowChartDecision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>
            <a:normAutofit/>
          </a:bodyPr>
          <a:lstStyle/>
          <a:p>
            <a:pPr algn="ctr"/>
            <a:r>
              <a:rPr lang="en-US" sz="1100" dirty="0" err="1"/>
              <a:t>PG_Type</a:t>
            </a:r>
            <a:r>
              <a:rPr lang="en-US" sz="1100" dirty="0"/>
              <a:t> == PRIMARY_POWER</a:t>
            </a:r>
          </a:p>
        </p:txBody>
      </p:sp>
      <p:sp>
        <p:nvSpPr>
          <p:cNvPr id="19" name="Terminator 18">
            <a:extLst>
              <a:ext uri="{FF2B5EF4-FFF2-40B4-BE49-F238E27FC236}">
                <a16:creationId xmlns:a16="http://schemas.microsoft.com/office/drawing/2014/main" id="{7DA1B863-9497-7603-4F5A-01423C172F14}"/>
              </a:ext>
            </a:extLst>
          </p:cNvPr>
          <p:cNvSpPr/>
          <p:nvPr/>
        </p:nvSpPr>
        <p:spPr>
          <a:xfrm>
            <a:off x="9530195" y="3428999"/>
            <a:ext cx="2504661" cy="893486"/>
          </a:xfrm>
          <a:prstGeom prst="flowChartTerminator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>
                <a:cs typeface="Times New Roman" panose="02020603050405020304" pitchFamily="18" charset="0"/>
              </a:rPr>
              <a:t>End</a:t>
            </a:r>
          </a:p>
        </p:txBody>
      </p:sp>
      <p:sp>
        <p:nvSpPr>
          <p:cNvPr id="20" name="Data 19">
            <a:extLst>
              <a:ext uri="{FF2B5EF4-FFF2-40B4-BE49-F238E27FC236}">
                <a16:creationId xmlns:a16="http://schemas.microsoft.com/office/drawing/2014/main" id="{80338C98-2552-3A6B-DDF0-9AF0196B8792}"/>
              </a:ext>
            </a:extLst>
          </p:cNvPr>
          <p:cNvSpPr/>
          <p:nvPr/>
        </p:nvSpPr>
        <p:spPr>
          <a:xfrm>
            <a:off x="7346325" y="3360470"/>
            <a:ext cx="1614147" cy="1032561"/>
          </a:xfrm>
          <a:prstGeom prst="flowChartInputOutpu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Output Error;</a:t>
            </a:r>
          </a:p>
        </p:txBody>
      </p:sp>
      <p:cxnSp>
        <p:nvCxnSpPr>
          <p:cNvPr id="22" name="Elbow Connector 21">
            <a:extLst>
              <a:ext uri="{FF2B5EF4-FFF2-40B4-BE49-F238E27FC236}">
                <a16:creationId xmlns:a16="http://schemas.microsoft.com/office/drawing/2014/main" id="{23BA8DE3-6D67-31A9-59B3-266586244213}"/>
              </a:ext>
            </a:extLst>
          </p:cNvPr>
          <p:cNvCxnSpPr>
            <a:cxnSpLocks/>
            <a:endCxn id="15" idx="2"/>
          </p:cNvCxnSpPr>
          <p:nvPr/>
        </p:nvCxnSpPr>
        <p:spPr>
          <a:xfrm rot="5400000" flipH="1" flipV="1">
            <a:off x="3027529" y="2418937"/>
            <a:ext cx="1010841" cy="834370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4" name="Elbow Connector 23">
            <a:extLst>
              <a:ext uri="{FF2B5EF4-FFF2-40B4-BE49-F238E27FC236}">
                <a16:creationId xmlns:a16="http://schemas.microsoft.com/office/drawing/2014/main" id="{B2988938-4D06-78CF-9570-DBAC28D149A3}"/>
              </a:ext>
            </a:extLst>
          </p:cNvPr>
          <p:cNvCxnSpPr>
            <a:stCxn id="6" idx="3"/>
            <a:endCxn id="16" idx="2"/>
          </p:cNvCxnSpPr>
          <p:nvPr/>
        </p:nvCxnSpPr>
        <p:spPr>
          <a:xfrm>
            <a:off x="3115766" y="3429000"/>
            <a:ext cx="834369" cy="2033864"/>
          </a:xfrm>
          <a:prstGeom prst="bentConnector3">
            <a:avLst>
              <a:gd name="adj1" fmla="val 473"/>
            </a:avLst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9" name="Elbow Connector 28">
            <a:extLst>
              <a:ext uri="{FF2B5EF4-FFF2-40B4-BE49-F238E27FC236}">
                <a16:creationId xmlns:a16="http://schemas.microsoft.com/office/drawing/2014/main" id="{960DE13F-FEA9-95CD-E757-DC1C0C2897E3}"/>
              </a:ext>
            </a:extLst>
          </p:cNvPr>
          <p:cNvCxnSpPr>
            <a:stCxn id="15" idx="5"/>
            <a:endCxn id="18" idx="1"/>
          </p:cNvCxnSpPr>
          <p:nvPr/>
        </p:nvCxnSpPr>
        <p:spPr>
          <a:xfrm>
            <a:off x="5637109" y="2330701"/>
            <a:ext cx="1139495" cy="12700"/>
          </a:xfrm>
          <a:prstGeom prst="bentConnector3">
            <a:avLst>
              <a:gd name="adj1" fmla="val 618"/>
            </a:avLst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2" name="Elbow Connector 31">
            <a:extLst>
              <a:ext uri="{FF2B5EF4-FFF2-40B4-BE49-F238E27FC236}">
                <a16:creationId xmlns:a16="http://schemas.microsoft.com/office/drawing/2014/main" id="{605B8937-22EA-ED43-563B-B83B2C7A69BA}"/>
              </a:ext>
            </a:extLst>
          </p:cNvPr>
          <p:cNvCxnSpPr>
            <a:stCxn id="16" idx="5"/>
            <a:endCxn id="17" idx="1"/>
          </p:cNvCxnSpPr>
          <p:nvPr/>
        </p:nvCxnSpPr>
        <p:spPr>
          <a:xfrm>
            <a:off x="5637110" y="5462864"/>
            <a:ext cx="1139494" cy="12700"/>
          </a:xfrm>
          <a:prstGeom prst="bentConnector3">
            <a:avLst>
              <a:gd name="adj1" fmla="val -154"/>
            </a:avLst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7" name="Elbow Connector 36">
            <a:extLst>
              <a:ext uri="{FF2B5EF4-FFF2-40B4-BE49-F238E27FC236}">
                <a16:creationId xmlns:a16="http://schemas.microsoft.com/office/drawing/2014/main" id="{765522CD-9D62-5B47-5DB2-42F20F252FF2}"/>
              </a:ext>
            </a:extLst>
          </p:cNvPr>
          <p:cNvCxnSpPr>
            <a:endCxn id="20" idx="1"/>
          </p:cNvCxnSpPr>
          <p:nvPr/>
        </p:nvCxnSpPr>
        <p:spPr>
          <a:xfrm rot="5400000">
            <a:off x="7964293" y="3171363"/>
            <a:ext cx="378214" cy="1"/>
          </a:xfrm>
          <a:prstGeom prst="bentConnector3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9" name="Elbow Connector 38">
            <a:extLst>
              <a:ext uri="{FF2B5EF4-FFF2-40B4-BE49-F238E27FC236}">
                <a16:creationId xmlns:a16="http://schemas.microsoft.com/office/drawing/2014/main" id="{FCE924BB-C22F-3F50-83B0-526D8FC26531}"/>
              </a:ext>
            </a:extLst>
          </p:cNvPr>
          <p:cNvCxnSpPr>
            <a:stCxn id="17" idx="0"/>
            <a:endCxn id="20" idx="4"/>
          </p:cNvCxnSpPr>
          <p:nvPr/>
        </p:nvCxnSpPr>
        <p:spPr>
          <a:xfrm rot="16200000" flipV="1">
            <a:off x="7917223" y="4629208"/>
            <a:ext cx="472355" cy="1"/>
          </a:xfrm>
          <a:prstGeom prst="bentConnector3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1" name="Elbow Connector 40">
            <a:extLst>
              <a:ext uri="{FF2B5EF4-FFF2-40B4-BE49-F238E27FC236}">
                <a16:creationId xmlns:a16="http://schemas.microsoft.com/office/drawing/2014/main" id="{86265FFA-32A6-5F4A-4540-D657464F43EE}"/>
              </a:ext>
            </a:extLst>
          </p:cNvPr>
          <p:cNvCxnSpPr>
            <a:cxnSpLocks/>
            <a:stCxn id="20" idx="5"/>
            <a:endCxn id="19" idx="1"/>
          </p:cNvCxnSpPr>
          <p:nvPr/>
        </p:nvCxnSpPr>
        <p:spPr>
          <a:xfrm flipV="1">
            <a:off x="8799057" y="3875742"/>
            <a:ext cx="731138" cy="1009"/>
          </a:xfrm>
          <a:prstGeom prst="bentConnector3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5" name="Elbow Connector 44">
            <a:extLst>
              <a:ext uri="{FF2B5EF4-FFF2-40B4-BE49-F238E27FC236}">
                <a16:creationId xmlns:a16="http://schemas.microsoft.com/office/drawing/2014/main" id="{50FE240A-E89E-1A3A-11F0-F0D37A11CD0B}"/>
              </a:ext>
            </a:extLst>
          </p:cNvPr>
          <p:cNvCxnSpPr>
            <a:stCxn id="18" idx="3"/>
            <a:endCxn id="19" idx="0"/>
          </p:cNvCxnSpPr>
          <p:nvPr/>
        </p:nvCxnSpPr>
        <p:spPr>
          <a:xfrm>
            <a:off x="9530195" y="2330701"/>
            <a:ext cx="1252331" cy="1098298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7" name="Elbow Connector 46">
            <a:extLst>
              <a:ext uri="{FF2B5EF4-FFF2-40B4-BE49-F238E27FC236}">
                <a16:creationId xmlns:a16="http://schemas.microsoft.com/office/drawing/2014/main" id="{FCA77A44-9FB2-EB53-7B72-24E6837D7462}"/>
              </a:ext>
            </a:extLst>
          </p:cNvPr>
          <p:cNvCxnSpPr>
            <a:endCxn id="19" idx="2"/>
          </p:cNvCxnSpPr>
          <p:nvPr/>
        </p:nvCxnSpPr>
        <p:spPr>
          <a:xfrm flipV="1">
            <a:off x="9530195" y="4322485"/>
            <a:ext cx="1252331" cy="1153079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48" name="TextBox 47">
            <a:extLst>
              <a:ext uri="{FF2B5EF4-FFF2-40B4-BE49-F238E27FC236}">
                <a16:creationId xmlns:a16="http://schemas.microsoft.com/office/drawing/2014/main" id="{3A7BDB01-7AFE-295D-31FC-630E4E0A31B5}"/>
              </a:ext>
            </a:extLst>
          </p:cNvPr>
          <p:cNvSpPr txBox="1"/>
          <p:nvPr/>
        </p:nvSpPr>
        <p:spPr>
          <a:xfrm>
            <a:off x="7396368" y="2928178"/>
            <a:ext cx="83527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False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19AC7DD9-E85F-14FB-6734-04FD28F5D938}"/>
              </a:ext>
            </a:extLst>
          </p:cNvPr>
          <p:cNvSpPr txBox="1"/>
          <p:nvPr/>
        </p:nvSpPr>
        <p:spPr>
          <a:xfrm>
            <a:off x="7442595" y="4455991"/>
            <a:ext cx="83527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False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9CA1805E-9A6C-D681-43E9-09FA957A8BEF}"/>
              </a:ext>
            </a:extLst>
          </p:cNvPr>
          <p:cNvSpPr txBox="1"/>
          <p:nvPr/>
        </p:nvSpPr>
        <p:spPr>
          <a:xfrm>
            <a:off x="9466251" y="5469214"/>
            <a:ext cx="83527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True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0C3D699E-AEDC-C7DC-14A4-3C990FA618FE}"/>
              </a:ext>
            </a:extLst>
          </p:cNvPr>
          <p:cNvSpPr txBox="1"/>
          <p:nvPr/>
        </p:nvSpPr>
        <p:spPr>
          <a:xfrm>
            <a:off x="9466251" y="1992080"/>
            <a:ext cx="83527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True</a:t>
            </a:r>
          </a:p>
        </p:txBody>
      </p:sp>
    </p:spTree>
    <p:extLst>
      <p:ext uri="{BB962C8B-B14F-4D97-AF65-F5344CB8AC3E}">
        <p14:creationId xmlns:p14="http://schemas.microsoft.com/office/powerpoint/2010/main" val="118453625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1463B5-CC12-6E4B-51DD-4896DE24D8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DE915E-B3ED-DE65-2474-2097220658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9368"/>
            <a:ext cx="10515600" cy="1325563"/>
          </a:xfrm>
        </p:spPr>
        <p:txBody>
          <a:bodyPr>
            <a:normAutofit/>
          </a:bodyPr>
          <a:lstStyle/>
          <a:p>
            <a:r>
              <a:rPr lang="en-US" sz="4000" dirty="0">
                <a:solidFill>
                  <a:srgbClr val="0070C0"/>
                </a:solidFill>
                <a:latin typeface="+mn-lt"/>
                <a:ea typeface="Cambria" panose="02040503050406030204" pitchFamily="18" charset="0"/>
              </a:rPr>
              <a:t>New Implementation Error File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DCFBF19-0E10-C779-2BD8-6BDE4DB040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6D28ED-750A-4DFC-A458-38B3E79E4C7D}" type="datetime1">
              <a:rPr lang="en-US" sz="1400" smtClean="0">
                <a:solidFill>
                  <a:srgbClr val="0070C0"/>
                </a:solidFill>
                <a:ea typeface="Cambria" panose="02040503050406030204" pitchFamily="18" charset="0"/>
              </a:rPr>
              <a:t>12/19/2025</a:t>
            </a:fld>
            <a:endParaRPr lang="en-US" sz="1400">
              <a:solidFill>
                <a:srgbClr val="0070C0"/>
              </a:solidFill>
              <a:ea typeface="Cambria" panose="02040503050406030204" pitchFamily="18" charset="0"/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D9DD5A3-48E3-E409-7F94-B4A9CDBA05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 sz="1400">
                <a:solidFill>
                  <a:srgbClr val="0070C0"/>
                </a:solidFill>
                <a:ea typeface="Cambria" panose="02040503050406030204" pitchFamily="18" charset="0"/>
              </a:rPr>
              <a:t>EE/CPE584 </a:t>
            </a:r>
            <a:r>
              <a:rPr lang="es-ES" sz="1400" err="1">
                <a:solidFill>
                  <a:srgbClr val="0070C0"/>
                </a:solidFill>
                <a:ea typeface="Cambria" panose="02040503050406030204" pitchFamily="18" charset="0"/>
              </a:rPr>
              <a:t>Intro</a:t>
            </a:r>
            <a:r>
              <a:rPr lang="es-ES" sz="1400">
                <a:solidFill>
                  <a:srgbClr val="0070C0"/>
                </a:solidFill>
                <a:ea typeface="Cambria" panose="02040503050406030204" pitchFamily="18" charset="0"/>
              </a:rPr>
              <a:t> </a:t>
            </a:r>
            <a:r>
              <a:rPr lang="es-ES" sz="1400" err="1">
                <a:solidFill>
                  <a:srgbClr val="0070C0"/>
                </a:solidFill>
                <a:ea typeface="Cambria" panose="02040503050406030204" pitchFamily="18" charset="0"/>
              </a:rPr>
              <a:t>to</a:t>
            </a:r>
            <a:r>
              <a:rPr lang="es-ES" sz="1400">
                <a:solidFill>
                  <a:srgbClr val="0070C0"/>
                </a:solidFill>
                <a:ea typeface="Cambria" panose="02040503050406030204" pitchFamily="18" charset="0"/>
              </a:rPr>
              <a:t> VLSI</a:t>
            </a:r>
            <a:endParaRPr lang="en-US" sz="1400">
              <a:solidFill>
                <a:srgbClr val="0070C0"/>
              </a:solidFill>
              <a:ea typeface="Cambria" panose="02040503050406030204" pitchFamily="18" charset="0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EEA6767-6B72-290C-18F1-D55AEB4395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8A6112-8193-45F5-863E-CC8218595965}" type="slidenum">
              <a:rPr lang="en-US" sz="1400" smtClean="0">
                <a:solidFill>
                  <a:srgbClr val="0070C0"/>
                </a:solidFill>
                <a:ea typeface="Cambria" panose="02040503050406030204" pitchFamily="18" charset="0"/>
              </a:rPr>
              <a:t>29</a:t>
            </a:fld>
            <a:endParaRPr lang="en-US" sz="1400">
              <a:solidFill>
                <a:srgbClr val="0070C0"/>
              </a:solidFill>
              <a:ea typeface="Cambria" panose="02040503050406030204" pitchFamily="18" charset="0"/>
            </a:endParaRPr>
          </a:p>
        </p:txBody>
      </p:sp>
      <p:pic>
        <p:nvPicPr>
          <p:cNvPr id="9" name="Picture 8" descr="A screenshot of a computer&#10;&#10;AI-generated content may be incorrect.">
            <a:extLst>
              <a:ext uri="{FF2B5EF4-FFF2-40B4-BE49-F238E27FC236}">
                <a16:creationId xmlns:a16="http://schemas.microsoft.com/office/drawing/2014/main" id="{ABD75CC3-8682-C94F-031F-C29FA7815DB3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17431" y="936673"/>
            <a:ext cx="7772400" cy="5498559"/>
          </a:xfrm>
          <a:prstGeom prst="rect">
            <a:avLst/>
          </a:prstGeom>
        </p:spPr>
      </p:pic>
      <p:sp>
        <p:nvSpPr>
          <p:cNvPr id="30" name="TextBox 29">
            <a:extLst>
              <a:ext uri="{FF2B5EF4-FFF2-40B4-BE49-F238E27FC236}">
                <a16:creationId xmlns:a16="http://schemas.microsoft.com/office/drawing/2014/main" id="{C887D09D-B94A-D2BD-E923-2031E04C3393}"/>
              </a:ext>
            </a:extLst>
          </p:cNvPr>
          <p:cNvSpPr txBox="1"/>
          <p:nvPr/>
        </p:nvSpPr>
        <p:spPr>
          <a:xfrm>
            <a:off x="2702169" y="3920310"/>
            <a:ext cx="1998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accent1">
                    <a:lumMod val="40000"/>
                    <a:lumOff val="60000"/>
                  </a:schemeClr>
                </a:solidFill>
              </a:rPr>
              <a:t>Type of mismatch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0E628E46-D84C-D48E-D05E-7E6EBD41FCA8}"/>
              </a:ext>
            </a:extLst>
          </p:cNvPr>
          <p:cNvSpPr txBox="1"/>
          <p:nvPr/>
        </p:nvSpPr>
        <p:spPr>
          <a:xfrm>
            <a:off x="0" y="1377468"/>
            <a:ext cx="9847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LEF File</a:t>
            </a:r>
          </a:p>
          <a:p>
            <a:r>
              <a:rPr lang="en-US" dirty="0"/>
              <a:t>Name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E5DE68ED-C65E-18FE-4D77-AA5F2FD13EB4}"/>
              </a:ext>
            </a:extLst>
          </p:cNvPr>
          <p:cNvSpPr txBox="1"/>
          <p:nvPr/>
        </p:nvSpPr>
        <p:spPr>
          <a:xfrm>
            <a:off x="297723" y="2670290"/>
            <a:ext cx="108095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Pin name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C3146CD5-9F24-213F-7181-BD553316F010}"/>
              </a:ext>
            </a:extLst>
          </p:cNvPr>
          <p:cNvSpPr txBox="1"/>
          <p:nvPr/>
        </p:nvSpPr>
        <p:spPr>
          <a:xfrm>
            <a:off x="4397586" y="1952182"/>
            <a:ext cx="156604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accent1">
                    <a:lumMod val="40000"/>
                    <a:lumOff val="60000"/>
                  </a:schemeClr>
                </a:solidFill>
              </a:rPr>
              <a:t>Cell Name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155D66F1-7CB1-FCDA-A445-530418FB0B7D}"/>
              </a:ext>
            </a:extLst>
          </p:cNvPr>
          <p:cNvSpPr txBox="1"/>
          <p:nvPr/>
        </p:nvSpPr>
        <p:spPr>
          <a:xfrm>
            <a:off x="4764986" y="4320500"/>
            <a:ext cx="267143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accent1">
                    <a:lumMod val="40000"/>
                    <a:lumOff val="60000"/>
                  </a:schemeClr>
                </a:solidFill>
              </a:rPr>
              <a:t>Details of Mismatch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3C63D086-C194-41FF-DC17-B6AD9853D933}"/>
              </a:ext>
            </a:extLst>
          </p:cNvPr>
          <p:cNvSpPr txBox="1"/>
          <p:nvPr/>
        </p:nvSpPr>
        <p:spPr>
          <a:xfrm>
            <a:off x="4967470" y="4985756"/>
            <a:ext cx="267143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accent1">
                    <a:lumMod val="40000"/>
                    <a:lumOff val="60000"/>
                  </a:schemeClr>
                </a:solidFill>
              </a:rPr>
              <a:t>Current Name</a:t>
            </a:r>
          </a:p>
        </p:txBody>
      </p:sp>
      <p:cxnSp>
        <p:nvCxnSpPr>
          <p:cNvPr id="46" name="Straight Arrow Connector 45">
            <a:extLst>
              <a:ext uri="{FF2B5EF4-FFF2-40B4-BE49-F238E27FC236}">
                <a16:creationId xmlns:a16="http://schemas.microsoft.com/office/drawing/2014/main" id="{2FBDF041-45E8-639E-25CD-D7BD7085F879}"/>
              </a:ext>
            </a:extLst>
          </p:cNvPr>
          <p:cNvCxnSpPr>
            <a:cxnSpLocks/>
            <a:stCxn id="34" idx="3"/>
            <a:endCxn id="8" idx="1"/>
          </p:cNvCxnSpPr>
          <p:nvPr/>
        </p:nvCxnSpPr>
        <p:spPr>
          <a:xfrm flipV="1">
            <a:off x="1378676" y="2983764"/>
            <a:ext cx="651294" cy="9692"/>
          </a:xfrm>
          <a:prstGeom prst="straightConnector1">
            <a:avLst/>
          </a:prstGeom>
          <a:ln w="63500" cap="flat" cmpd="sng" algn="ctr">
            <a:solidFill>
              <a:schemeClr val="accent4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47" name="Straight Arrow Connector 46">
            <a:extLst>
              <a:ext uri="{FF2B5EF4-FFF2-40B4-BE49-F238E27FC236}">
                <a16:creationId xmlns:a16="http://schemas.microsoft.com/office/drawing/2014/main" id="{9A0ABAE4-7A04-0FEB-B159-5834A1EFA7F3}"/>
              </a:ext>
            </a:extLst>
          </p:cNvPr>
          <p:cNvCxnSpPr>
            <a:cxnSpLocks/>
            <a:stCxn id="33" idx="3"/>
            <a:endCxn id="3" idx="1"/>
          </p:cNvCxnSpPr>
          <p:nvPr/>
        </p:nvCxnSpPr>
        <p:spPr>
          <a:xfrm>
            <a:off x="984738" y="1700634"/>
            <a:ext cx="732693" cy="0"/>
          </a:xfrm>
          <a:prstGeom prst="straightConnector1">
            <a:avLst/>
          </a:prstGeom>
          <a:ln w="63500" cap="flat" cmpd="sng" algn="ctr">
            <a:solidFill>
              <a:schemeClr val="accent4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50" name="Straight Arrow Connector 49">
            <a:extLst>
              <a:ext uri="{FF2B5EF4-FFF2-40B4-BE49-F238E27FC236}">
                <a16:creationId xmlns:a16="http://schemas.microsoft.com/office/drawing/2014/main" id="{598879A3-EAA1-23F9-1A60-B3860CCB17B9}"/>
              </a:ext>
            </a:extLst>
          </p:cNvPr>
          <p:cNvCxnSpPr>
            <a:cxnSpLocks/>
            <a:stCxn id="36" idx="1"/>
            <a:endCxn id="7" idx="3"/>
          </p:cNvCxnSpPr>
          <p:nvPr/>
        </p:nvCxnSpPr>
        <p:spPr>
          <a:xfrm flipH="1" flipV="1">
            <a:off x="3765599" y="2134892"/>
            <a:ext cx="631987" cy="1956"/>
          </a:xfrm>
          <a:prstGeom prst="straightConnector1">
            <a:avLst/>
          </a:prstGeom>
          <a:ln w="63500" cap="flat" cmpd="sng" algn="ctr">
            <a:solidFill>
              <a:schemeClr val="accent4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3" name="Rectangle 2">
            <a:extLst>
              <a:ext uri="{FF2B5EF4-FFF2-40B4-BE49-F238E27FC236}">
                <a16:creationId xmlns:a16="http://schemas.microsoft.com/office/drawing/2014/main" id="{7DB4D56F-0722-FA48-8A73-781A9E322790}"/>
              </a:ext>
            </a:extLst>
          </p:cNvPr>
          <p:cNvSpPr/>
          <p:nvPr/>
        </p:nvSpPr>
        <p:spPr>
          <a:xfrm>
            <a:off x="1717431" y="1580637"/>
            <a:ext cx="625078" cy="239993"/>
          </a:xfrm>
          <a:prstGeom prst="rect">
            <a:avLst/>
          </a:prstGeom>
          <a:solidFill>
            <a:srgbClr val="FFFF00">
              <a:alpha val="50000"/>
            </a:srgb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7125843-59D8-7A13-AEE7-53843F21E808}"/>
              </a:ext>
            </a:extLst>
          </p:cNvPr>
          <p:cNvSpPr/>
          <p:nvPr/>
        </p:nvSpPr>
        <p:spPr>
          <a:xfrm>
            <a:off x="3105632" y="2014895"/>
            <a:ext cx="659967" cy="239993"/>
          </a:xfrm>
          <a:prstGeom prst="rect">
            <a:avLst/>
          </a:prstGeom>
          <a:solidFill>
            <a:srgbClr val="FFFF00">
              <a:alpha val="50000"/>
            </a:srgb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3DE18E4-C4AC-DB56-B779-024FFF9DE5DB}"/>
              </a:ext>
            </a:extLst>
          </p:cNvPr>
          <p:cNvSpPr/>
          <p:nvPr/>
        </p:nvSpPr>
        <p:spPr>
          <a:xfrm>
            <a:off x="2029970" y="2863767"/>
            <a:ext cx="894210" cy="239993"/>
          </a:xfrm>
          <a:prstGeom prst="rect">
            <a:avLst/>
          </a:prstGeom>
          <a:solidFill>
            <a:srgbClr val="FFFF00">
              <a:alpha val="50000"/>
            </a:srgb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FE6EFBE-82B5-4487-D86A-4084250C5039}"/>
              </a:ext>
            </a:extLst>
          </p:cNvPr>
          <p:cNvSpPr/>
          <p:nvPr/>
        </p:nvSpPr>
        <p:spPr>
          <a:xfrm>
            <a:off x="2766212" y="3735644"/>
            <a:ext cx="1998774" cy="239993"/>
          </a:xfrm>
          <a:prstGeom prst="rect">
            <a:avLst/>
          </a:prstGeom>
          <a:solidFill>
            <a:srgbClr val="FFFF00">
              <a:alpha val="50000"/>
            </a:srgb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B63FB0FB-7820-C925-9EB8-E0D7A6C0B2ED}"/>
              </a:ext>
            </a:extLst>
          </p:cNvPr>
          <p:cNvSpPr/>
          <p:nvPr/>
        </p:nvSpPr>
        <p:spPr>
          <a:xfrm>
            <a:off x="4545185" y="4634505"/>
            <a:ext cx="4633983" cy="239993"/>
          </a:xfrm>
          <a:prstGeom prst="rect">
            <a:avLst/>
          </a:prstGeom>
          <a:solidFill>
            <a:srgbClr val="FFFF00">
              <a:alpha val="50000"/>
            </a:srgb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CE3C5AA3-8136-495F-DDEF-11DEFF183CD5}"/>
              </a:ext>
            </a:extLst>
          </p:cNvPr>
          <p:cNvSpPr/>
          <p:nvPr/>
        </p:nvSpPr>
        <p:spPr>
          <a:xfrm>
            <a:off x="4967470" y="5272823"/>
            <a:ext cx="1548855" cy="239993"/>
          </a:xfrm>
          <a:prstGeom prst="rect">
            <a:avLst/>
          </a:prstGeom>
          <a:solidFill>
            <a:srgbClr val="FFFF00">
              <a:alpha val="50000"/>
            </a:srgb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2D9BFCDE-E670-A07A-61F4-8285A3514027}"/>
              </a:ext>
            </a:extLst>
          </p:cNvPr>
          <p:cNvSpPr txBox="1"/>
          <p:nvPr/>
        </p:nvSpPr>
        <p:spPr>
          <a:xfrm>
            <a:off x="9662746" y="1081454"/>
            <a:ext cx="225083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*note: Lib File purposely edited to create errors to test</a:t>
            </a:r>
          </a:p>
        </p:txBody>
      </p:sp>
    </p:spTree>
    <p:extLst>
      <p:ext uri="{BB962C8B-B14F-4D97-AF65-F5344CB8AC3E}">
        <p14:creationId xmlns:p14="http://schemas.microsoft.com/office/powerpoint/2010/main" val="2290496940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D6D265-18F5-D28C-B190-4F0F62CCB4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9368"/>
            <a:ext cx="10515600" cy="1325563"/>
          </a:xfrm>
        </p:spPr>
        <p:txBody>
          <a:bodyPr>
            <a:normAutofit/>
          </a:bodyPr>
          <a:lstStyle/>
          <a:p>
            <a:r>
              <a:rPr lang="en-US" sz="4000">
                <a:solidFill>
                  <a:srgbClr val="0070C0"/>
                </a:solidFill>
                <a:latin typeface="+mn-lt"/>
                <a:ea typeface="Cambria" panose="02040503050406030204" pitchFamily="18" charset="0"/>
              </a:rPr>
              <a:t>VIA Obstructions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AA39FA0-4AF0-26C0-02AC-0B2ED41F94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2600" y="1354931"/>
            <a:ext cx="11226800" cy="4613275"/>
          </a:xfrm>
        </p:spPr>
        <p:txBody>
          <a:bodyPr>
            <a:normAutofit/>
          </a:bodyPr>
          <a:lstStyle/>
          <a:p>
            <a:r>
              <a:rPr lang="en-US">
                <a:ea typeface="Cambria" panose="02040503050406030204" pitchFamily="18" charset="0"/>
              </a:rPr>
              <a:t>The current script does not ensure that all cell VIAS have OBS layers associated with them.</a:t>
            </a:r>
          </a:p>
          <a:p>
            <a:pPr marL="0" indent="0">
              <a:buNone/>
            </a:pPr>
            <a:endParaRPr lang="en-US" sz="800">
              <a:ea typeface="Cambria" panose="02040503050406030204" pitchFamily="18" charset="0"/>
            </a:endParaRPr>
          </a:p>
          <a:p>
            <a:r>
              <a:rPr lang="en-US">
                <a:ea typeface="Cambria" panose="02040503050406030204" pitchFamily="18" charset="0"/>
              </a:rPr>
              <a:t>Script needs to be updated to perform the following:</a:t>
            </a:r>
          </a:p>
          <a:p>
            <a:pPr lvl="1"/>
            <a:r>
              <a:rPr lang="en-US">
                <a:ea typeface="Cambria" panose="02040503050406030204" pitchFamily="18" charset="0"/>
              </a:rPr>
              <a:t>Identifies VIA definitions within cells in the Pin/Port section.</a:t>
            </a:r>
          </a:p>
          <a:p>
            <a:pPr lvl="1"/>
            <a:r>
              <a:rPr lang="en-US">
                <a:ea typeface="Cambria" panose="02040503050406030204" pitchFamily="18" charset="0"/>
              </a:rPr>
              <a:t>Verifies that VIAS have associated OBS layers.</a:t>
            </a:r>
          </a:p>
          <a:p>
            <a:pPr marL="457200" lvl="1" indent="0">
              <a:buNone/>
            </a:pPr>
            <a:endParaRPr lang="en-US" sz="800">
              <a:ea typeface="Cambria" panose="02040503050406030204" pitchFamily="18" charset="0"/>
            </a:endParaRPr>
          </a:p>
          <a:p>
            <a:r>
              <a:rPr lang="en-US">
                <a:ea typeface="Cambria" panose="02040503050406030204" pitchFamily="18" charset="0"/>
              </a:rPr>
              <a:t>The purpose for VIA OBS checking is to help prevent routing conflicts during physical design. 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3A705D4-89CA-7F6F-BE79-D6A3DCB593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6D28ED-750A-4DFC-A458-38B3E79E4C7D}" type="datetime1">
              <a:rPr lang="en-US" sz="1400" smtClean="0">
                <a:solidFill>
                  <a:srgbClr val="0070C0"/>
                </a:solidFill>
                <a:ea typeface="Cambria" panose="02040503050406030204" pitchFamily="18" charset="0"/>
              </a:rPr>
              <a:t>12/19/2025</a:t>
            </a:fld>
            <a:endParaRPr lang="en-US" sz="1400">
              <a:solidFill>
                <a:srgbClr val="0070C0"/>
              </a:solidFill>
              <a:ea typeface="Cambria" panose="02040503050406030204" pitchFamily="18" charset="0"/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A4B6408-15E7-FFE8-6536-220AB2281F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 sz="1400">
                <a:solidFill>
                  <a:srgbClr val="0070C0"/>
                </a:solidFill>
                <a:ea typeface="Cambria" panose="02040503050406030204" pitchFamily="18" charset="0"/>
              </a:rPr>
              <a:t>EE/CPE584 </a:t>
            </a:r>
            <a:r>
              <a:rPr lang="es-ES" sz="1400" err="1">
                <a:solidFill>
                  <a:srgbClr val="0070C0"/>
                </a:solidFill>
                <a:ea typeface="Cambria" panose="02040503050406030204" pitchFamily="18" charset="0"/>
              </a:rPr>
              <a:t>Intro</a:t>
            </a:r>
            <a:r>
              <a:rPr lang="es-ES" sz="1400">
                <a:solidFill>
                  <a:srgbClr val="0070C0"/>
                </a:solidFill>
                <a:ea typeface="Cambria" panose="02040503050406030204" pitchFamily="18" charset="0"/>
              </a:rPr>
              <a:t> </a:t>
            </a:r>
            <a:r>
              <a:rPr lang="es-ES" sz="1400" err="1">
                <a:solidFill>
                  <a:srgbClr val="0070C0"/>
                </a:solidFill>
                <a:ea typeface="Cambria" panose="02040503050406030204" pitchFamily="18" charset="0"/>
              </a:rPr>
              <a:t>to</a:t>
            </a:r>
            <a:r>
              <a:rPr lang="es-ES" sz="1400">
                <a:solidFill>
                  <a:srgbClr val="0070C0"/>
                </a:solidFill>
                <a:ea typeface="Cambria" panose="02040503050406030204" pitchFamily="18" charset="0"/>
              </a:rPr>
              <a:t> VLSI</a:t>
            </a:r>
            <a:endParaRPr lang="en-US" sz="1400">
              <a:solidFill>
                <a:srgbClr val="0070C0"/>
              </a:solidFill>
              <a:ea typeface="Cambria" panose="02040503050406030204" pitchFamily="18" charset="0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C8925C8-3383-7CB3-3ED6-8307514A3A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8A6112-8193-45F5-863E-CC8218595965}" type="slidenum">
              <a:rPr lang="en-US" sz="1400" smtClean="0">
                <a:solidFill>
                  <a:srgbClr val="0070C0"/>
                </a:solidFill>
                <a:ea typeface="Cambria" panose="02040503050406030204" pitchFamily="18" charset="0"/>
              </a:rPr>
              <a:t>30</a:t>
            </a:fld>
            <a:endParaRPr lang="en-US" sz="1400">
              <a:solidFill>
                <a:srgbClr val="0070C0"/>
              </a:solidFill>
              <a:ea typeface="Cambria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25490118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BD18C2-EB1F-147C-D692-12EA6B2AF7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1CEC99-0E55-4092-25AF-B80D498CB0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9368"/>
            <a:ext cx="10515600" cy="1325563"/>
          </a:xfrm>
        </p:spPr>
        <p:txBody>
          <a:bodyPr>
            <a:normAutofit/>
          </a:bodyPr>
          <a:lstStyle/>
          <a:p>
            <a:r>
              <a:rPr lang="en-US" sz="4000">
                <a:solidFill>
                  <a:srgbClr val="0070C0"/>
                </a:solidFill>
                <a:latin typeface="+mn-lt"/>
                <a:ea typeface="Cambria" panose="02040503050406030204" pitchFamily="18" charset="0"/>
              </a:rPr>
              <a:t>VIA Obstructions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D10286-08A8-B4B2-79AB-637B2EA724F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2600" y="1354931"/>
            <a:ext cx="11226800" cy="461327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>
                <a:ea typeface="Cambria" panose="02040503050406030204" pitchFamily="18" charset="0"/>
              </a:rPr>
              <a:t>Updated the script to perform the following:</a:t>
            </a:r>
          </a:p>
          <a:p>
            <a:r>
              <a:rPr lang="en-US">
                <a:ea typeface="Cambria" panose="02040503050406030204" pitchFamily="18" charset="0"/>
              </a:rPr>
              <a:t>Detect Via statements during LEF parsing.</a:t>
            </a:r>
          </a:p>
          <a:p>
            <a:pPr lvl="1"/>
            <a:r>
              <a:rPr lang="en-US">
                <a:ea typeface="Cambria" panose="02040503050406030204" pitchFamily="18" charset="0"/>
              </a:rPr>
              <a:t>Checks the PIN/PORT section of the cell</a:t>
            </a:r>
          </a:p>
          <a:p>
            <a:pPr marL="457200" lvl="1" indent="0">
              <a:buNone/>
            </a:pPr>
            <a:endParaRPr lang="en-US" sz="800">
              <a:ea typeface="Cambria" panose="02040503050406030204" pitchFamily="18" charset="0"/>
            </a:endParaRPr>
          </a:p>
          <a:p>
            <a:r>
              <a:rPr lang="en-US">
                <a:ea typeface="Cambria" panose="02040503050406030204" pitchFamily="18" charset="0"/>
              </a:rPr>
              <a:t>Store Via information.</a:t>
            </a:r>
          </a:p>
          <a:p>
            <a:pPr marL="0" indent="0">
              <a:buNone/>
            </a:pPr>
            <a:endParaRPr lang="en-US" sz="800">
              <a:ea typeface="Cambria" panose="02040503050406030204" pitchFamily="18" charset="0"/>
            </a:endParaRPr>
          </a:p>
          <a:p>
            <a:r>
              <a:rPr lang="en-US">
                <a:ea typeface="Cambria" panose="02040503050406030204" pitchFamily="18" charset="0"/>
              </a:rPr>
              <a:t>Validate Vias have associated OBS layer.</a:t>
            </a:r>
          </a:p>
          <a:p>
            <a:pPr lvl="1"/>
            <a:r>
              <a:rPr lang="en-US">
                <a:ea typeface="Cambria" panose="02040503050406030204" pitchFamily="18" charset="0"/>
              </a:rPr>
              <a:t>Does this by checking every layer in the OBS section of the cell</a:t>
            </a:r>
          </a:p>
          <a:p>
            <a:pPr marL="457200" lvl="1" indent="0">
              <a:buNone/>
            </a:pPr>
            <a:endParaRPr lang="en-US" sz="800">
              <a:ea typeface="Cambria" panose="02040503050406030204" pitchFamily="18" charset="0"/>
            </a:endParaRPr>
          </a:p>
          <a:p>
            <a:r>
              <a:rPr lang="en-US">
                <a:ea typeface="Cambria" panose="02040503050406030204" pitchFamily="18" charset="0"/>
              </a:rPr>
              <a:t>Report error when Via layer is not included.</a:t>
            </a:r>
          </a:p>
          <a:p>
            <a:pPr marL="0" indent="0">
              <a:buNone/>
            </a:pPr>
            <a:endParaRPr lang="en-US">
              <a:ea typeface="Cambria" panose="02040503050406030204" pitchFamily="18" charset="0"/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055F6F0-04B4-81AB-89D6-82C2B743FC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6D28ED-750A-4DFC-A458-38B3E79E4C7D}" type="datetime1">
              <a:rPr lang="en-US" sz="1400" smtClean="0">
                <a:solidFill>
                  <a:srgbClr val="0070C0"/>
                </a:solidFill>
                <a:ea typeface="Cambria" panose="02040503050406030204" pitchFamily="18" charset="0"/>
              </a:rPr>
              <a:t>12/19/2025</a:t>
            </a:fld>
            <a:endParaRPr lang="en-US" sz="1400">
              <a:solidFill>
                <a:srgbClr val="0070C0"/>
              </a:solidFill>
              <a:ea typeface="Cambria" panose="02040503050406030204" pitchFamily="18" charset="0"/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88DF94-2568-3057-2D66-B7DB2ACE68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 sz="1400">
                <a:solidFill>
                  <a:srgbClr val="0070C0"/>
                </a:solidFill>
                <a:ea typeface="Cambria" panose="02040503050406030204" pitchFamily="18" charset="0"/>
              </a:rPr>
              <a:t>EE/CPE584 </a:t>
            </a:r>
            <a:r>
              <a:rPr lang="es-ES" sz="1400" err="1">
                <a:solidFill>
                  <a:srgbClr val="0070C0"/>
                </a:solidFill>
                <a:ea typeface="Cambria" panose="02040503050406030204" pitchFamily="18" charset="0"/>
              </a:rPr>
              <a:t>Intro</a:t>
            </a:r>
            <a:r>
              <a:rPr lang="es-ES" sz="1400">
                <a:solidFill>
                  <a:srgbClr val="0070C0"/>
                </a:solidFill>
                <a:ea typeface="Cambria" panose="02040503050406030204" pitchFamily="18" charset="0"/>
              </a:rPr>
              <a:t> </a:t>
            </a:r>
            <a:r>
              <a:rPr lang="es-ES" sz="1400" err="1">
                <a:solidFill>
                  <a:srgbClr val="0070C0"/>
                </a:solidFill>
                <a:ea typeface="Cambria" panose="02040503050406030204" pitchFamily="18" charset="0"/>
              </a:rPr>
              <a:t>to</a:t>
            </a:r>
            <a:r>
              <a:rPr lang="es-ES" sz="1400">
                <a:solidFill>
                  <a:srgbClr val="0070C0"/>
                </a:solidFill>
                <a:ea typeface="Cambria" panose="02040503050406030204" pitchFamily="18" charset="0"/>
              </a:rPr>
              <a:t> VLSI</a:t>
            </a:r>
            <a:endParaRPr lang="en-US" sz="1400">
              <a:solidFill>
                <a:srgbClr val="0070C0"/>
              </a:solidFill>
              <a:ea typeface="Cambria" panose="02040503050406030204" pitchFamily="18" charset="0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CCB625B-C999-5CC6-20A7-9EAC6BB142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8A6112-8193-45F5-863E-CC8218595965}" type="slidenum">
              <a:rPr lang="en-US" sz="1400" smtClean="0">
                <a:solidFill>
                  <a:srgbClr val="0070C0"/>
                </a:solidFill>
                <a:ea typeface="Cambria" panose="02040503050406030204" pitchFamily="18" charset="0"/>
              </a:rPr>
              <a:t>31</a:t>
            </a:fld>
            <a:endParaRPr lang="en-US" sz="1400">
              <a:solidFill>
                <a:srgbClr val="0070C0"/>
              </a:solidFill>
              <a:ea typeface="Cambria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92550541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99391A-9E57-92D9-A80A-B7BCFA7498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1E306BC-6A90-19EC-B391-FC2D694E28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CEE1AB-5E79-4041-BFFA-F9F6DE0A4A26}" type="datetime1">
              <a:rPr lang="en-US" sz="1400" smtClean="0">
                <a:solidFill>
                  <a:srgbClr val="0070C0"/>
                </a:solidFill>
                <a:ea typeface="Cambria" panose="02040503050406030204" pitchFamily="18" charset="0"/>
              </a:rPr>
              <a:t>12/19/2025</a:t>
            </a:fld>
            <a:endParaRPr lang="en-US" sz="1400">
              <a:solidFill>
                <a:srgbClr val="0070C0"/>
              </a:solidFill>
              <a:ea typeface="Cambria" panose="02040503050406030204" pitchFamily="18" charset="0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89F881A-83E6-8E24-97D5-4E93FAEE52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8A6112-8193-45F5-863E-CC8218595965}" type="slidenum">
              <a:rPr lang="en-US" sz="1400" smtClean="0">
                <a:solidFill>
                  <a:srgbClr val="0070C0"/>
                </a:solidFill>
                <a:ea typeface="Cambria" panose="02040503050406030204" pitchFamily="18" charset="0"/>
              </a:rPr>
              <a:t>32</a:t>
            </a:fld>
            <a:endParaRPr lang="en-US" sz="1400">
              <a:solidFill>
                <a:srgbClr val="0070C0"/>
              </a:solidFill>
              <a:ea typeface="Cambria" panose="02040503050406030204" pitchFamily="18" charset="0"/>
            </a:endParaRP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9EA8294-6ED3-3598-2CDF-6A5391B548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 sz="1400">
                <a:solidFill>
                  <a:srgbClr val="0070C0"/>
                </a:solidFill>
                <a:ea typeface="Cambria" panose="02040503050406030204" pitchFamily="18" charset="0"/>
              </a:rPr>
              <a:t>EE/CPE584 Intro to VLSI</a:t>
            </a:r>
            <a:endParaRPr lang="en-US" sz="1400">
              <a:solidFill>
                <a:srgbClr val="0070C0"/>
              </a:solidFill>
              <a:ea typeface="Cambria" panose="02040503050406030204" pitchFamily="18" charset="0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2F13BEC5-053B-A346-2160-E49F843C42AB}"/>
              </a:ext>
            </a:extLst>
          </p:cNvPr>
          <p:cNvSpPr/>
          <p:nvPr/>
        </p:nvSpPr>
        <p:spPr>
          <a:xfrm>
            <a:off x="4223657" y="1785484"/>
            <a:ext cx="4942114" cy="328703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marL="285750" indent="-285750">
              <a:buFontTx/>
              <a:buChar char="-"/>
            </a:pPr>
            <a:r>
              <a:rPr lang="en-US" sz="2000" dirty="0"/>
              <a:t>LAYER</a:t>
            </a:r>
          </a:p>
          <a:p>
            <a:pPr marL="742950" lvl="1" indent="-285750">
              <a:buFontTx/>
              <a:buChar char="-"/>
            </a:pPr>
            <a:r>
              <a:rPr lang="en-US" sz="2000" dirty="0"/>
              <a:t>MASTERSLICE</a:t>
            </a:r>
          </a:p>
          <a:p>
            <a:pPr marL="1200150" lvl="2" indent="-285750">
              <a:buFontTx/>
              <a:buChar char="-"/>
            </a:pPr>
            <a:r>
              <a:rPr lang="en-US" sz="2000" dirty="0"/>
              <a:t>PWELL, NWELL</a:t>
            </a:r>
          </a:p>
          <a:p>
            <a:pPr marL="742950" lvl="1" indent="-285750">
              <a:buFontTx/>
              <a:buChar char="-"/>
            </a:pPr>
            <a:r>
              <a:rPr lang="en-US" sz="2000" dirty="0"/>
              <a:t>IMPLANT </a:t>
            </a:r>
          </a:p>
          <a:p>
            <a:pPr marL="1200150" lvl="2" indent="-285750">
              <a:buFontTx/>
              <a:buChar char="-"/>
            </a:pPr>
            <a:r>
              <a:rPr lang="en-US" sz="2000" dirty="0"/>
              <a:t>VTL_N/P, VTH_N/P</a:t>
            </a:r>
          </a:p>
          <a:p>
            <a:pPr marL="742950" lvl="1" indent="-285750">
              <a:buFontTx/>
              <a:buChar char="-"/>
            </a:pPr>
            <a:r>
              <a:rPr lang="en-US" sz="2000" dirty="0"/>
              <a:t>CUT</a:t>
            </a:r>
          </a:p>
          <a:p>
            <a:pPr marL="1200150" lvl="2" indent="-285750">
              <a:buFontTx/>
              <a:buChar char="-"/>
            </a:pPr>
            <a:r>
              <a:rPr lang="en-US" sz="2000" dirty="0">
                <a:highlight>
                  <a:srgbClr val="FFFF00"/>
                </a:highlight>
              </a:rPr>
              <a:t>CO, VIA1-VIA8</a:t>
            </a:r>
          </a:p>
          <a:p>
            <a:pPr marL="742950" lvl="1" indent="-285750">
              <a:buFontTx/>
              <a:buChar char="-"/>
            </a:pPr>
            <a:r>
              <a:rPr lang="en-US" sz="2000" dirty="0"/>
              <a:t>ROUTING</a:t>
            </a:r>
          </a:p>
          <a:p>
            <a:pPr marL="1200150" lvl="2" indent="-285750">
              <a:buFontTx/>
              <a:buChar char="-"/>
            </a:pPr>
            <a:r>
              <a:rPr lang="en-US" sz="2000" dirty="0"/>
              <a:t>MET1-MET8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2DE3026-F77E-9F6F-A2F4-1C64EFE6C9AA}"/>
              </a:ext>
            </a:extLst>
          </p:cNvPr>
          <p:cNvSpPr txBox="1"/>
          <p:nvPr/>
        </p:nvSpPr>
        <p:spPr>
          <a:xfrm>
            <a:off x="533400" y="1970413"/>
            <a:ext cx="3189515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>
                <a:ea typeface="Cambria" panose="02040503050406030204" pitchFamily="18" charset="0"/>
              </a:rPr>
              <a:t>The script parses all the CUT layers and stores its information. </a:t>
            </a:r>
          </a:p>
        </p:txBody>
      </p:sp>
      <p:cxnSp>
        <p:nvCxnSpPr>
          <p:cNvPr id="18" name="Connector: Elbow 17">
            <a:extLst>
              <a:ext uri="{FF2B5EF4-FFF2-40B4-BE49-F238E27FC236}">
                <a16:creationId xmlns:a16="http://schemas.microsoft.com/office/drawing/2014/main" id="{98B082F6-191D-EAF0-15C6-62449B9DCA10}"/>
              </a:ext>
            </a:extLst>
          </p:cNvPr>
          <p:cNvCxnSpPr>
            <a:cxnSpLocks/>
            <a:stCxn id="15" idx="2"/>
          </p:cNvCxnSpPr>
          <p:nvPr/>
        </p:nvCxnSpPr>
        <p:spPr>
          <a:xfrm rot="16200000" flipH="1">
            <a:off x="2997988" y="2116245"/>
            <a:ext cx="758610" cy="2498271"/>
          </a:xfrm>
          <a:prstGeom prst="bentConnector2">
            <a:avLst/>
          </a:prstGeom>
          <a:ln w="28575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21" name="Title 1">
            <a:extLst>
              <a:ext uri="{FF2B5EF4-FFF2-40B4-BE49-F238E27FC236}">
                <a16:creationId xmlns:a16="http://schemas.microsoft.com/office/drawing/2014/main" id="{1F38D9F2-B52B-E5D1-24F0-2608DF8243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9368"/>
            <a:ext cx="10515600" cy="1325563"/>
          </a:xfrm>
        </p:spPr>
        <p:txBody>
          <a:bodyPr>
            <a:normAutofit/>
          </a:bodyPr>
          <a:lstStyle/>
          <a:p>
            <a:r>
              <a:rPr lang="en-US" sz="4000">
                <a:solidFill>
                  <a:srgbClr val="0070C0"/>
                </a:solidFill>
                <a:latin typeface="+mn-lt"/>
                <a:ea typeface="Cambria" panose="02040503050406030204" pitchFamily="18" charset="0"/>
              </a:rPr>
              <a:t>VIA Obstructions TLEF file</a:t>
            </a:r>
          </a:p>
        </p:txBody>
      </p:sp>
    </p:spTree>
    <p:extLst>
      <p:ext uri="{BB962C8B-B14F-4D97-AF65-F5344CB8AC3E}">
        <p14:creationId xmlns:p14="http://schemas.microsoft.com/office/powerpoint/2010/main" val="4097366626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1396B2-38B1-9927-FE0F-436B09505B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583379-2A18-3A0B-E41C-92A1069B67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9368"/>
            <a:ext cx="10515600" cy="1325563"/>
          </a:xfrm>
        </p:spPr>
        <p:txBody>
          <a:bodyPr>
            <a:normAutofit/>
          </a:bodyPr>
          <a:lstStyle/>
          <a:p>
            <a:r>
              <a:rPr lang="en-US" sz="4000">
                <a:solidFill>
                  <a:srgbClr val="0070C0"/>
                </a:solidFill>
                <a:latin typeface="+mn-lt"/>
                <a:ea typeface="Cambria" panose="02040503050406030204" pitchFamily="18" charset="0"/>
              </a:rPr>
              <a:t>VIA Obstructions LEF file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DD4F58-5EB0-4ED3-A4EF-39F93EE620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6D28ED-750A-4DFC-A458-38B3E79E4C7D}" type="datetime1">
              <a:rPr lang="en-US" sz="1400" smtClean="0">
                <a:solidFill>
                  <a:srgbClr val="0070C0"/>
                </a:solidFill>
                <a:ea typeface="Cambria" panose="02040503050406030204" pitchFamily="18" charset="0"/>
              </a:rPr>
              <a:t>12/19/2025</a:t>
            </a:fld>
            <a:endParaRPr lang="en-US" sz="1400">
              <a:solidFill>
                <a:srgbClr val="0070C0"/>
              </a:solidFill>
              <a:ea typeface="Cambria" panose="02040503050406030204" pitchFamily="18" charset="0"/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BCADDC8-993E-EFA0-BFB8-5A3050C6FD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 sz="1400">
                <a:solidFill>
                  <a:srgbClr val="0070C0"/>
                </a:solidFill>
                <a:ea typeface="Cambria" panose="02040503050406030204" pitchFamily="18" charset="0"/>
              </a:rPr>
              <a:t>EE/CPE584 </a:t>
            </a:r>
            <a:r>
              <a:rPr lang="es-ES" sz="1400" err="1">
                <a:solidFill>
                  <a:srgbClr val="0070C0"/>
                </a:solidFill>
                <a:ea typeface="Cambria" panose="02040503050406030204" pitchFamily="18" charset="0"/>
              </a:rPr>
              <a:t>Intro</a:t>
            </a:r>
            <a:r>
              <a:rPr lang="es-ES" sz="1400">
                <a:solidFill>
                  <a:srgbClr val="0070C0"/>
                </a:solidFill>
                <a:ea typeface="Cambria" panose="02040503050406030204" pitchFamily="18" charset="0"/>
              </a:rPr>
              <a:t> </a:t>
            </a:r>
            <a:r>
              <a:rPr lang="es-ES" sz="1400" err="1">
                <a:solidFill>
                  <a:srgbClr val="0070C0"/>
                </a:solidFill>
                <a:ea typeface="Cambria" panose="02040503050406030204" pitchFamily="18" charset="0"/>
              </a:rPr>
              <a:t>to</a:t>
            </a:r>
            <a:r>
              <a:rPr lang="es-ES" sz="1400">
                <a:solidFill>
                  <a:srgbClr val="0070C0"/>
                </a:solidFill>
                <a:ea typeface="Cambria" panose="02040503050406030204" pitchFamily="18" charset="0"/>
              </a:rPr>
              <a:t> VLSI</a:t>
            </a:r>
            <a:endParaRPr lang="en-US" sz="1400">
              <a:solidFill>
                <a:srgbClr val="0070C0"/>
              </a:solidFill>
              <a:ea typeface="Cambria" panose="02040503050406030204" pitchFamily="18" charset="0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C464B2F-EA35-105B-DD83-683EB05583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8A6112-8193-45F5-863E-CC8218595965}" type="slidenum">
              <a:rPr lang="en-US" sz="1400" smtClean="0">
                <a:solidFill>
                  <a:srgbClr val="0070C0"/>
                </a:solidFill>
                <a:ea typeface="Cambria" panose="02040503050406030204" pitchFamily="18" charset="0"/>
              </a:rPr>
              <a:t>33</a:t>
            </a:fld>
            <a:endParaRPr lang="en-US" sz="1400">
              <a:solidFill>
                <a:srgbClr val="0070C0"/>
              </a:solidFill>
              <a:ea typeface="Cambria" panose="02040503050406030204" pitchFamily="18" charset="0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35DD308-14A0-4C76-57C4-09993DE6C6DF}"/>
              </a:ext>
            </a:extLst>
          </p:cNvPr>
          <p:cNvSpPr/>
          <p:nvPr/>
        </p:nvSpPr>
        <p:spPr>
          <a:xfrm>
            <a:off x="3918857" y="1462711"/>
            <a:ext cx="4572000" cy="3932578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marL="285750" indent="-285750">
              <a:buFontTx/>
              <a:buChar char="-"/>
            </a:pPr>
            <a:r>
              <a:rPr lang="en-US" sz="2400" dirty="0"/>
              <a:t>MACRO     </a:t>
            </a:r>
          </a:p>
          <a:p>
            <a:r>
              <a:rPr lang="en-US" sz="2400" dirty="0"/>
              <a:t>     - CLASS / SIZE / SYMMETRY    </a:t>
            </a:r>
          </a:p>
          <a:p>
            <a:r>
              <a:rPr lang="en-US" sz="2400" dirty="0"/>
              <a:t>     - PIN Statements</a:t>
            </a:r>
          </a:p>
          <a:p>
            <a:pPr marL="1257300" lvl="2" indent="-342900">
              <a:buFont typeface="Arial" panose="020B0604020202020204" pitchFamily="34" charset="0"/>
              <a:buChar char="•"/>
            </a:pPr>
            <a:r>
              <a:rPr lang="en-US" sz="2400" dirty="0"/>
              <a:t>PORT </a:t>
            </a:r>
          </a:p>
          <a:p>
            <a:pPr marL="1714500" lvl="3" indent="-342900">
              <a:buFont typeface="Arial" panose="020B0604020202020204" pitchFamily="34" charset="0"/>
              <a:buChar char="•"/>
            </a:pPr>
            <a:r>
              <a:rPr lang="en-US" sz="2400" dirty="0">
                <a:highlight>
                  <a:srgbClr val="FFFF00"/>
                </a:highlight>
              </a:rPr>
              <a:t>Layer VIA</a:t>
            </a:r>
          </a:p>
          <a:p>
            <a:pPr marL="2171700" lvl="4" indent="-342900">
              <a:buFont typeface="Arial" panose="020B0604020202020204" pitchFamily="34" charset="0"/>
              <a:buChar char="•"/>
            </a:pPr>
            <a:r>
              <a:rPr lang="en-US" sz="2400" dirty="0"/>
              <a:t>VIA Geometry</a:t>
            </a:r>
          </a:p>
          <a:p>
            <a:r>
              <a:rPr lang="en-US" sz="2400" dirty="0"/>
              <a:t>     - OBS</a:t>
            </a:r>
          </a:p>
          <a:p>
            <a:pPr marL="1257300" lvl="2" indent="-342900">
              <a:buFont typeface="Arial" panose="020B0604020202020204" pitchFamily="34" charset="0"/>
              <a:buChar char="•"/>
            </a:pPr>
            <a:r>
              <a:rPr lang="en-US" sz="2400" dirty="0">
                <a:highlight>
                  <a:srgbClr val="FFFF00"/>
                </a:highlight>
              </a:rPr>
              <a:t>Layer VIA</a:t>
            </a:r>
          </a:p>
          <a:p>
            <a:pPr marL="1714500" lvl="3" indent="-342900">
              <a:buFont typeface="Arial" panose="020B0604020202020204" pitchFamily="34" charset="0"/>
              <a:buChar char="•"/>
            </a:pPr>
            <a:r>
              <a:rPr lang="en-US" sz="2400" dirty="0"/>
              <a:t>VIA OBS Geometry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7DA5DAB-0C8E-9886-824D-F94341BF4EF4}"/>
              </a:ext>
            </a:extLst>
          </p:cNvPr>
          <p:cNvSpPr txBox="1"/>
          <p:nvPr/>
        </p:nvSpPr>
        <p:spPr>
          <a:xfrm>
            <a:off x="141514" y="1271767"/>
            <a:ext cx="3668486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>
                <a:ea typeface="Cambria" panose="02040503050406030204" pitchFamily="18" charset="0"/>
              </a:rPr>
              <a:t>1. The script parses all the Pins/Ports to see if there are via layers. If there is, the script saves that via Information.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162B601-FD06-A75E-FB7B-3C0FC3947749}"/>
              </a:ext>
            </a:extLst>
          </p:cNvPr>
          <p:cNvSpPr txBox="1"/>
          <p:nvPr/>
        </p:nvSpPr>
        <p:spPr>
          <a:xfrm>
            <a:off x="8490857" y="1637657"/>
            <a:ext cx="3668486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>
                <a:ea typeface="Cambria" panose="02040503050406030204" pitchFamily="18" charset="0"/>
              </a:rPr>
              <a:t>2. The script then goes to OBS section and checks all the layers. If there is no VIAs, the script will report an error. If VIAs exist, it passes the test.</a:t>
            </a:r>
          </a:p>
        </p:txBody>
      </p:sp>
      <p:cxnSp>
        <p:nvCxnSpPr>
          <p:cNvPr id="14" name="Connector: Elbow 13">
            <a:extLst>
              <a:ext uri="{FF2B5EF4-FFF2-40B4-BE49-F238E27FC236}">
                <a16:creationId xmlns:a16="http://schemas.microsoft.com/office/drawing/2014/main" id="{2F17471D-2E39-30BC-5D7F-DEBBF9FB9C1B}"/>
              </a:ext>
            </a:extLst>
          </p:cNvPr>
          <p:cNvCxnSpPr>
            <a:cxnSpLocks/>
            <a:stCxn id="10" idx="2"/>
          </p:cNvCxnSpPr>
          <p:nvPr/>
        </p:nvCxnSpPr>
        <p:spPr>
          <a:xfrm rot="16200000" flipH="1">
            <a:off x="3063811" y="1507152"/>
            <a:ext cx="93565" cy="2269672"/>
          </a:xfrm>
          <a:prstGeom prst="bentConnector2">
            <a:avLst/>
          </a:prstGeom>
          <a:ln w="28575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7" name="Connector: Elbow 16">
            <a:extLst>
              <a:ext uri="{FF2B5EF4-FFF2-40B4-BE49-F238E27FC236}">
                <a16:creationId xmlns:a16="http://schemas.microsoft.com/office/drawing/2014/main" id="{A361D909-487D-5C28-56D5-6B35A4D64775}"/>
              </a:ext>
            </a:extLst>
          </p:cNvPr>
          <p:cNvCxnSpPr>
            <a:cxnSpLocks/>
            <a:stCxn id="12" idx="2"/>
          </p:cNvCxnSpPr>
          <p:nvPr/>
        </p:nvCxnSpPr>
        <p:spPr>
          <a:xfrm rot="5400000">
            <a:off x="7456660" y="1211527"/>
            <a:ext cx="811094" cy="4925786"/>
          </a:xfrm>
          <a:prstGeom prst="bentConnector2">
            <a:avLst/>
          </a:prstGeom>
          <a:ln w="28575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61602919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21926D-F0C7-D0A3-B889-9552AABD7A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638E73-E4F9-F7DE-644B-A99C236A59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9368"/>
            <a:ext cx="10515600" cy="1325563"/>
          </a:xfrm>
        </p:spPr>
        <p:txBody>
          <a:bodyPr>
            <a:normAutofit/>
          </a:bodyPr>
          <a:lstStyle/>
          <a:p>
            <a:r>
              <a:rPr lang="en-US" sz="4000">
                <a:solidFill>
                  <a:srgbClr val="0070C0"/>
                </a:solidFill>
                <a:latin typeface="+mn-lt"/>
                <a:ea typeface="Cambria" panose="02040503050406030204" pitchFamily="18" charset="0"/>
              </a:rPr>
              <a:t>VIA Obstructions Flowchart Part 1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A956724-3144-C1D6-E028-0EDF2C3ABC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6D28ED-750A-4DFC-A458-38B3E79E4C7D}" type="datetime1">
              <a:rPr lang="en-US" sz="1400" smtClean="0">
                <a:solidFill>
                  <a:srgbClr val="0070C0"/>
                </a:solidFill>
                <a:ea typeface="Cambria" panose="02040503050406030204" pitchFamily="18" charset="0"/>
              </a:rPr>
              <a:t>12/19/2025</a:t>
            </a:fld>
            <a:endParaRPr lang="en-US" sz="1400">
              <a:solidFill>
                <a:srgbClr val="0070C0"/>
              </a:solidFill>
              <a:ea typeface="Cambria" panose="02040503050406030204" pitchFamily="18" charset="0"/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9CFA17D-AD3D-9CB2-9E7E-CFD2467CA0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 sz="1400">
                <a:solidFill>
                  <a:srgbClr val="0070C0"/>
                </a:solidFill>
                <a:ea typeface="Cambria" panose="02040503050406030204" pitchFamily="18" charset="0"/>
              </a:rPr>
              <a:t>EE/CPE584 </a:t>
            </a:r>
            <a:r>
              <a:rPr lang="es-ES" sz="1400" err="1">
                <a:solidFill>
                  <a:srgbClr val="0070C0"/>
                </a:solidFill>
                <a:ea typeface="Cambria" panose="02040503050406030204" pitchFamily="18" charset="0"/>
              </a:rPr>
              <a:t>Intro</a:t>
            </a:r>
            <a:r>
              <a:rPr lang="es-ES" sz="1400">
                <a:solidFill>
                  <a:srgbClr val="0070C0"/>
                </a:solidFill>
                <a:ea typeface="Cambria" panose="02040503050406030204" pitchFamily="18" charset="0"/>
              </a:rPr>
              <a:t> </a:t>
            </a:r>
            <a:r>
              <a:rPr lang="es-ES" sz="1400" err="1">
                <a:solidFill>
                  <a:srgbClr val="0070C0"/>
                </a:solidFill>
                <a:ea typeface="Cambria" panose="02040503050406030204" pitchFamily="18" charset="0"/>
              </a:rPr>
              <a:t>to</a:t>
            </a:r>
            <a:r>
              <a:rPr lang="es-ES" sz="1400">
                <a:solidFill>
                  <a:srgbClr val="0070C0"/>
                </a:solidFill>
                <a:ea typeface="Cambria" panose="02040503050406030204" pitchFamily="18" charset="0"/>
              </a:rPr>
              <a:t> VLSI</a:t>
            </a:r>
            <a:endParaRPr lang="en-US" sz="1400">
              <a:solidFill>
                <a:srgbClr val="0070C0"/>
              </a:solidFill>
              <a:ea typeface="Cambria" panose="02040503050406030204" pitchFamily="18" charset="0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53430DF-E257-A543-A14F-94ACBA6AFC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8A6112-8193-45F5-863E-CC8218595965}" type="slidenum">
              <a:rPr lang="en-US" sz="1400" smtClean="0">
                <a:solidFill>
                  <a:srgbClr val="0070C0"/>
                </a:solidFill>
                <a:ea typeface="Cambria" panose="02040503050406030204" pitchFamily="18" charset="0"/>
              </a:rPr>
              <a:t>34</a:t>
            </a:fld>
            <a:endParaRPr lang="en-US" sz="1400">
              <a:solidFill>
                <a:srgbClr val="0070C0"/>
              </a:solidFill>
              <a:ea typeface="Cambria" panose="02040503050406030204" pitchFamily="18" charset="0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986A200E-837D-A59E-9FDF-F990B0E2E6B1}"/>
              </a:ext>
            </a:extLst>
          </p:cNvPr>
          <p:cNvSpPr/>
          <p:nvPr/>
        </p:nvSpPr>
        <p:spPr>
          <a:xfrm>
            <a:off x="4936671" y="2319049"/>
            <a:ext cx="2318657" cy="772886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>
                <a:ea typeface="Cambria" panose="02040503050406030204" pitchFamily="18" charset="0"/>
              </a:rPr>
              <a:t>Is TLEF file provided</a:t>
            </a:r>
          </a:p>
        </p:txBody>
      </p:sp>
      <p:cxnSp>
        <p:nvCxnSpPr>
          <p:cNvPr id="14" name="Connector: Elbow 13">
            <a:extLst>
              <a:ext uri="{FF2B5EF4-FFF2-40B4-BE49-F238E27FC236}">
                <a16:creationId xmlns:a16="http://schemas.microsoft.com/office/drawing/2014/main" id="{E854FE4A-F7A3-47ED-E19F-F6224D19FEEE}"/>
              </a:ext>
            </a:extLst>
          </p:cNvPr>
          <p:cNvCxnSpPr>
            <a:cxnSpLocks/>
            <a:stCxn id="9" idx="1"/>
            <a:endCxn id="31" idx="2"/>
          </p:cNvCxnSpPr>
          <p:nvPr/>
        </p:nvCxnSpPr>
        <p:spPr>
          <a:xfrm rot="10800000">
            <a:off x="3966955" y="2703596"/>
            <a:ext cx="969716" cy="1897"/>
          </a:xfrm>
          <a:prstGeom prst="bentConnector3">
            <a:avLst>
              <a:gd name="adj1" fmla="val 50000"/>
            </a:avLst>
          </a:prstGeom>
          <a:ln w="28575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6" name="Connector: Elbow 15">
            <a:extLst>
              <a:ext uri="{FF2B5EF4-FFF2-40B4-BE49-F238E27FC236}">
                <a16:creationId xmlns:a16="http://schemas.microsoft.com/office/drawing/2014/main" id="{8EC2CC48-96B6-FDD9-3DF7-0754A45B2D1A}"/>
              </a:ext>
            </a:extLst>
          </p:cNvPr>
          <p:cNvCxnSpPr>
            <a:cxnSpLocks/>
            <a:stCxn id="9" idx="3"/>
            <a:endCxn id="18" idx="0"/>
          </p:cNvCxnSpPr>
          <p:nvPr/>
        </p:nvCxnSpPr>
        <p:spPr>
          <a:xfrm>
            <a:off x="7255328" y="2705492"/>
            <a:ext cx="898072" cy="582386"/>
          </a:xfrm>
          <a:prstGeom prst="bentConnector2">
            <a:avLst/>
          </a:prstGeom>
          <a:ln w="28575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18" name="Rectangle 17">
            <a:extLst>
              <a:ext uri="{FF2B5EF4-FFF2-40B4-BE49-F238E27FC236}">
                <a16:creationId xmlns:a16="http://schemas.microsoft.com/office/drawing/2014/main" id="{6D35482D-CD61-FA79-4158-108973F81DA5}"/>
              </a:ext>
            </a:extLst>
          </p:cNvPr>
          <p:cNvSpPr/>
          <p:nvPr/>
        </p:nvSpPr>
        <p:spPr>
          <a:xfrm>
            <a:off x="6855278" y="3287878"/>
            <a:ext cx="2596243" cy="1045028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>
                <a:ea typeface="Cambria" panose="02040503050406030204" pitchFamily="18" charset="0"/>
              </a:rPr>
              <a:t>Parse TLEF</a:t>
            </a:r>
          </a:p>
          <a:p>
            <a:pPr algn="ctr"/>
            <a:r>
              <a:rPr lang="en-US">
                <a:ea typeface="Cambria" panose="02040503050406030204" pitchFamily="18" charset="0"/>
              </a:rPr>
              <a:t>Extract all Cut layers</a:t>
            </a:r>
          </a:p>
        </p:txBody>
      </p:sp>
      <p:cxnSp>
        <p:nvCxnSpPr>
          <p:cNvPr id="20" name="Connector: Elbow 19">
            <a:extLst>
              <a:ext uri="{FF2B5EF4-FFF2-40B4-BE49-F238E27FC236}">
                <a16:creationId xmlns:a16="http://schemas.microsoft.com/office/drawing/2014/main" id="{DF61BEFD-18BB-E6ED-F595-07CF69C89C39}"/>
              </a:ext>
            </a:extLst>
          </p:cNvPr>
          <p:cNvCxnSpPr>
            <a:cxnSpLocks/>
            <a:stCxn id="34" idx="3"/>
            <a:endCxn id="26" idx="0"/>
          </p:cNvCxnSpPr>
          <p:nvPr/>
        </p:nvCxnSpPr>
        <p:spPr>
          <a:xfrm>
            <a:off x="3926133" y="4563382"/>
            <a:ext cx="2169868" cy="230476"/>
          </a:xfrm>
          <a:prstGeom prst="bentConnector2">
            <a:avLst/>
          </a:prstGeom>
          <a:ln w="28575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3" name="Connector: Elbow 22">
            <a:extLst>
              <a:ext uri="{FF2B5EF4-FFF2-40B4-BE49-F238E27FC236}">
                <a16:creationId xmlns:a16="http://schemas.microsoft.com/office/drawing/2014/main" id="{1DD7EF60-A7EE-48AC-15E5-F3171886B221}"/>
              </a:ext>
            </a:extLst>
          </p:cNvPr>
          <p:cNvCxnSpPr>
            <a:cxnSpLocks/>
            <a:stCxn id="18" idx="2"/>
            <a:endCxn id="26" idx="0"/>
          </p:cNvCxnSpPr>
          <p:nvPr/>
        </p:nvCxnSpPr>
        <p:spPr>
          <a:xfrm rot="5400000">
            <a:off x="6894225" y="3534683"/>
            <a:ext cx="460952" cy="2057399"/>
          </a:xfrm>
          <a:prstGeom prst="bentConnector3">
            <a:avLst>
              <a:gd name="adj1" fmla="val 50000"/>
            </a:avLst>
          </a:prstGeom>
          <a:ln w="28575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26" name="Rectangle 25">
            <a:extLst>
              <a:ext uri="{FF2B5EF4-FFF2-40B4-BE49-F238E27FC236}">
                <a16:creationId xmlns:a16="http://schemas.microsoft.com/office/drawing/2014/main" id="{D76C5316-A470-4AB5-A257-7337DBAAFE90}"/>
              </a:ext>
            </a:extLst>
          </p:cNvPr>
          <p:cNvSpPr/>
          <p:nvPr/>
        </p:nvSpPr>
        <p:spPr>
          <a:xfrm>
            <a:off x="4936672" y="4793858"/>
            <a:ext cx="2318657" cy="772886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>
                <a:ea typeface="Cambria" panose="02040503050406030204" pitchFamily="18" charset="0"/>
              </a:rPr>
              <a:t>Parse LEF File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B141546B-3B7C-E69A-147F-7E443AB84CB3}"/>
              </a:ext>
            </a:extLst>
          </p:cNvPr>
          <p:cNvSpPr txBox="1"/>
          <p:nvPr/>
        </p:nvSpPr>
        <p:spPr>
          <a:xfrm>
            <a:off x="7391555" y="2341213"/>
            <a:ext cx="52764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>
                <a:ea typeface="Cambria" panose="02040503050406030204" pitchFamily="18" charset="0"/>
              </a:rPr>
              <a:t>Yes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7F514B5C-1D87-B659-2F44-380D86F1AA97}"/>
              </a:ext>
            </a:extLst>
          </p:cNvPr>
          <p:cNvSpPr txBox="1"/>
          <p:nvPr/>
        </p:nvSpPr>
        <p:spPr>
          <a:xfrm>
            <a:off x="4179642" y="2298184"/>
            <a:ext cx="4748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>
                <a:ea typeface="Cambria" panose="02040503050406030204" pitchFamily="18" charset="0"/>
              </a:rPr>
              <a:t>No</a:t>
            </a:r>
          </a:p>
        </p:txBody>
      </p: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75AB30C1-7271-06C9-8275-1F1CF5963BB6}"/>
              </a:ext>
            </a:extLst>
          </p:cNvPr>
          <p:cNvCxnSpPr>
            <a:cxnSpLocks/>
            <a:stCxn id="26" idx="2"/>
          </p:cNvCxnSpPr>
          <p:nvPr/>
        </p:nvCxnSpPr>
        <p:spPr>
          <a:xfrm>
            <a:off x="6096001" y="5566744"/>
            <a:ext cx="0" cy="397720"/>
          </a:xfrm>
          <a:prstGeom prst="straightConnector1">
            <a:avLst/>
          </a:prstGeom>
          <a:ln w="28575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33" name="TextBox 32">
            <a:extLst>
              <a:ext uri="{FF2B5EF4-FFF2-40B4-BE49-F238E27FC236}">
                <a16:creationId xmlns:a16="http://schemas.microsoft.com/office/drawing/2014/main" id="{9E6A9A70-E834-8672-52D2-BAABF99E1929}"/>
              </a:ext>
            </a:extLst>
          </p:cNvPr>
          <p:cNvSpPr txBox="1"/>
          <p:nvPr/>
        </p:nvSpPr>
        <p:spPr>
          <a:xfrm>
            <a:off x="5508883" y="5987018"/>
            <a:ext cx="125040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>
                <a:ea typeface="Cambria" panose="02040503050406030204" pitchFamily="18" charset="0"/>
              </a:rPr>
              <a:t>Next Slide</a:t>
            </a:r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1FB666DE-63DA-9506-D9A8-74AB05CC071C}"/>
              </a:ext>
            </a:extLst>
          </p:cNvPr>
          <p:cNvSpPr/>
          <p:nvPr/>
        </p:nvSpPr>
        <p:spPr>
          <a:xfrm>
            <a:off x="5429249" y="1089850"/>
            <a:ext cx="1333500" cy="659884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/>
              <a:t>Start</a:t>
            </a:r>
          </a:p>
        </p:txBody>
      </p: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72A02412-B51D-A3E5-CB33-2F9D5D23B355}"/>
              </a:ext>
            </a:extLst>
          </p:cNvPr>
          <p:cNvCxnSpPr>
            <a:cxnSpLocks/>
            <a:stCxn id="21" idx="4"/>
            <a:endCxn id="9" idx="0"/>
          </p:cNvCxnSpPr>
          <p:nvPr/>
        </p:nvCxnSpPr>
        <p:spPr>
          <a:xfrm>
            <a:off x="6095999" y="1749734"/>
            <a:ext cx="1" cy="569315"/>
          </a:xfrm>
          <a:prstGeom prst="straightConnector1">
            <a:avLst/>
          </a:prstGeom>
          <a:ln w="28575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31" name="Parallelogram 30">
            <a:extLst>
              <a:ext uri="{FF2B5EF4-FFF2-40B4-BE49-F238E27FC236}">
                <a16:creationId xmlns:a16="http://schemas.microsoft.com/office/drawing/2014/main" id="{9C677729-D030-53AA-FB47-A8A16C21D42B}"/>
              </a:ext>
            </a:extLst>
          </p:cNvPr>
          <p:cNvSpPr/>
          <p:nvPr/>
        </p:nvSpPr>
        <p:spPr>
          <a:xfrm>
            <a:off x="1744909" y="2317152"/>
            <a:ext cx="2318657" cy="772886"/>
          </a:xfrm>
          <a:prstGeom prst="parallelogram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>
                <a:ea typeface="Cambria" panose="02040503050406030204" pitchFamily="18" charset="0"/>
              </a:rPr>
              <a:t>“Warning: NO TLEF Found”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F944107B-0BF7-4294-2383-0D1682B43F86}"/>
              </a:ext>
            </a:extLst>
          </p:cNvPr>
          <p:cNvSpPr/>
          <p:nvPr/>
        </p:nvSpPr>
        <p:spPr>
          <a:xfrm>
            <a:off x="1868733" y="4119078"/>
            <a:ext cx="2057400" cy="888608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>
                <a:ea typeface="Cambria" panose="02040503050406030204" pitchFamily="18" charset="0"/>
              </a:rPr>
              <a:t>Use predefined layers</a:t>
            </a:r>
          </a:p>
        </p:txBody>
      </p:sp>
      <p:cxnSp>
        <p:nvCxnSpPr>
          <p:cNvPr id="45" name="Straight Arrow Connector 44">
            <a:extLst>
              <a:ext uri="{FF2B5EF4-FFF2-40B4-BE49-F238E27FC236}">
                <a16:creationId xmlns:a16="http://schemas.microsoft.com/office/drawing/2014/main" id="{14F13605-3E7E-E363-C423-944F5985C684}"/>
              </a:ext>
            </a:extLst>
          </p:cNvPr>
          <p:cNvCxnSpPr>
            <a:cxnSpLocks/>
            <a:stCxn id="31" idx="4"/>
            <a:endCxn id="34" idx="0"/>
          </p:cNvCxnSpPr>
          <p:nvPr/>
        </p:nvCxnSpPr>
        <p:spPr>
          <a:xfrm flipH="1">
            <a:off x="2897433" y="3090038"/>
            <a:ext cx="6805" cy="1029040"/>
          </a:xfrm>
          <a:prstGeom prst="straightConnector1">
            <a:avLst/>
          </a:prstGeom>
          <a:ln w="28575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25313232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120A74-EBE0-13C1-E103-E0C2D3CD73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1D9BA8-1BEB-3158-5E89-50B36D272D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29368"/>
            <a:ext cx="10853057" cy="1325563"/>
          </a:xfrm>
        </p:spPr>
        <p:txBody>
          <a:bodyPr>
            <a:normAutofit/>
          </a:bodyPr>
          <a:lstStyle/>
          <a:p>
            <a:r>
              <a:rPr lang="en-US" sz="4000">
                <a:solidFill>
                  <a:srgbClr val="0070C0"/>
                </a:solidFill>
                <a:latin typeface="+mn-lt"/>
                <a:ea typeface="Cambria" panose="02040503050406030204" pitchFamily="18" charset="0"/>
              </a:rPr>
              <a:t>VIA Obstructions Flowchart Part 2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29C66D4-6E31-EECF-682E-B244436839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6D28ED-750A-4DFC-A458-38B3E79E4C7D}" type="datetime1">
              <a:rPr lang="en-US" sz="1400" smtClean="0">
                <a:solidFill>
                  <a:srgbClr val="0070C0"/>
                </a:solidFill>
                <a:ea typeface="Cambria" panose="02040503050406030204" pitchFamily="18" charset="0"/>
              </a:rPr>
              <a:t>12/19/2025</a:t>
            </a:fld>
            <a:endParaRPr lang="en-US" sz="1400">
              <a:solidFill>
                <a:srgbClr val="0070C0"/>
              </a:solidFill>
              <a:ea typeface="Cambria" panose="02040503050406030204" pitchFamily="18" charset="0"/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40BA719-E3DB-E3C3-D984-20B53C28AF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 sz="1400">
                <a:solidFill>
                  <a:srgbClr val="0070C0"/>
                </a:solidFill>
                <a:ea typeface="Cambria" panose="02040503050406030204" pitchFamily="18" charset="0"/>
              </a:rPr>
              <a:t>EE/CPE584 </a:t>
            </a:r>
            <a:r>
              <a:rPr lang="es-ES" sz="1400" err="1">
                <a:solidFill>
                  <a:srgbClr val="0070C0"/>
                </a:solidFill>
                <a:ea typeface="Cambria" panose="02040503050406030204" pitchFamily="18" charset="0"/>
              </a:rPr>
              <a:t>Intro</a:t>
            </a:r>
            <a:r>
              <a:rPr lang="es-ES" sz="1400">
                <a:solidFill>
                  <a:srgbClr val="0070C0"/>
                </a:solidFill>
                <a:ea typeface="Cambria" panose="02040503050406030204" pitchFamily="18" charset="0"/>
              </a:rPr>
              <a:t> </a:t>
            </a:r>
            <a:r>
              <a:rPr lang="es-ES" sz="1400" err="1">
                <a:solidFill>
                  <a:srgbClr val="0070C0"/>
                </a:solidFill>
                <a:ea typeface="Cambria" panose="02040503050406030204" pitchFamily="18" charset="0"/>
              </a:rPr>
              <a:t>to</a:t>
            </a:r>
            <a:r>
              <a:rPr lang="es-ES" sz="1400">
                <a:solidFill>
                  <a:srgbClr val="0070C0"/>
                </a:solidFill>
                <a:ea typeface="Cambria" panose="02040503050406030204" pitchFamily="18" charset="0"/>
              </a:rPr>
              <a:t> VLSI</a:t>
            </a:r>
            <a:endParaRPr lang="en-US" sz="1400">
              <a:solidFill>
                <a:srgbClr val="0070C0"/>
              </a:solidFill>
              <a:ea typeface="Cambria" panose="02040503050406030204" pitchFamily="18" charset="0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7FE4AB3-2322-3FBB-2CC8-0072970FD3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8A6112-8193-45F5-863E-CC8218595965}" type="slidenum">
              <a:rPr lang="en-US" sz="1400" smtClean="0">
                <a:solidFill>
                  <a:srgbClr val="0070C0"/>
                </a:solidFill>
                <a:ea typeface="Cambria" panose="02040503050406030204" pitchFamily="18" charset="0"/>
              </a:rPr>
              <a:t>35</a:t>
            </a:fld>
            <a:endParaRPr lang="en-US" sz="1400">
              <a:solidFill>
                <a:srgbClr val="0070C0"/>
              </a:solidFill>
              <a:ea typeface="Cambria" panose="02040503050406030204" pitchFamily="18" charset="0"/>
            </a:endParaRP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8C40E0CF-7634-43EB-7480-AF72B4F38E0E}"/>
              </a:ext>
            </a:extLst>
          </p:cNvPr>
          <p:cNvSpPr/>
          <p:nvPr/>
        </p:nvSpPr>
        <p:spPr>
          <a:xfrm>
            <a:off x="942440" y="1988117"/>
            <a:ext cx="2073729" cy="772886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>
                <a:ea typeface="Cambria" panose="02040503050406030204" pitchFamily="18" charset="0"/>
              </a:rPr>
              <a:t>For each Layer in Pin/Port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8F817B64-8A8D-D703-8D1F-D693534A5927}"/>
              </a:ext>
            </a:extLst>
          </p:cNvPr>
          <p:cNvSpPr txBox="1"/>
          <p:nvPr/>
        </p:nvSpPr>
        <p:spPr>
          <a:xfrm>
            <a:off x="2836866" y="4198598"/>
            <a:ext cx="52764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>
                <a:ea typeface="Cambria" panose="02040503050406030204" pitchFamily="18" charset="0"/>
              </a:rPr>
              <a:t>Yes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53F78C2F-FB3C-C41C-F397-94A25F77520C}"/>
              </a:ext>
            </a:extLst>
          </p:cNvPr>
          <p:cNvSpPr txBox="1"/>
          <p:nvPr/>
        </p:nvSpPr>
        <p:spPr>
          <a:xfrm>
            <a:off x="782375" y="4198598"/>
            <a:ext cx="4748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>
                <a:ea typeface="Cambria" panose="02040503050406030204" pitchFamily="18" charset="0"/>
              </a:rPr>
              <a:t>No</a:t>
            </a:r>
          </a:p>
        </p:txBody>
      </p: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220AA62D-7ABF-2890-EEF9-5B8A070E1448}"/>
              </a:ext>
            </a:extLst>
          </p:cNvPr>
          <p:cNvCxnSpPr>
            <a:cxnSpLocks/>
          </p:cNvCxnSpPr>
          <p:nvPr/>
        </p:nvCxnSpPr>
        <p:spPr>
          <a:xfrm flipH="1">
            <a:off x="1927596" y="1405731"/>
            <a:ext cx="1" cy="582386"/>
          </a:xfrm>
          <a:prstGeom prst="straightConnector1">
            <a:avLst/>
          </a:prstGeom>
          <a:ln w="28575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33" name="TextBox 32">
            <a:extLst>
              <a:ext uri="{FF2B5EF4-FFF2-40B4-BE49-F238E27FC236}">
                <a16:creationId xmlns:a16="http://schemas.microsoft.com/office/drawing/2014/main" id="{4720F560-663D-9E83-617B-44C08B367EE1}"/>
              </a:ext>
            </a:extLst>
          </p:cNvPr>
          <p:cNvSpPr txBox="1"/>
          <p:nvPr/>
        </p:nvSpPr>
        <p:spPr>
          <a:xfrm>
            <a:off x="1136770" y="1036399"/>
            <a:ext cx="168732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>
                <a:ea typeface="Cambria" panose="02040503050406030204" pitchFamily="18" charset="0"/>
              </a:rPr>
              <a:t>Previous Slide</a:t>
            </a:r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9FDC9065-D5A4-4A3A-0411-29899B34CB57}"/>
              </a:ext>
            </a:extLst>
          </p:cNvPr>
          <p:cNvCxnSpPr>
            <a:cxnSpLocks/>
            <a:stCxn id="26" idx="2"/>
            <a:endCxn id="101" idx="0"/>
          </p:cNvCxnSpPr>
          <p:nvPr/>
        </p:nvCxnSpPr>
        <p:spPr>
          <a:xfrm flipH="1">
            <a:off x="1970063" y="2761003"/>
            <a:ext cx="9242" cy="443258"/>
          </a:xfrm>
          <a:prstGeom prst="straightConnector1">
            <a:avLst/>
          </a:prstGeom>
          <a:ln w="28575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7CAE6F47-DC93-54DD-C11D-727FDD39F69A}"/>
              </a:ext>
            </a:extLst>
          </p:cNvPr>
          <p:cNvCxnSpPr>
            <a:cxnSpLocks/>
          </p:cNvCxnSpPr>
          <p:nvPr/>
        </p:nvCxnSpPr>
        <p:spPr>
          <a:xfrm flipH="1">
            <a:off x="1328882" y="4116275"/>
            <a:ext cx="1" cy="582386"/>
          </a:xfrm>
          <a:prstGeom prst="straightConnector1">
            <a:avLst/>
          </a:prstGeom>
          <a:ln w="28575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F5B1CE6D-731D-1C74-B02B-70EDE97833BE}"/>
              </a:ext>
            </a:extLst>
          </p:cNvPr>
          <p:cNvCxnSpPr>
            <a:cxnSpLocks/>
          </p:cNvCxnSpPr>
          <p:nvPr/>
        </p:nvCxnSpPr>
        <p:spPr>
          <a:xfrm flipH="1">
            <a:off x="2689944" y="4116275"/>
            <a:ext cx="1" cy="582386"/>
          </a:xfrm>
          <a:prstGeom prst="straightConnector1">
            <a:avLst/>
          </a:prstGeom>
          <a:ln w="28575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10" name="Rectangle 9">
            <a:extLst>
              <a:ext uri="{FF2B5EF4-FFF2-40B4-BE49-F238E27FC236}">
                <a16:creationId xmlns:a16="http://schemas.microsoft.com/office/drawing/2014/main" id="{49D4E8CF-D1BB-BE37-8B7C-AAD56EF93B27}"/>
              </a:ext>
            </a:extLst>
          </p:cNvPr>
          <p:cNvSpPr/>
          <p:nvPr/>
        </p:nvSpPr>
        <p:spPr>
          <a:xfrm>
            <a:off x="933469" y="4714654"/>
            <a:ext cx="790826" cy="772886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>
                <a:ea typeface="Cambria" panose="02040503050406030204" pitchFamily="18" charset="0"/>
              </a:rPr>
              <a:t>Skip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714215CA-057A-D2DC-267B-AD0758991D29}"/>
              </a:ext>
            </a:extLst>
          </p:cNvPr>
          <p:cNvSpPr/>
          <p:nvPr/>
        </p:nvSpPr>
        <p:spPr>
          <a:xfrm>
            <a:off x="2323008" y="4692208"/>
            <a:ext cx="1509590" cy="772886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>
                <a:ea typeface="Cambria" panose="02040503050406030204" pitchFamily="18" charset="0"/>
              </a:rPr>
              <a:t>Store Pin and Layer Name</a:t>
            </a:r>
          </a:p>
        </p:txBody>
      </p:sp>
      <p:cxnSp>
        <p:nvCxnSpPr>
          <p:cNvPr id="13" name="Connector: Elbow 12">
            <a:extLst>
              <a:ext uri="{FF2B5EF4-FFF2-40B4-BE49-F238E27FC236}">
                <a16:creationId xmlns:a16="http://schemas.microsoft.com/office/drawing/2014/main" id="{5E2BB288-1EB4-69F4-39FB-00D23C48C51A}"/>
              </a:ext>
            </a:extLst>
          </p:cNvPr>
          <p:cNvCxnSpPr>
            <a:cxnSpLocks/>
            <a:stCxn id="10" idx="2"/>
            <a:endCxn id="105" idx="1"/>
          </p:cNvCxnSpPr>
          <p:nvPr/>
        </p:nvCxnSpPr>
        <p:spPr>
          <a:xfrm rot="5400000" flipH="1" flipV="1">
            <a:off x="1231549" y="1708355"/>
            <a:ext cx="3876518" cy="3681852"/>
          </a:xfrm>
          <a:prstGeom prst="bentConnector4">
            <a:avLst>
              <a:gd name="adj1" fmla="val -18560"/>
              <a:gd name="adj2" fmla="val 81774"/>
            </a:avLst>
          </a:prstGeom>
          <a:ln w="2857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>
            <a:extLst>
              <a:ext uri="{FF2B5EF4-FFF2-40B4-BE49-F238E27FC236}">
                <a16:creationId xmlns:a16="http://schemas.microsoft.com/office/drawing/2014/main" id="{368BE813-AD68-1703-9182-141640E30703}"/>
              </a:ext>
            </a:extLst>
          </p:cNvPr>
          <p:cNvSpPr txBox="1"/>
          <p:nvPr/>
        </p:nvSpPr>
        <p:spPr>
          <a:xfrm>
            <a:off x="7126570" y="1131453"/>
            <a:ext cx="4748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>
                <a:ea typeface="Cambria" panose="02040503050406030204" pitchFamily="18" charset="0"/>
              </a:rPr>
              <a:t>No</a:t>
            </a:r>
          </a:p>
        </p:txBody>
      </p:sp>
      <p:cxnSp>
        <p:nvCxnSpPr>
          <p:cNvPr id="45" name="Straight Arrow Connector 44">
            <a:extLst>
              <a:ext uri="{FF2B5EF4-FFF2-40B4-BE49-F238E27FC236}">
                <a16:creationId xmlns:a16="http://schemas.microsoft.com/office/drawing/2014/main" id="{16DB1459-DD77-8C23-109C-6D8253314E34}"/>
              </a:ext>
            </a:extLst>
          </p:cNvPr>
          <p:cNvCxnSpPr>
            <a:cxnSpLocks/>
          </p:cNvCxnSpPr>
          <p:nvPr/>
        </p:nvCxnSpPr>
        <p:spPr>
          <a:xfrm>
            <a:off x="6954388" y="1601674"/>
            <a:ext cx="807952" cy="0"/>
          </a:xfrm>
          <a:prstGeom prst="straightConnector1">
            <a:avLst/>
          </a:prstGeom>
          <a:ln w="28575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55" name="TextBox 54">
            <a:extLst>
              <a:ext uri="{FF2B5EF4-FFF2-40B4-BE49-F238E27FC236}">
                <a16:creationId xmlns:a16="http://schemas.microsoft.com/office/drawing/2014/main" id="{0DF60CF3-0AD2-1FEA-CE37-3F5891CFA651}"/>
              </a:ext>
            </a:extLst>
          </p:cNvPr>
          <p:cNvSpPr txBox="1"/>
          <p:nvPr/>
        </p:nvSpPr>
        <p:spPr>
          <a:xfrm>
            <a:off x="5363569" y="2061521"/>
            <a:ext cx="52764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>
                <a:ea typeface="Cambria" panose="02040503050406030204" pitchFamily="18" charset="0"/>
              </a:rPr>
              <a:t>Yes</a:t>
            </a:r>
          </a:p>
        </p:txBody>
      </p:sp>
      <p:cxnSp>
        <p:nvCxnSpPr>
          <p:cNvPr id="56" name="Straight Arrow Connector 55">
            <a:extLst>
              <a:ext uri="{FF2B5EF4-FFF2-40B4-BE49-F238E27FC236}">
                <a16:creationId xmlns:a16="http://schemas.microsoft.com/office/drawing/2014/main" id="{E4223A8F-6A06-32C5-9CB8-52394671F670}"/>
              </a:ext>
            </a:extLst>
          </p:cNvPr>
          <p:cNvCxnSpPr>
            <a:cxnSpLocks/>
            <a:endCxn id="134" idx="0"/>
          </p:cNvCxnSpPr>
          <p:nvPr/>
        </p:nvCxnSpPr>
        <p:spPr>
          <a:xfrm flipH="1">
            <a:off x="5982561" y="2159836"/>
            <a:ext cx="3332" cy="778940"/>
          </a:xfrm>
          <a:prstGeom prst="straightConnector1">
            <a:avLst/>
          </a:prstGeom>
          <a:ln w="28575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59" name="TextBox 58">
            <a:extLst>
              <a:ext uri="{FF2B5EF4-FFF2-40B4-BE49-F238E27FC236}">
                <a16:creationId xmlns:a16="http://schemas.microsoft.com/office/drawing/2014/main" id="{B2674963-9F82-3037-9DD1-5755C09F49AA}"/>
              </a:ext>
            </a:extLst>
          </p:cNvPr>
          <p:cNvSpPr txBox="1"/>
          <p:nvPr/>
        </p:nvSpPr>
        <p:spPr>
          <a:xfrm>
            <a:off x="7139729" y="3094606"/>
            <a:ext cx="4748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>
                <a:ea typeface="Cambria" panose="02040503050406030204" pitchFamily="18" charset="0"/>
              </a:rPr>
              <a:t>No</a:t>
            </a:r>
          </a:p>
        </p:txBody>
      </p:sp>
      <p:cxnSp>
        <p:nvCxnSpPr>
          <p:cNvPr id="60" name="Straight Arrow Connector 59">
            <a:extLst>
              <a:ext uri="{FF2B5EF4-FFF2-40B4-BE49-F238E27FC236}">
                <a16:creationId xmlns:a16="http://schemas.microsoft.com/office/drawing/2014/main" id="{ECAE290D-0551-78C6-F9A4-4611B7476493}"/>
              </a:ext>
            </a:extLst>
          </p:cNvPr>
          <p:cNvCxnSpPr>
            <a:cxnSpLocks/>
            <a:stCxn id="134" idx="3"/>
          </p:cNvCxnSpPr>
          <p:nvPr/>
        </p:nvCxnSpPr>
        <p:spPr>
          <a:xfrm>
            <a:off x="6954388" y="3487591"/>
            <a:ext cx="838093" cy="1408"/>
          </a:xfrm>
          <a:prstGeom prst="straightConnector1">
            <a:avLst/>
          </a:prstGeom>
          <a:ln w="28575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63" name="TextBox 62">
            <a:extLst>
              <a:ext uri="{FF2B5EF4-FFF2-40B4-BE49-F238E27FC236}">
                <a16:creationId xmlns:a16="http://schemas.microsoft.com/office/drawing/2014/main" id="{217BC1C2-C430-6C59-C223-83472EA1FF4E}"/>
              </a:ext>
            </a:extLst>
          </p:cNvPr>
          <p:cNvSpPr txBox="1"/>
          <p:nvPr/>
        </p:nvSpPr>
        <p:spPr>
          <a:xfrm>
            <a:off x="5363570" y="4090371"/>
            <a:ext cx="52764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>
                <a:ea typeface="Cambria" panose="02040503050406030204" pitchFamily="18" charset="0"/>
              </a:rPr>
              <a:t>Yes</a:t>
            </a:r>
          </a:p>
        </p:txBody>
      </p:sp>
      <p:cxnSp>
        <p:nvCxnSpPr>
          <p:cNvPr id="79" name="Straight Arrow Connector 78">
            <a:extLst>
              <a:ext uri="{FF2B5EF4-FFF2-40B4-BE49-F238E27FC236}">
                <a16:creationId xmlns:a16="http://schemas.microsoft.com/office/drawing/2014/main" id="{A7B3BF79-201A-5DC4-488B-0F958E9872DE}"/>
              </a:ext>
            </a:extLst>
          </p:cNvPr>
          <p:cNvCxnSpPr>
            <a:cxnSpLocks/>
            <a:stCxn id="134" idx="2"/>
          </p:cNvCxnSpPr>
          <p:nvPr/>
        </p:nvCxnSpPr>
        <p:spPr>
          <a:xfrm>
            <a:off x="5982561" y="4036405"/>
            <a:ext cx="0" cy="1027590"/>
          </a:xfrm>
          <a:prstGeom prst="straightConnector1">
            <a:avLst/>
          </a:prstGeom>
          <a:ln w="28575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82" name="Straight Arrow Connector 81">
            <a:extLst>
              <a:ext uri="{FF2B5EF4-FFF2-40B4-BE49-F238E27FC236}">
                <a16:creationId xmlns:a16="http://schemas.microsoft.com/office/drawing/2014/main" id="{A53D4F5C-9B22-B662-1AF3-F9D0727F714C}"/>
              </a:ext>
            </a:extLst>
          </p:cNvPr>
          <p:cNvCxnSpPr>
            <a:cxnSpLocks/>
          </p:cNvCxnSpPr>
          <p:nvPr/>
        </p:nvCxnSpPr>
        <p:spPr>
          <a:xfrm>
            <a:off x="7226021" y="5459980"/>
            <a:ext cx="1129617" cy="10060"/>
          </a:xfrm>
          <a:prstGeom prst="straightConnector1">
            <a:avLst/>
          </a:prstGeom>
          <a:ln w="28575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86" name="Connector: Elbow 85">
            <a:extLst>
              <a:ext uri="{FF2B5EF4-FFF2-40B4-BE49-F238E27FC236}">
                <a16:creationId xmlns:a16="http://schemas.microsoft.com/office/drawing/2014/main" id="{E699A214-070C-601F-E32D-7006B374BB3A}"/>
              </a:ext>
            </a:extLst>
          </p:cNvPr>
          <p:cNvCxnSpPr>
            <a:cxnSpLocks/>
            <a:stCxn id="155" idx="2"/>
            <a:endCxn id="140" idx="6"/>
          </p:cNvCxnSpPr>
          <p:nvPr/>
        </p:nvCxnSpPr>
        <p:spPr>
          <a:xfrm>
            <a:off x="9886404" y="1629275"/>
            <a:ext cx="91346" cy="3821163"/>
          </a:xfrm>
          <a:prstGeom prst="bentConnector3">
            <a:avLst>
              <a:gd name="adj1" fmla="val 1172532"/>
            </a:avLst>
          </a:prstGeom>
          <a:ln w="2857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4" name="Connector: Elbow 93">
            <a:extLst>
              <a:ext uri="{FF2B5EF4-FFF2-40B4-BE49-F238E27FC236}">
                <a16:creationId xmlns:a16="http://schemas.microsoft.com/office/drawing/2014/main" id="{A6FE67DE-D139-07E8-F400-93C087E372E2}"/>
              </a:ext>
            </a:extLst>
          </p:cNvPr>
          <p:cNvCxnSpPr>
            <a:cxnSpLocks/>
            <a:stCxn id="162" idx="2"/>
            <a:endCxn id="140" idx="6"/>
          </p:cNvCxnSpPr>
          <p:nvPr/>
        </p:nvCxnSpPr>
        <p:spPr>
          <a:xfrm flipH="1">
            <a:off x="9977750" y="3551112"/>
            <a:ext cx="215184" cy="1899326"/>
          </a:xfrm>
          <a:prstGeom prst="bentConnector3">
            <a:avLst>
              <a:gd name="adj1" fmla="val -356095"/>
            </a:avLst>
          </a:prstGeom>
          <a:ln w="2857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1" name="Diamond 100">
            <a:extLst>
              <a:ext uri="{FF2B5EF4-FFF2-40B4-BE49-F238E27FC236}">
                <a16:creationId xmlns:a16="http://schemas.microsoft.com/office/drawing/2014/main" id="{C4AFCA95-7981-1ED8-62D9-44AB271FAD71}"/>
              </a:ext>
            </a:extLst>
          </p:cNvPr>
          <p:cNvSpPr/>
          <p:nvPr/>
        </p:nvSpPr>
        <p:spPr>
          <a:xfrm>
            <a:off x="806304" y="3204261"/>
            <a:ext cx="2327517" cy="1289617"/>
          </a:xfrm>
          <a:prstGeom prst="diamond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>
                <a:ea typeface="Cambria" panose="02040503050406030204" pitchFamily="18" charset="0"/>
              </a:rPr>
              <a:t>Is Layer a Cut Layer?</a:t>
            </a:r>
          </a:p>
        </p:txBody>
      </p:sp>
      <p:sp>
        <p:nvSpPr>
          <p:cNvPr id="105" name="Diamond 104">
            <a:extLst>
              <a:ext uri="{FF2B5EF4-FFF2-40B4-BE49-F238E27FC236}">
                <a16:creationId xmlns:a16="http://schemas.microsoft.com/office/drawing/2014/main" id="{521FAAC8-4363-D8EF-AD81-B5C754CDA3AC}"/>
              </a:ext>
            </a:extLst>
          </p:cNvPr>
          <p:cNvSpPr/>
          <p:nvPr/>
        </p:nvSpPr>
        <p:spPr>
          <a:xfrm>
            <a:off x="5010734" y="1062207"/>
            <a:ext cx="1943654" cy="1097629"/>
          </a:xfrm>
          <a:prstGeom prst="diamond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>
                <a:ea typeface="Cambria" panose="02040503050406030204" pitchFamily="18" charset="0"/>
              </a:rPr>
              <a:t>Cut Layers Found?</a:t>
            </a:r>
          </a:p>
        </p:txBody>
      </p:sp>
      <p:cxnSp>
        <p:nvCxnSpPr>
          <p:cNvPr id="113" name="Connector: Elbow 112">
            <a:extLst>
              <a:ext uri="{FF2B5EF4-FFF2-40B4-BE49-F238E27FC236}">
                <a16:creationId xmlns:a16="http://schemas.microsoft.com/office/drawing/2014/main" id="{BC9FC1EE-5BCC-6743-C9B1-6971A2900F5A}"/>
              </a:ext>
            </a:extLst>
          </p:cNvPr>
          <p:cNvCxnSpPr>
            <a:cxnSpLocks/>
          </p:cNvCxnSpPr>
          <p:nvPr/>
        </p:nvCxnSpPr>
        <p:spPr>
          <a:xfrm rot="5400000" flipH="1" flipV="1">
            <a:off x="2113489" y="2571592"/>
            <a:ext cx="3854072" cy="1932931"/>
          </a:xfrm>
          <a:prstGeom prst="bentConnector4">
            <a:avLst>
              <a:gd name="adj1" fmla="val -19250"/>
              <a:gd name="adj2" fmla="val 65583"/>
            </a:avLst>
          </a:prstGeom>
          <a:ln w="2857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4" name="Diamond 133">
            <a:extLst>
              <a:ext uri="{FF2B5EF4-FFF2-40B4-BE49-F238E27FC236}">
                <a16:creationId xmlns:a16="http://schemas.microsoft.com/office/drawing/2014/main" id="{6A95E2D4-3C94-9270-7B9D-B1F5224BDAD0}"/>
              </a:ext>
            </a:extLst>
          </p:cNvPr>
          <p:cNvSpPr/>
          <p:nvPr/>
        </p:nvSpPr>
        <p:spPr>
          <a:xfrm>
            <a:off x="5010734" y="2938776"/>
            <a:ext cx="1943654" cy="1097629"/>
          </a:xfrm>
          <a:prstGeom prst="diamond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>
                <a:ea typeface="Cambria" panose="02040503050406030204" pitchFamily="18" charset="0"/>
              </a:rPr>
              <a:t>Cut Layers in OBS?</a:t>
            </a:r>
          </a:p>
        </p:txBody>
      </p:sp>
      <p:sp>
        <p:nvSpPr>
          <p:cNvPr id="140" name="Oval 139">
            <a:extLst>
              <a:ext uri="{FF2B5EF4-FFF2-40B4-BE49-F238E27FC236}">
                <a16:creationId xmlns:a16="http://schemas.microsoft.com/office/drawing/2014/main" id="{8E69F5DD-54DA-F2BC-428F-B3539ABD2F99}"/>
              </a:ext>
            </a:extLst>
          </p:cNvPr>
          <p:cNvSpPr/>
          <p:nvPr/>
        </p:nvSpPr>
        <p:spPr>
          <a:xfrm>
            <a:off x="8373327" y="5063995"/>
            <a:ext cx="1604423" cy="772886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/>
              <a:t>End</a:t>
            </a:r>
          </a:p>
        </p:txBody>
      </p:sp>
      <p:sp>
        <p:nvSpPr>
          <p:cNvPr id="149" name="Parallelogram 148">
            <a:extLst>
              <a:ext uri="{FF2B5EF4-FFF2-40B4-BE49-F238E27FC236}">
                <a16:creationId xmlns:a16="http://schemas.microsoft.com/office/drawing/2014/main" id="{4BACA2CC-6B0D-E43A-1612-FFA266CC7475}"/>
              </a:ext>
            </a:extLst>
          </p:cNvPr>
          <p:cNvSpPr/>
          <p:nvPr/>
        </p:nvSpPr>
        <p:spPr>
          <a:xfrm>
            <a:off x="5046650" y="5099625"/>
            <a:ext cx="2296227" cy="730770"/>
          </a:xfrm>
          <a:prstGeom prst="parallelogram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>
                <a:ea typeface="Cambria" panose="02040503050406030204" pitchFamily="18" charset="0"/>
              </a:rPr>
              <a:t>“Passes Via OBS checking test”</a:t>
            </a:r>
          </a:p>
        </p:txBody>
      </p:sp>
      <p:sp>
        <p:nvSpPr>
          <p:cNvPr id="155" name="Parallelogram 154">
            <a:extLst>
              <a:ext uri="{FF2B5EF4-FFF2-40B4-BE49-F238E27FC236}">
                <a16:creationId xmlns:a16="http://schemas.microsoft.com/office/drawing/2014/main" id="{AE368583-8BA6-5B21-A9A6-39B711A62FB0}"/>
              </a:ext>
            </a:extLst>
          </p:cNvPr>
          <p:cNvSpPr/>
          <p:nvPr/>
        </p:nvSpPr>
        <p:spPr>
          <a:xfrm>
            <a:off x="7681523" y="1263890"/>
            <a:ext cx="2296227" cy="730770"/>
          </a:xfrm>
          <a:prstGeom prst="parallelogram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>
                <a:ea typeface="Cambria" panose="02040503050406030204" pitchFamily="18" charset="0"/>
              </a:rPr>
              <a:t>“Passes Via OBS checking test”</a:t>
            </a:r>
          </a:p>
        </p:txBody>
      </p:sp>
      <p:sp>
        <p:nvSpPr>
          <p:cNvPr id="162" name="Parallelogram 161">
            <a:extLst>
              <a:ext uri="{FF2B5EF4-FFF2-40B4-BE49-F238E27FC236}">
                <a16:creationId xmlns:a16="http://schemas.microsoft.com/office/drawing/2014/main" id="{B8CBC117-7047-CA08-7BBC-257327C4D303}"/>
              </a:ext>
            </a:extLst>
          </p:cNvPr>
          <p:cNvSpPr/>
          <p:nvPr/>
        </p:nvSpPr>
        <p:spPr>
          <a:xfrm>
            <a:off x="7681523" y="3185727"/>
            <a:ext cx="2602757" cy="730770"/>
          </a:xfrm>
          <a:prstGeom prst="parallelogram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>
                <a:ea typeface="Cambria" panose="02040503050406030204" pitchFamily="18" charset="0"/>
              </a:rPr>
              <a:t>“Error: Cut Layer missing from OBS”</a:t>
            </a:r>
          </a:p>
        </p:txBody>
      </p:sp>
    </p:spTree>
    <p:extLst>
      <p:ext uri="{BB962C8B-B14F-4D97-AF65-F5344CB8AC3E}">
        <p14:creationId xmlns:p14="http://schemas.microsoft.com/office/powerpoint/2010/main" val="2613035349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34A22F-7AC2-BF2E-5FAF-D75C67CC2A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C40E86-7AE4-8403-9F5D-A9A6E1156BE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2600" y="1354931"/>
            <a:ext cx="11226800" cy="4613275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>
                <a:ea typeface="Cambria" panose="02040503050406030204" pitchFamily="18" charset="0"/>
              </a:rPr>
              <a:t>Tested the script with provided LEF and TLEF files.</a:t>
            </a:r>
          </a:p>
          <a:p>
            <a:r>
              <a:rPr lang="en-US">
                <a:ea typeface="Cambria" panose="02040503050406030204" pitchFamily="18" charset="0"/>
              </a:rPr>
              <a:t>Output:</a:t>
            </a:r>
            <a:br>
              <a:rPr lang="en-US">
                <a:ea typeface="Cambria" panose="02040503050406030204" pitchFamily="18" charset="0"/>
              </a:rPr>
            </a:br>
            <a:endParaRPr lang="en-US">
              <a:ea typeface="Cambria" panose="02040503050406030204" pitchFamily="18" charset="0"/>
            </a:endParaRPr>
          </a:p>
          <a:p>
            <a:endParaRPr lang="en-US">
              <a:ea typeface="Cambria" panose="02040503050406030204" pitchFamily="18" charset="0"/>
            </a:endParaRPr>
          </a:p>
          <a:p>
            <a:pPr marL="0" indent="0">
              <a:buNone/>
            </a:pPr>
            <a:endParaRPr lang="en-US">
              <a:ea typeface="Cambria" panose="02040503050406030204" pitchFamily="18" charset="0"/>
            </a:endParaRPr>
          </a:p>
          <a:p>
            <a:pPr marL="0" indent="0">
              <a:buNone/>
            </a:pPr>
            <a:endParaRPr lang="en-US">
              <a:ea typeface="Cambria" panose="02040503050406030204" pitchFamily="18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BB40696-E324-47E5-1015-92C96F2BDD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9368"/>
            <a:ext cx="10515600" cy="1325563"/>
          </a:xfrm>
        </p:spPr>
        <p:txBody>
          <a:bodyPr>
            <a:normAutofit/>
          </a:bodyPr>
          <a:lstStyle/>
          <a:p>
            <a:r>
              <a:rPr lang="en-US" sz="4000">
                <a:solidFill>
                  <a:srgbClr val="0070C0"/>
                </a:solidFill>
                <a:latin typeface="+mn-lt"/>
                <a:ea typeface="Cambria" panose="02040503050406030204" pitchFamily="18" charset="0"/>
              </a:rPr>
              <a:t>VIA Obstructions Output Part 1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C8188C3-C352-1815-E3E5-541971C767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6D28ED-750A-4DFC-A458-38B3E79E4C7D}" type="datetime1">
              <a:rPr lang="en-US" sz="1400" smtClean="0">
                <a:solidFill>
                  <a:srgbClr val="0070C0"/>
                </a:solidFill>
                <a:ea typeface="Cambria" panose="02040503050406030204" pitchFamily="18" charset="0"/>
              </a:rPr>
              <a:t>12/19/2025</a:t>
            </a:fld>
            <a:endParaRPr lang="en-US" sz="1400">
              <a:solidFill>
                <a:srgbClr val="0070C0"/>
              </a:solidFill>
              <a:ea typeface="Cambria" panose="02040503050406030204" pitchFamily="18" charset="0"/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FFA0943-EEB7-7DF4-46D7-1EB66BFE9B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 sz="1400">
                <a:solidFill>
                  <a:srgbClr val="0070C0"/>
                </a:solidFill>
                <a:ea typeface="Cambria" panose="02040503050406030204" pitchFamily="18" charset="0"/>
              </a:rPr>
              <a:t>EE/CPE584 </a:t>
            </a:r>
            <a:r>
              <a:rPr lang="es-ES" sz="1400" err="1">
                <a:solidFill>
                  <a:srgbClr val="0070C0"/>
                </a:solidFill>
                <a:ea typeface="Cambria" panose="02040503050406030204" pitchFamily="18" charset="0"/>
              </a:rPr>
              <a:t>Intro</a:t>
            </a:r>
            <a:r>
              <a:rPr lang="es-ES" sz="1400">
                <a:solidFill>
                  <a:srgbClr val="0070C0"/>
                </a:solidFill>
                <a:ea typeface="Cambria" panose="02040503050406030204" pitchFamily="18" charset="0"/>
              </a:rPr>
              <a:t> </a:t>
            </a:r>
            <a:r>
              <a:rPr lang="es-ES" sz="1400" err="1">
                <a:solidFill>
                  <a:srgbClr val="0070C0"/>
                </a:solidFill>
                <a:ea typeface="Cambria" panose="02040503050406030204" pitchFamily="18" charset="0"/>
              </a:rPr>
              <a:t>to</a:t>
            </a:r>
            <a:r>
              <a:rPr lang="es-ES" sz="1400">
                <a:solidFill>
                  <a:srgbClr val="0070C0"/>
                </a:solidFill>
                <a:ea typeface="Cambria" panose="02040503050406030204" pitchFamily="18" charset="0"/>
              </a:rPr>
              <a:t> VLSI</a:t>
            </a:r>
            <a:endParaRPr lang="en-US" sz="1400">
              <a:solidFill>
                <a:srgbClr val="0070C0"/>
              </a:solidFill>
              <a:ea typeface="Cambria" panose="02040503050406030204" pitchFamily="18" charset="0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5580266-6432-9A8A-0434-C3CDD91CEE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8A6112-8193-45F5-863E-CC8218595965}" type="slidenum">
              <a:rPr lang="en-US" sz="1400" smtClean="0">
                <a:solidFill>
                  <a:srgbClr val="0070C0"/>
                </a:solidFill>
                <a:ea typeface="Cambria" panose="02040503050406030204" pitchFamily="18" charset="0"/>
              </a:rPr>
              <a:t>36</a:t>
            </a:fld>
            <a:endParaRPr lang="en-US" sz="1400">
              <a:solidFill>
                <a:srgbClr val="0070C0"/>
              </a:solidFill>
              <a:ea typeface="Cambria" panose="02040503050406030204" pitchFamily="18" charset="0"/>
            </a:endParaRPr>
          </a:p>
        </p:txBody>
      </p:sp>
      <p:pic>
        <p:nvPicPr>
          <p:cNvPr id="8" name="Picture 7" descr="A screen shot of a computer&#10;&#10;AI-generated content may be incorrect.">
            <a:extLst>
              <a:ext uri="{FF2B5EF4-FFF2-40B4-BE49-F238E27FC236}">
                <a16:creationId xmlns:a16="http://schemas.microsoft.com/office/drawing/2014/main" id="{AAD48468-2F67-42D3-F803-80949F4A567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8646" y="2453746"/>
            <a:ext cx="6981303" cy="2148950"/>
          </a:xfrm>
          <a:prstGeom prst="rect">
            <a:avLst/>
          </a:prstGeom>
        </p:spPr>
      </p:pic>
      <p:pic>
        <p:nvPicPr>
          <p:cNvPr id="9" name="Picture 8" descr="A black background with white text&#10;&#10;AI-generated content may be incorrect.">
            <a:extLst>
              <a:ext uri="{FF2B5EF4-FFF2-40B4-BE49-F238E27FC236}">
                <a16:creationId xmlns:a16="http://schemas.microsoft.com/office/drawing/2014/main" id="{1599809E-8855-4B03-027C-3E68DC7CF87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8646" y="5419051"/>
            <a:ext cx="5715245" cy="758545"/>
          </a:xfrm>
          <a:prstGeom prst="rect">
            <a:avLst/>
          </a:prstGeom>
        </p:spPr>
      </p:pic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F175F39D-72D3-9D89-54D2-F56EDDD7BFF2}"/>
              </a:ext>
            </a:extLst>
          </p:cNvPr>
          <p:cNvCxnSpPr>
            <a:cxnSpLocks/>
            <a:stCxn id="12" idx="1"/>
          </p:cNvCxnSpPr>
          <p:nvPr/>
        </p:nvCxnSpPr>
        <p:spPr>
          <a:xfrm flipH="1">
            <a:off x="5975531" y="5718958"/>
            <a:ext cx="1404257" cy="79366"/>
          </a:xfrm>
          <a:prstGeom prst="straightConnector1">
            <a:avLst/>
          </a:prstGeom>
          <a:ln w="28575" cap="flat" cmpd="sng" algn="ctr">
            <a:solidFill>
              <a:srgbClr val="FF0000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0066BB3D-80D0-4890-D3A3-6403B87A9C51}"/>
              </a:ext>
            </a:extLst>
          </p:cNvPr>
          <p:cNvSpPr txBox="1"/>
          <p:nvPr/>
        </p:nvSpPr>
        <p:spPr>
          <a:xfrm>
            <a:off x="7379788" y="5365015"/>
            <a:ext cx="4090608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000">
                <a:ea typeface="Cambria" panose="02040503050406030204" pitchFamily="18" charset="0"/>
              </a:rPr>
              <a:t>Failed the Via OBS checking.</a:t>
            </a:r>
          </a:p>
          <a:p>
            <a:pPr algn="ctr"/>
            <a:r>
              <a:rPr lang="en-US" sz="2000">
                <a:ea typeface="Cambria" panose="02040503050406030204" pitchFamily="18" charset="0"/>
              </a:rPr>
              <a:t>Added the error to the error log file.</a:t>
            </a:r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923BF791-3968-606E-F1B8-11B0FC61BA51}"/>
              </a:ext>
            </a:extLst>
          </p:cNvPr>
          <p:cNvCxnSpPr>
            <a:cxnSpLocks/>
          </p:cNvCxnSpPr>
          <p:nvPr/>
        </p:nvCxnSpPr>
        <p:spPr>
          <a:xfrm flipH="1">
            <a:off x="7207846" y="2508111"/>
            <a:ext cx="1060255" cy="318495"/>
          </a:xfrm>
          <a:prstGeom prst="straightConnector1">
            <a:avLst/>
          </a:prstGeom>
          <a:ln w="28575" cap="flat" cmpd="sng" algn="ctr">
            <a:solidFill>
              <a:srgbClr val="FF0000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1A00CFD3-0932-154B-64B5-586E871B3388}"/>
              </a:ext>
            </a:extLst>
          </p:cNvPr>
          <p:cNvSpPr txBox="1"/>
          <p:nvPr/>
        </p:nvSpPr>
        <p:spPr>
          <a:xfrm>
            <a:off x="8105374" y="2171285"/>
            <a:ext cx="322280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000">
                <a:ea typeface="Cambria" panose="02040503050406030204" pitchFamily="18" charset="0"/>
              </a:rPr>
              <a:t>Outputs all layers collected</a:t>
            </a:r>
          </a:p>
        </p:txBody>
      </p: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BA3E40B8-D25D-FB56-EB3A-FA28019EBAD9}"/>
              </a:ext>
            </a:extLst>
          </p:cNvPr>
          <p:cNvCxnSpPr>
            <a:cxnSpLocks/>
            <a:stCxn id="22" idx="1"/>
          </p:cNvCxnSpPr>
          <p:nvPr/>
        </p:nvCxnSpPr>
        <p:spPr>
          <a:xfrm flipH="1" flipV="1">
            <a:off x="2993457" y="4097987"/>
            <a:ext cx="2982074" cy="846106"/>
          </a:xfrm>
          <a:prstGeom prst="straightConnector1">
            <a:avLst/>
          </a:prstGeom>
          <a:ln w="28575" cap="flat" cmpd="sng" algn="ctr">
            <a:solidFill>
              <a:srgbClr val="FF0000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4590C474-E38A-213F-52A4-CD65C3A61048}"/>
              </a:ext>
            </a:extLst>
          </p:cNvPr>
          <p:cNvSpPr txBox="1"/>
          <p:nvPr/>
        </p:nvSpPr>
        <p:spPr>
          <a:xfrm>
            <a:off x="5975531" y="4590150"/>
            <a:ext cx="2255554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000">
                <a:ea typeface="Cambria" panose="02040503050406030204" pitchFamily="18" charset="0"/>
              </a:rPr>
              <a:t>Number of Cut </a:t>
            </a:r>
          </a:p>
          <a:p>
            <a:pPr algn="ctr"/>
            <a:r>
              <a:rPr lang="en-US" sz="2000">
                <a:ea typeface="Cambria" panose="02040503050406030204" pitchFamily="18" charset="0"/>
              </a:rPr>
              <a:t>And Routing layers</a:t>
            </a:r>
          </a:p>
        </p:txBody>
      </p: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AA11877F-10FE-2AB0-29E5-89DDB237D5EC}"/>
              </a:ext>
            </a:extLst>
          </p:cNvPr>
          <p:cNvCxnSpPr>
            <a:cxnSpLocks/>
            <a:stCxn id="22" idx="1"/>
          </p:cNvCxnSpPr>
          <p:nvPr/>
        </p:nvCxnSpPr>
        <p:spPr>
          <a:xfrm flipH="1" flipV="1">
            <a:off x="3339966" y="4378544"/>
            <a:ext cx="2635565" cy="565549"/>
          </a:xfrm>
          <a:prstGeom prst="straightConnector1">
            <a:avLst/>
          </a:prstGeom>
          <a:ln w="28575" cap="flat" cmpd="sng" algn="ctr">
            <a:solidFill>
              <a:srgbClr val="FF0000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47610604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6F5D2E-7A2F-7CFC-BB2B-A4FBB10EF1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59F732C-6958-1E9B-2456-7AB41384959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2600" y="1354931"/>
            <a:ext cx="11226800" cy="4613275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>
                <a:ea typeface="Cambria" panose="02040503050406030204" pitchFamily="18" charset="0"/>
              </a:rPr>
              <a:t>The output from LEF error log file:</a:t>
            </a:r>
            <a:br>
              <a:rPr lang="en-US">
                <a:ea typeface="Cambria" panose="02040503050406030204" pitchFamily="18" charset="0"/>
              </a:rPr>
            </a:br>
            <a:endParaRPr lang="en-US">
              <a:ea typeface="Cambria" panose="02040503050406030204" pitchFamily="18" charset="0"/>
            </a:endParaRPr>
          </a:p>
          <a:p>
            <a:endParaRPr lang="en-US">
              <a:ea typeface="Cambria" panose="02040503050406030204" pitchFamily="18" charset="0"/>
            </a:endParaRPr>
          </a:p>
          <a:p>
            <a:pPr marL="0" indent="0">
              <a:buNone/>
            </a:pPr>
            <a:endParaRPr lang="en-US">
              <a:ea typeface="Cambria" panose="02040503050406030204" pitchFamily="18" charset="0"/>
            </a:endParaRPr>
          </a:p>
          <a:p>
            <a:pPr marL="0" indent="0">
              <a:buNone/>
            </a:pPr>
            <a:endParaRPr lang="en-US">
              <a:ea typeface="Cambria" panose="02040503050406030204" pitchFamily="18" charset="0"/>
            </a:endParaRPr>
          </a:p>
        </p:txBody>
      </p:sp>
      <p:pic>
        <p:nvPicPr>
          <p:cNvPr id="11" name="Picture 10" descr="A black background with white text&#10;&#10;AI-generated content may be incorrect.">
            <a:extLst>
              <a:ext uri="{FF2B5EF4-FFF2-40B4-BE49-F238E27FC236}">
                <a16:creationId xmlns:a16="http://schemas.microsoft.com/office/drawing/2014/main" id="{F63CAEC9-EC38-7F3B-7FB0-5F953FCDE72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4383" y="3080957"/>
            <a:ext cx="9903233" cy="1360579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7B87C4DB-295F-1615-B501-1687DA77C3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9368"/>
            <a:ext cx="10515600" cy="1325563"/>
          </a:xfrm>
        </p:spPr>
        <p:txBody>
          <a:bodyPr>
            <a:normAutofit/>
          </a:bodyPr>
          <a:lstStyle/>
          <a:p>
            <a:r>
              <a:rPr lang="en-US" sz="4000">
                <a:solidFill>
                  <a:srgbClr val="0070C0"/>
                </a:solidFill>
                <a:latin typeface="+mn-lt"/>
                <a:ea typeface="Cambria" panose="02040503050406030204" pitchFamily="18" charset="0"/>
              </a:rPr>
              <a:t>VIA Obstructions Output Part 2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158974E-B505-843B-6EBE-10593BE723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6D28ED-750A-4DFC-A458-38B3E79E4C7D}" type="datetime1">
              <a:rPr lang="en-US" sz="1400" smtClean="0">
                <a:solidFill>
                  <a:srgbClr val="0070C0"/>
                </a:solidFill>
                <a:ea typeface="Cambria" panose="02040503050406030204" pitchFamily="18" charset="0"/>
              </a:rPr>
              <a:t>12/19/2025</a:t>
            </a:fld>
            <a:endParaRPr lang="en-US" sz="1400">
              <a:solidFill>
                <a:srgbClr val="0070C0"/>
              </a:solidFill>
              <a:ea typeface="Cambria" panose="02040503050406030204" pitchFamily="18" charset="0"/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8178A-4F46-9866-D078-B3E89134C1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 sz="1400">
                <a:solidFill>
                  <a:srgbClr val="0070C0"/>
                </a:solidFill>
                <a:ea typeface="Cambria" panose="02040503050406030204" pitchFamily="18" charset="0"/>
              </a:rPr>
              <a:t>EE/CPE584 </a:t>
            </a:r>
            <a:r>
              <a:rPr lang="es-ES" sz="1400" err="1">
                <a:solidFill>
                  <a:srgbClr val="0070C0"/>
                </a:solidFill>
                <a:ea typeface="Cambria" panose="02040503050406030204" pitchFamily="18" charset="0"/>
              </a:rPr>
              <a:t>Intro</a:t>
            </a:r>
            <a:r>
              <a:rPr lang="es-ES" sz="1400">
                <a:solidFill>
                  <a:srgbClr val="0070C0"/>
                </a:solidFill>
                <a:ea typeface="Cambria" panose="02040503050406030204" pitchFamily="18" charset="0"/>
              </a:rPr>
              <a:t> </a:t>
            </a:r>
            <a:r>
              <a:rPr lang="es-ES" sz="1400" err="1">
                <a:solidFill>
                  <a:srgbClr val="0070C0"/>
                </a:solidFill>
                <a:ea typeface="Cambria" panose="02040503050406030204" pitchFamily="18" charset="0"/>
              </a:rPr>
              <a:t>to</a:t>
            </a:r>
            <a:r>
              <a:rPr lang="es-ES" sz="1400">
                <a:solidFill>
                  <a:srgbClr val="0070C0"/>
                </a:solidFill>
                <a:ea typeface="Cambria" panose="02040503050406030204" pitchFamily="18" charset="0"/>
              </a:rPr>
              <a:t> VLSI</a:t>
            </a:r>
            <a:endParaRPr lang="en-US" sz="1400">
              <a:solidFill>
                <a:srgbClr val="0070C0"/>
              </a:solidFill>
              <a:ea typeface="Cambria" panose="02040503050406030204" pitchFamily="18" charset="0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CD6578E-98B3-8149-12E1-80CF9DF4DE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8A6112-8193-45F5-863E-CC8218595965}" type="slidenum">
              <a:rPr lang="en-US" sz="1400" smtClean="0">
                <a:solidFill>
                  <a:srgbClr val="0070C0"/>
                </a:solidFill>
                <a:ea typeface="Cambria" panose="02040503050406030204" pitchFamily="18" charset="0"/>
              </a:rPr>
              <a:t>37</a:t>
            </a:fld>
            <a:endParaRPr lang="en-US" sz="1400">
              <a:solidFill>
                <a:srgbClr val="0070C0"/>
              </a:solidFill>
              <a:ea typeface="Cambria" panose="02040503050406030204" pitchFamily="18" charset="0"/>
            </a:endParaRPr>
          </a:p>
        </p:txBody>
      </p: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5B4D6803-5F9B-44EA-2E7F-E6D8F375DB6F}"/>
              </a:ext>
            </a:extLst>
          </p:cNvPr>
          <p:cNvCxnSpPr>
            <a:cxnSpLocks/>
          </p:cNvCxnSpPr>
          <p:nvPr/>
        </p:nvCxnSpPr>
        <p:spPr>
          <a:xfrm flipH="1">
            <a:off x="6814686" y="2843656"/>
            <a:ext cx="1126156" cy="482135"/>
          </a:xfrm>
          <a:prstGeom prst="straightConnector1">
            <a:avLst/>
          </a:prstGeom>
          <a:ln w="28575" cap="flat" cmpd="sng" algn="ctr">
            <a:solidFill>
              <a:srgbClr val="FF0000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30" name="TextBox 29">
            <a:extLst>
              <a:ext uri="{FF2B5EF4-FFF2-40B4-BE49-F238E27FC236}">
                <a16:creationId xmlns:a16="http://schemas.microsoft.com/office/drawing/2014/main" id="{805F8391-39F5-3447-2D34-2B6624B619FE}"/>
              </a:ext>
            </a:extLst>
          </p:cNvPr>
          <p:cNvSpPr txBox="1"/>
          <p:nvPr/>
        </p:nvSpPr>
        <p:spPr>
          <a:xfrm>
            <a:off x="329257" y="5102959"/>
            <a:ext cx="217020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000">
                <a:ea typeface="Cambria" panose="02040503050406030204" pitchFamily="18" charset="0"/>
              </a:rPr>
              <a:t>Error line number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13F207C-31E6-46FC-A91B-A97F9D084F50}"/>
              </a:ext>
            </a:extLst>
          </p:cNvPr>
          <p:cNvSpPr txBox="1"/>
          <p:nvPr/>
        </p:nvSpPr>
        <p:spPr>
          <a:xfrm>
            <a:off x="6319115" y="2442484"/>
            <a:ext cx="324345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000">
                <a:ea typeface="Cambria" panose="02040503050406030204" pitchFamily="18" charset="0"/>
              </a:rPr>
              <a:t>Reason why it failed the test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F1AD39A-6589-EDA4-0E58-DC88B67FE72B}"/>
              </a:ext>
            </a:extLst>
          </p:cNvPr>
          <p:cNvSpPr txBox="1"/>
          <p:nvPr/>
        </p:nvSpPr>
        <p:spPr>
          <a:xfrm>
            <a:off x="3235038" y="5102959"/>
            <a:ext cx="811876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000">
                <a:ea typeface="Cambria" panose="02040503050406030204" pitchFamily="18" charset="0"/>
              </a:rPr>
              <a:t>Cell name          Pin name         Layer name        Number of Vias in that layer</a:t>
            </a:r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06377780-91D8-B919-7655-ECDCC0A6B8F1}"/>
              </a:ext>
            </a:extLst>
          </p:cNvPr>
          <p:cNvCxnSpPr>
            <a:cxnSpLocks/>
            <a:stCxn id="30" idx="0"/>
          </p:cNvCxnSpPr>
          <p:nvPr/>
        </p:nvCxnSpPr>
        <p:spPr>
          <a:xfrm flipV="1">
            <a:off x="1414362" y="4257964"/>
            <a:ext cx="289310" cy="844995"/>
          </a:xfrm>
          <a:prstGeom prst="straightConnector1">
            <a:avLst/>
          </a:prstGeom>
          <a:ln w="28575" cap="flat" cmpd="sng" algn="ctr">
            <a:solidFill>
              <a:srgbClr val="FF0000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C5102140-F0EF-92E7-0798-0088E5DCC9C0}"/>
              </a:ext>
            </a:extLst>
          </p:cNvPr>
          <p:cNvCxnSpPr>
            <a:cxnSpLocks/>
          </p:cNvCxnSpPr>
          <p:nvPr/>
        </p:nvCxnSpPr>
        <p:spPr>
          <a:xfrm flipH="1" flipV="1">
            <a:off x="3792354" y="4257964"/>
            <a:ext cx="77002" cy="844995"/>
          </a:xfrm>
          <a:prstGeom prst="straightConnector1">
            <a:avLst/>
          </a:prstGeom>
          <a:ln w="28575" cap="flat" cmpd="sng" algn="ctr">
            <a:solidFill>
              <a:srgbClr val="FF0000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2FB13C84-93CF-ED64-FF3E-CBD6667D2230}"/>
              </a:ext>
            </a:extLst>
          </p:cNvPr>
          <p:cNvCxnSpPr>
            <a:cxnSpLocks/>
          </p:cNvCxnSpPr>
          <p:nvPr/>
        </p:nvCxnSpPr>
        <p:spPr>
          <a:xfrm flipV="1">
            <a:off x="5566744" y="4213111"/>
            <a:ext cx="64035" cy="889848"/>
          </a:xfrm>
          <a:prstGeom prst="straightConnector1">
            <a:avLst/>
          </a:prstGeom>
          <a:ln w="28575" cap="flat" cmpd="sng" algn="ctr">
            <a:solidFill>
              <a:srgbClr val="FF0000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22AFED04-CDEA-0969-87F4-359E35A78EAA}"/>
              </a:ext>
            </a:extLst>
          </p:cNvPr>
          <p:cNvCxnSpPr>
            <a:cxnSpLocks/>
          </p:cNvCxnSpPr>
          <p:nvPr/>
        </p:nvCxnSpPr>
        <p:spPr>
          <a:xfrm flipV="1">
            <a:off x="7141945" y="4257964"/>
            <a:ext cx="235819" cy="941972"/>
          </a:xfrm>
          <a:prstGeom prst="straightConnector1">
            <a:avLst/>
          </a:prstGeom>
          <a:ln w="28575" cap="flat" cmpd="sng" algn="ctr">
            <a:solidFill>
              <a:srgbClr val="FF0000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F519C563-B0FF-3DCF-57ED-1DFD95F070F9}"/>
              </a:ext>
            </a:extLst>
          </p:cNvPr>
          <p:cNvCxnSpPr>
            <a:cxnSpLocks/>
          </p:cNvCxnSpPr>
          <p:nvPr/>
        </p:nvCxnSpPr>
        <p:spPr>
          <a:xfrm flipV="1">
            <a:off x="9678709" y="4213111"/>
            <a:ext cx="379691" cy="986825"/>
          </a:xfrm>
          <a:prstGeom prst="straightConnector1">
            <a:avLst/>
          </a:prstGeom>
          <a:ln w="28575" cap="flat" cmpd="sng" algn="ctr">
            <a:solidFill>
              <a:srgbClr val="FF0000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64928765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71560B-7F57-7CD7-DA7A-26C96D8FBE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Picture 17" descr="A white background with black text&#10;&#10;AI-generated content may be incorrect.">
            <a:extLst>
              <a:ext uri="{FF2B5EF4-FFF2-40B4-BE49-F238E27FC236}">
                <a16:creationId xmlns:a16="http://schemas.microsoft.com/office/drawing/2014/main" id="{BDC2B07D-EB28-9BCD-71E7-F25ACF84CB0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87544" y="2450961"/>
            <a:ext cx="4473340" cy="2905478"/>
          </a:xfrm>
          <a:prstGeom prst="rect">
            <a:avLst/>
          </a:prstGeom>
        </p:spPr>
      </p:pic>
      <p:pic>
        <p:nvPicPr>
          <p:cNvPr id="9" name="Picture 8" descr="A screenshot of a computer code&#10;&#10;AI-generated content may be incorrect.">
            <a:extLst>
              <a:ext uri="{FF2B5EF4-FFF2-40B4-BE49-F238E27FC236}">
                <a16:creationId xmlns:a16="http://schemas.microsoft.com/office/drawing/2014/main" id="{68116591-611A-64A7-0656-EFFCC2F12AE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0420" y="2087412"/>
            <a:ext cx="5341836" cy="3283791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F7384C50-9E50-37EF-00AE-31DC4B6E4E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9368"/>
            <a:ext cx="10515600" cy="1325563"/>
          </a:xfrm>
        </p:spPr>
        <p:txBody>
          <a:bodyPr>
            <a:normAutofit/>
          </a:bodyPr>
          <a:lstStyle/>
          <a:p>
            <a:r>
              <a:rPr lang="en-US" sz="4000">
                <a:solidFill>
                  <a:srgbClr val="0070C0"/>
                </a:solidFill>
                <a:latin typeface="+mn-lt"/>
                <a:ea typeface="Cambria" panose="02040503050406030204" pitchFamily="18" charset="0"/>
              </a:rPr>
              <a:t>VIA Obstructions Output Part 3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522B1A-B507-7EAB-FADD-619E4DF8A4D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2600" y="1354931"/>
            <a:ext cx="11226800" cy="4613275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>
                <a:ea typeface="Cambria" panose="02040503050406030204" pitchFamily="18" charset="0"/>
              </a:rPr>
              <a:t>Pin X from the LEF file:</a:t>
            </a:r>
          </a:p>
          <a:p>
            <a:endParaRPr lang="en-US">
              <a:ea typeface="Cambria" panose="02040503050406030204" pitchFamily="18" charset="0"/>
            </a:endParaRPr>
          </a:p>
          <a:p>
            <a:pPr marL="0" indent="0">
              <a:buNone/>
            </a:pPr>
            <a:endParaRPr lang="en-US">
              <a:ea typeface="Cambria" panose="02040503050406030204" pitchFamily="18" charset="0"/>
            </a:endParaRPr>
          </a:p>
          <a:p>
            <a:pPr marL="0" indent="0">
              <a:buNone/>
            </a:pPr>
            <a:endParaRPr lang="en-US">
              <a:ea typeface="Cambria" panose="02040503050406030204" pitchFamily="18" charset="0"/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821ECB3-7D89-C0FA-1907-847439CDEE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6D28ED-750A-4DFC-A458-38B3E79E4C7D}" type="datetime1">
              <a:rPr lang="en-US" sz="1400" smtClean="0">
                <a:solidFill>
                  <a:srgbClr val="0070C0"/>
                </a:solidFill>
                <a:ea typeface="Cambria" panose="02040503050406030204" pitchFamily="18" charset="0"/>
              </a:rPr>
              <a:t>12/19/2025</a:t>
            </a:fld>
            <a:endParaRPr lang="en-US" sz="1400">
              <a:solidFill>
                <a:srgbClr val="0070C0"/>
              </a:solidFill>
              <a:ea typeface="Cambria" panose="02040503050406030204" pitchFamily="18" charset="0"/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51D2A79-90EA-DC64-2CBA-8088940410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 sz="1400">
                <a:solidFill>
                  <a:srgbClr val="0070C0"/>
                </a:solidFill>
                <a:ea typeface="Cambria" panose="02040503050406030204" pitchFamily="18" charset="0"/>
              </a:rPr>
              <a:t>EE/CPE584 </a:t>
            </a:r>
            <a:r>
              <a:rPr lang="es-ES" sz="1400" err="1">
                <a:solidFill>
                  <a:srgbClr val="0070C0"/>
                </a:solidFill>
                <a:ea typeface="Cambria" panose="02040503050406030204" pitchFamily="18" charset="0"/>
              </a:rPr>
              <a:t>Intro</a:t>
            </a:r>
            <a:r>
              <a:rPr lang="es-ES" sz="1400">
                <a:solidFill>
                  <a:srgbClr val="0070C0"/>
                </a:solidFill>
                <a:ea typeface="Cambria" panose="02040503050406030204" pitchFamily="18" charset="0"/>
              </a:rPr>
              <a:t> </a:t>
            </a:r>
            <a:r>
              <a:rPr lang="es-ES" sz="1400" err="1">
                <a:solidFill>
                  <a:srgbClr val="0070C0"/>
                </a:solidFill>
                <a:ea typeface="Cambria" panose="02040503050406030204" pitchFamily="18" charset="0"/>
              </a:rPr>
              <a:t>to</a:t>
            </a:r>
            <a:r>
              <a:rPr lang="es-ES" sz="1400">
                <a:solidFill>
                  <a:srgbClr val="0070C0"/>
                </a:solidFill>
                <a:ea typeface="Cambria" panose="02040503050406030204" pitchFamily="18" charset="0"/>
              </a:rPr>
              <a:t> VLSI</a:t>
            </a:r>
            <a:endParaRPr lang="en-US" sz="1400">
              <a:solidFill>
                <a:srgbClr val="0070C0"/>
              </a:solidFill>
              <a:ea typeface="Cambria" panose="02040503050406030204" pitchFamily="18" charset="0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5E93671-6AEB-2C77-984B-FA8A136B3B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8A6112-8193-45F5-863E-CC8218595965}" type="slidenum">
              <a:rPr lang="en-US" sz="1400" smtClean="0">
                <a:solidFill>
                  <a:srgbClr val="0070C0"/>
                </a:solidFill>
                <a:ea typeface="Cambria" panose="02040503050406030204" pitchFamily="18" charset="0"/>
              </a:rPr>
              <a:t>38</a:t>
            </a:fld>
            <a:endParaRPr lang="en-US" sz="1400">
              <a:solidFill>
                <a:srgbClr val="0070C0"/>
              </a:solidFill>
              <a:ea typeface="Cambria" panose="02040503050406030204" pitchFamily="18" charset="0"/>
            </a:endParaRPr>
          </a:p>
        </p:txBody>
      </p: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77FBA63A-DC5A-3B58-7EE5-65491320BBD7}"/>
              </a:ext>
            </a:extLst>
          </p:cNvPr>
          <p:cNvCxnSpPr>
            <a:cxnSpLocks/>
            <a:stCxn id="23" idx="2"/>
          </p:cNvCxnSpPr>
          <p:nvPr/>
        </p:nvCxnSpPr>
        <p:spPr>
          <a:xfrm flipH="1">
            <a:off x="9372327" y="2450961"/>
            <a:ext cx="6" cy="353633"/>
          </a:xfrm>
          <a:prstGeom prst="straightConnector1">
            <a:avLst/>
          </a:prstGeom>
          <a:ln w="28575" cap="flat" cmpd="sng" algn="ctr">
            <a:solidFill>
              <a:srgbClr val="FF0000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23" name="TextBox 22">
            <a:extLst>
              <a:ext uri="{FF2B5EF4-FFF2-40B4-BE49-F238E27FC236}">
                <a16:creationId xmlns:a16="http://schemas.microsoft.com/office/drawing/2014/main" id="{F0F3EB67-DF42-027F-2AC4-02853948F074}"/>
              </a:ext>
            </a:extLst>
          </p:cNvPr>
          <p:cNvSpPr txBox="1"/>
          <p:nvPr/>
        </p:nvSpPr>
        <p:spPr>
          <a:xfrm>
            <a:off x="6973310" y="1743075"/>
            <a:ext cx="4798045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000">
                <a:ea typeface="Cambria" panose="02040503050406030204" pitchFamily="18" charset="0"/>
              </a:rPr>
              <a:t>2. We can see that VIA 4 does not have an </a:t>
            </a:r>
          </a:p>
          <a:p>
            <a:pPr algn="ctr"/>
            <a:r>
              <a:rPr lang="en-US" sz="2000">
                <a:ea typeface="Cambria" panose="02040503050406030204" pitchFamily="18" charset="0"/>
              </a:rPr>
              <a:t>associated layer in OBS section.</a:t>
            </a:r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2A0C9C13-17EA-5D1C-8DC6-9476C5DA06A5}"/>
              </a:ext>
            </a:extLst>
          </p:cNvPr>
          <p:cNvCxnSpPr>
            <a:cxnSpLocks/>
          </p:cNvCxnSpPr>
          <p:nvPr/>
        </p:nvCxnSpPr>
        <p:spPr>
          <a:xfrm flipH="1">
            <a:off x="2754086" y="3148931"/>
            <a:ext cx="1360714" cy="1096498"/>
          </a:xfrm>
          <a:prstGeom prst="straightConnector1">
            <a:avLst/>
          </a:prstGeom>
          <a:ln w="28575" cap="flat" cmpd="sng" algn="ctr">
            <a:solidFill>
              <a:srgbClr val="FF0000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AC800DAC-8FC3-CE25-AEAB-21E8185529CB}"/>
              </a:ext>
            </a:extLst>
          </p:cNvPr>
          <p:cNvSpPr txBox="1"/>
          <p:nvPr/>
        </p:nvSpPr>
        <p:spPr>
          <a:xfrm>
            <a:off x="3871968" y="2602496"/>
            <a:ext cx="304923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000">
                <a:ea typeface="Cambria" panose="02040503050406030204" pitchFamily="18" charset="0"/>
              </a:rPr>
              <a:t>1. Checking if VIA4 has an </a:t>
            </a:r>
          </a:p>
          <a:p>
            <a:pPr algn="ctr"/>
            <a:r>
              <a:rPr lang="en-US" sz="2000">
                <a:ea typeface="Cambria" panose="02040503050406030204" pitchFamily="18" charset="0"/>
              </a:rPr>
              <a:t>associated OBS layer</a:t>
            </a:r>
          </a:p>
        </p:txBody>
      </p:sp>
    </p:spTree>
    <p:extLst>
      <p:ext uri="{BB962C8B-B14F-4D97-AF65-F5344CB8AC3E}">
        <p14:creationId xmlns:p14="http://schemas.microsoft.com/office/powerpoint/2010/main" val="2510696544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066537-0713-C289-DE3B-809512DAF7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>
                <a:solidFill>
                  <a:srgbClr val="0070C0"/>
                </a:solidFill>
                <a:latin typeface="+mn-lt"/>
                <a:ea typeface="Cambria" panose="02040503050406030204" pitchFamily="18" charset="0"/>
              </a:rPr>
              <a:t>Code Readability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39853B8-5155-FDDD-4589-1BB9B8F9CB9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65550"/>
            <a:ext cx="10515600" cy="4983941"/>
          </a:xfr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 b="1" dirty="0">
                <a:ea typeface="+mn-lt"/>
                <a:cs typeface="+mn-lt"/>
              </a:rPr>
              <a:t>Encapsulation:</a:t>
            </a:r>
            <a:endParaRPr lang="en-US" dirty="0">
              <a:ea typeface="Cambria"/>
              <a:cs typeface="+mn-lt"/>
            </a:endParaRPr>
          </a:p>
          <a:p>
            <a:pPr lvl="1">
              <a:buFont typeface="Courier New" panose="020B0604020202020204" pitchFamily="34" charset="0"/>
              <a:buChar char="o"/>
            </a:pPr>
            <a:r>
              <a:rPr lang="en-US" sz="2000" b="1" dirty="0">
                <a:ea typeface="+mn-lt"/>
                <a:cs typeface="+mn-lt"/>
              </a:rPr>
              <a:t>Problem:</a:t>
            </a:r>
            <a:r>
              <a:rPr lang="en-US" sz="2000" dirty="0">
                <a:ea typeface="+mn-lt"/>
                <a:cs typeface="+mn-lt"/>
              </a:rPr>
              <a:t> The original script used global file handling and manual line tracking, making it fragile and hard to debug.</a:t>
            </a:r>
            <a:endParaRPr lang="en-US" sz="2000">
              <a:ea typeface="Cambria"/>
              <a:cs typeface="+mn-lt"/>
            </a:endParaRPr>
          </a:p>
          <a:p>
            <a:pPr lvl="1">
              <a:buFont typeface="Courier New" panose="020B0604020202020204" pitchFamily="34" charset="0"/>
              <a:buChar char="o"/>
            </a:pPr>
            <a:r>
              <a:rPr lang="en-US" sz="2000" b="1" dirty="0">
                <a:ea typeface="+mn-lt"/>
                <a:cs typeface="+mn-lt"/>
              </a:rPr>
              <a:t>Solution:</a:t>
            </a:r>
            <a:r>
              <a:rPr lang="en-US" sz="2000" dirty="0">
                <a:ea typeface="+mn-lt"/>
                <a:cs typeface="+mn-lt"/>
              </a:rPr>
              <a:t> Implemented the </a:t>
            </a:r>
            <a:r>
              <a:rPr lang="en-US" sz="2000" dirty="0" err="1">
                <a:ea typeface="+mn-lt"/>
                <a:cs typeface="+mn-lt"/>
              </a:rPr>
              <a:t>FileCursor</a:t>
            </a:r>
            <a:r>
              <a:rPr lang="en-US" sz="2000" dirty="0">
                <a:ea typeface="+mn-lt"/>
                <a:cs typeface="+mn-lt"/>
              </a:rPr>
              <a:t> class. This object-oriented approach encapsulates the file reading logic, keeping the current line and index safe and consistent.</a:t>
            </a:r>
            <a:endParaRPr lang="en-US" sz="2000" dirty="0">
              <a:ea typeface="Cambria"/>
              <a:cs typeface="+mn-lt"/>
            </a:endParaRPr>
          </a:p>
          <a:p>
            <a:r>
              <a:rPr lang="en-US" b="1" dirty="0">
                <a:ea typeface="+mn-lt"/>
                <a:cs typeface="+mn-lt"/>
              </a:rPr>
              <a:t>Modularization:</a:t>
            </a:r>
            <a:endParaRPr lang="en-US" dirty="0">
              <a:ea typeface="Cambria"/>
              <a:cs typeface="+mn-lt"/>
            </a:endParaRPr>
          </a:p>
          <a:p>
            <a:pPr lvl="1">
              <a:buFont typeface="Courier New" panose="020B0604020202020204" pitchFamily="34" charset="0"/>
              <a:buChar char="o"/>
            </a:pPr>
            <a:r>
              <a:rPr lang="en-US" sz="2000" b="1" dirty="0">
                <a:ea typeface="+mn-lt"/>
                <a:cs typeface="+mn-lt"/>
              </a:rPr>
              <a:t>Problem:</a:t>
            </a:r>
            <a:r>
              <a:rPr lang="en-US" sz="2000" dirty="0">
                <a:ea typeface="+mn-lt"/>
                <a:cs typeface="+mn-lt"/>
              </a:rPr>
              <a:t> The logic for parsing files and comparing them was mixed into one massive procedural block.</a:t>
            </a:r>
            <a:endParaRPr lang="en-US" sz="2000" dirty="0">
              <a:ea typeface="Cambria"/>
              <a:cs typeface="+mn-lt"/>
            </a:endParaRPr>
          </a:p>
          <a:p>
            <a:pPr lvl="1">
              <a:buFont typeface="Courier New" panose="020B0604020202020204" pitchFamily="34" charset="0"/>
              <a:buChar char="o"/>
            </a:pPr>
            <a:r>
              <a:rPr lang="en-US" sz="2000" b="1" dirty="0">
                <a:ea typeface="+mn-lt"/>
                <a:cs typeface="+mn-lt"/>
              </a:rPr>
              <a:t>Solution:</a:t>
            </a:r>
            <a:r>
              <a:rPr lang="en-US" sz="2000" dirty="0">
                <a:ea typeface="+mn-lt"/>
                <a:cs typeface="+mn-lt"/>
              </a:rPr>
              <a:t> Extracted distinct responsibilities into named methods like </a:t>
            </a:r>
            <a:r>
              <a:rPr lang="en-US" sz="2000" dirty="0" err="1">
                <a:ea typeface="Cambria"/>
                <a:cs typeface="+mn-lt"/>
              </a:rPr>
              <a:t>parse_lef_files</a:t>
            </a:r>
            <a:r>
              <a:rPr lang="en-US" sz="2000" dirty="0">
                <a:ea typeface="+mn-lt"/>
                <a:cs typeface="+mn-lt"/>
              </a:rPr>
              <a:t>, </a:t>
            </a:r>
            <a:r>
              <a:rPr lang="en-US" sz="2000" dirty="0" err="1">
                <a:ea typeface="Cambria"/>
                <a:cs typeface="+mn-lt"/>
              </a:rPr>
              <a:t>parse_lib_files</a:t>
            </a:r>
            <a:r>
              <a:rPr lang="en-US" sz="2000" dirty="0">
                <a:ea typeface="+mn-lt"/>
                <a:cs typeface="+mn-lt"/>
              </a:rPr>
              <a:t>, and </a:t>
            </a:r>
            <a:r>
              <a:rPr lang="en-US" sz="2000" dirty="0" err="1">
                <a:ea typeface="Cambria"/>
                <a:cs typeface="+mn-lt"/>
              </a:rPr>
              <a:t>compare_lef_lib</a:t>
            </a:r>
            <a:r>
              <a:rPr lang="en-US" sz="2000" dirty="0">
                <a:ea typeface="+mn-lt"/>
                <a:cs typeface="+mn-lt"/>
              </a:rPr>
              <a:t>.</a:t>
            </a:r>
            <a:endParaRPr lang="en-US" sz="2000" dirty="0">
              <a:ea typeface="Cambria"/>
              <a:cs typeface="+mn-lt"/>
            </a:endParaRPr>
          </a:p>
          <a:p>
            <a:r>
              <a:rPr lang="en-US" b="1" dirty="0">
                <a:ea typeface="+mn-lt"/>
                <a:cs typeface="+mn-lt"/>
              </a:rPr>
              <a:t>Safe Resource Management:</a:t>
            </a:r>
            <a:endParaRPr lang="en-US" dirty="0">
              <a:ea typeface="Cambria"/>
              <a:cs typeface="+mn-lt"/>
            </a:endParaRPr>
          </a:p>
          <a:p>
            <a:pPr lvl="1">
              <a:buFont typeface="Courier New" panose="020B0604020202020204" pitchFamily="34" charset="0"/>
              <a:buChar char="o"/>
            </a:pPr>
            <a:r>
              <a:rPr lang="en-US" sz="2000" b="1" dirty="0">
                <a:ea typeface="+mn-lt"/>
                <a:cs typeface="+mn-lt"/>
              </a:rPr>
              <a:t>Problem:</a:t>
            </a:r>
            <a:r>
              <a:rPr lang="en-US" sz="2000" dirty="0">
                <a:ea typeface="+mn-lt"/>
                <a:cs typeface="+mn-lt"/>
              </a:rPr>
              <a:t> Files were opened manually and risked remaining open if the script crashed.</a:t>
            </a:r>
            <a:endParaRPr lang="en-US" sz="2000" dirty="0">
              <a:ea typeface="Cambria"/>
              <a:cs typeface="+mn-lt"/>
            </a:endParaRPr>
          </a:p>
          <a:p>
            <a:pPr lvl="1">
              <a:buFont typeface="Courier New" panose="020B0604020202020204" pitchFamily="34" charset="0"/>
              <a:buChar char="o"/>
            </a:pPr>
            <a:r>
              <a:rPr lang="en-US" sz="2000" b="1" dirty="0">
                <a:ea typeface="+mn-lt"/>
                <a:cs typeface="+mn-lt"/>
              </a:rPr>
              <a:t>Solution:</a:t>
            </a:r>
            <a:r>
              <a:rPr lang="en-US" sz="2000" dirty="0">
                <a:ea typeface="+mn-lt"/>
                <a:cs typeface="+mn-lt"/>
              </a:rPr>
              <a:t> Converted file operations to use Ruby's block syntax (</a:t>
            </a:r>
            <a:r>
              <a:rPr lang="en-US" sz="2000" dirty="0" err="1">
                <a:ea typeface="Cambria"/>
                <a:cs typeface="+mn-lt"/>
              </a:rPr>
              <a:t>File.open</a:t>
            </a:r>
            <a:r>
              <a:rPr lang="en-US" sz="2000" dirty="0">
                <a:ea typeface="Cambria"/>
                <a:cs typeface="+mn-lt"/>
              </a:rPr>
              <a:t>(...) do |file|</a:t>
            </a:r>
            <a:r>
              <a:rPr lang="en-US" sz="2000" dirty="0">
                <a:ea typeface="+mn-lt"/>
                <a:cs typeface="+mn-lt"/>
              </a:rPr>
              <a:t>), ensuring all files close automatically even if errors occur.</a:t>
            </a:r>
            <a:endParaRPr lang="en-US" sz="2000" dirty="0"/>
          </a:p>
          <a:p>
            <a:endParaRPr lang="en-US" sz="1900">
              <a:ea typeface="Cambria" panose="02040503050406030204" pitchFamily="18" charset="0"/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B186F00-8546-18AA-F19B-3B49A8B48E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6D28ED-750A-4DFC-A458-38B3E79E4C7D}" type="datetime1">
              <a:rPr lang="en-US" sz="1400" smtClean="0">
                <a:solidFill>
                  <a:srgbClr val="0070C0"/>
                </a:solidFill>
                <a:ea typeface="Cambria" panose="02040503050406030204" pitchFamily="18" charset="0"/>
              </a:rPr>
              <a:t>12/19/2025</a:t>
            </a:fld>
            <a:endParaRPr lang="en-US" sz="1400">
              <a:solidFill>
                <a:srgbClr val="0070C0"/>
              </a:solidFill>
              <a:ea typeface="Cambria" panose="02040503050406030204" pitchFamily="18" charset="0"/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6E2309E-495B-44D1-235E-C95B092EEB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 sz="1400">
                <a:solidFill>
                  <a:srgbClr val="0070C0"/>
                </a:solidFill>
                <a:ea typeface="Cambria" panose="02040503050406030204" pitchFamily="18" charset="0"/>
              </a:rPr>
              <a:t>EE/CPE584 Intro to VLSI</a:t>
            </a:r>
            <a:endParaRPr lang="en-US" sz="1400">
              <a:solidFill>
                <a:srgbClr val="0070C0"/>
              </a:solidFill>
              <a:ea typeface="Cambria" panose="02040503050406030204" pitchFamily="18" charset="0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46B28F8-9E10-EA80-FC44-194E2276A9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8A6112-8193-45F5-863E-CC8218595965}" type="slidenum">
              <a:rPr lang="en-US" sz="1400" smtClean="0">
                <a:solidFill>
                  <a:srgbClr val="0070C0"/>
                </a:solidFill>
                <a:ea typeface="Cambria" panose="02040503050406030204" pitchFamily="18" charset="0"/>
              </a:rPr>
              <a:t>39</a:t>
            </a:fld>
            <a:endParaRPr lang="en-US" sz="1400">
              <a:solidFill>
                <a:srgbClr val="0070C0"/>
              </a:solidFill>
              <a:ea typeface="Cambria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4997811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EB13A0-9B02-B987-4326-D291998349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C741AA8-03CE-7C1E-7E1E-A01B8098D9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6D28ED-750A-4DFC-A458-38B3E79E4C7D}" type="datetime1">
              <a:rPr lang="en-US" sz="1400" smtClean="0">
                <a:solidFill>
                  <a:srgbClr val="0070C0"/>
                </a:solidFill>
                <a:ea typeface="Cambria" panose="02040503050406030204" pitchFamily="18" charset="0"/>
              </a:rPr>
              <a:t>12/19/2025</a:t>
            </a:fld>
            <a:endParaRPr lang="en-US" sz="1400">
              <a:solidFill>
                <a:srgbClr val="0070C0"/>
              </a:solidFill>
              <a:ea typeface="Cambria" panose="02040503050406030204" pitchFamily="18" charset="0"/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ABC6A75-84B8-563D-5FB5-7576D2F988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 sz="1400">
                <a:solidFill>
                  <a:srgbClr val="0070C0"/>
                </a:solidFill>
                <a:ea typeface="Cambria" panose="02040503050406030204" pitchFamily="18" charset="0"/>
              </a:rPr>
              <a:t>EE/CPE584 Intro to VLSI</a:t>
            </a:r>
            <a:endParaRPr lang="en-US" sz="1400">
              <a:solidFill>
                <a:srgbClr val="0070C0"/>
              </a:solidFill>
              <a:ea typeface="Cambria" panose="02040503050406030204" pitchFamily="18" charset="0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39E461D-B1E9-FBC0-4584-EF8653A611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8A6112-8193-45F5-863E-CC8218595965}" type="slidenum">
              <a:rPr lang="en-US" sz="1400" smtClean="0">
                <a:solidFill>
                  <a:srgbClr val="0070C0"/>
                </a:solidFill>
                <a:ea typeface="Cambria" panose="02040503050406030204" pitchFamily="18" charset="0"/>
              </a:rPr>
              <a:t>40</a:t>
            </a:fld>
            <a:endParaRPr lang="en-US" sz="1400">
              <a:solidFill>
                <a:srgbClr val="0070C0"/>
              </a:solidFill>
              <a:ea typeface="Cambria" panose="02040503050406030204" pitchFamily="18" charset="0"/>
            </a:endParaRPr>
          </a:p>
        </p:txBody>
      </p:sp>
      <p:graphicFrame>
        <p:nvGraphicFramePr>
          <p:cNvPr id="9" name="Content Placeholder 8">
            <a:extLst>
              <a:ext uri="{FF2B5EF4-FFF2-40B4-BE49-F238E27FC236}">
                <a16:creationId xmlns:a16="http://schemas.microsoft.com/office/drawing/2014/main" id="{D8F85FDE-DF22-7847-D8F5-22715A76708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630997518"/>
              </p:ext>
            </p:extLst>
          </p:nvPr>
        </p:nvGraphicFramePr>
        <p:xfrm>
          <a:off x="225775" y="837792"/>
          <a:ext cx="11741973" cy="53836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41957">
                  <a:extLst>
                    <a:ext uri="{9D8B030D-6E8A-4147-A177-3AD203B41FA5}">
                      <a16:colId xmlns:a16="http://schemas.microsoft.com/office/drawing/2014/main" val="2922194988"/>
                    </a:ext>
                  </a:extLst>
                </a:gridCol>
                <a:gridCol w="3732243">
                  <a:extLst>
                    <a:ext uri="{9D8B030D-6E8A-4147-A177-3AD203B41FA5}">
                      <a16:colId xmlns:a16="http://schemas.microsoft.com/office/drawing/2014/main" val="736724993"/>
                    </a:ext>
                  </a:extLst>
                </a:gridCol>
                <a:gridCol w="1329612">
                  <a:extLst>
                    <a:ext uri="{9D8B030D-6E8A-4147-A177-3AD203B41FA5}">
                      <a16:colId xmlns:a16="http://schemas.microsoft.com/office/drawing/2014/main" val="2703954245"/>
                    </a:ext>
                  </a:extLst>
                </a:gridCol>
                <a:gridCol w="6038161">
                  <a:extLst>
                    <a:ext uri="{9D8B030D-6E8A-4147-A177-3AD203B41FA5}">
                      <a16:colId xmlns:a16="http://schemas.microsoft.com/office/drawing/2014/main" val="3820929060"/>
                    </a:ext>
                  </a:extLst>
                </a:gridCol>
              </a:tblGrid>
              <a:tr h="307035">
                <a:tc>
                  <a:txBody>
                    <a:bodyPr/>
                    <a:lstStyle/>
                    <a:p>
                      <a:pPr marL="0" lvl="0" indent="0" algn="ctr">
                        <a:buNone/>
                      </a:pPr>
                      <a:r>
                        <a:rPr lang="en-US" b="1" dirty="0">
                          <a:latin typeface="+mn-lt"/>
                        </a:rPr>
                        <a:t>#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ctr">
                        <a:buNone/>
                      </a:pPr>
                      <a:r>
                        <a:rPr lang="en-US" b="1">
                          <a:latin typeface="+mn-lt"/>
                        </a:rPr>
                        <a:t>TODO Description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ctr">
                        <a:buNone/>
                      </a:pPr>
                      <a:r>
                        <a:rPr lang="en-US" b="1">
                          <a:latin typeface="+mn-lt"/>
                        </a:rPr>
                        <a:t>Status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ctr">
                        <a:buNone/>
                      </a:pPr>
                      <a:r>
                        <a:rPr lang="en-US" b="1">
                          <a:latin typeface="+mn-lt"/>
                        </a:rPr>
                        <a:t>Notes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18679985"/>
                  </a:ext>
                </a:extLst>
              </a:tr>
              <a:tr h="307035">
                <a:tc>
                  <a:txBody>
                    <a:bodyPr/>
                    <a:lstStyle/>
                    <a:p>
                      <a:pPr marL="0" lvl="0" indent="0" algn="ctr">
                        <a:buNone/>
                      </a:pPr>
                      <a:r>
                        <a:rPr lang="en-US">
                          <a:latin typeface="+mn-lt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ctr">
                        <a:buNone/>
                      </a:pPr>
                      <a:r>
                        <a:rPr lang="en-US" sz="1800" b="0" i="0" u="none" strike="noStrike" noProof="0">
                          <a:latin typeface="+mn-lt"/>
                        </a:rPr>
                        <a:t>Wrap file/index in </a:t>
                      </a:r>
                      <a:r>
                        <a:rPr lang="en-US" sz="1800" b="0" i="0" u="none" strike="noStrike" noProof="0" err="1">
                          <a:latin typeface="+mn-lt"/>
                        </a:rPr>
                        <a:t>PBR_Int</a:t>
                      </a:r>
                      <a:endParaRPr lang="en-US"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ctr">
                        <a:buNone/>
                      </a:pPr>
                      <a:r>
                        <a:rPr lang="en-US" sz="1800" b="0" i="0" u="none" strike="noStrike" noProof="0">
                          <a:latin typeface="+mn-lt"/>
                        </a:rPr>
                        <a:t>✅ DONE</a:t>
                      </a:r>
                      <a:endParaRPr lang="en-US" b="0"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ctr">
                        <a:buNone/>
                      </a:pPr>
                      <a:r>
                        <a:rPr lang="en-US" sz="1800" b="0" i="0" u="none" strike="noStrike" noProof="0" dirty="0">
                          <a:solidFill>
                            <a:srgbClr val="000000"/>
                          </a:solidFill>
                          <a:latin typeface="+mn-lt"/>
                        </a:rPr>
                        <a:t>Replaced with object-oriented </a:t>
                      </a:r>
                      <a:r>
                        <a:rPr lang="en-US" sz="1800" b="0" i="0" u="none" strike="noStrike" noProof="0" dirty="0" err="1">
                          <a:solidFill>
                            <a:srgbClr val="000000"/>
                          </a:solidFill>
                          <a:latin typeface="+mn-lt"/>
                        </a:rPr>
                        <a:t>FileCursor</a:t>
                      </a:r>
                      <a:r>
                        <a:rPr lang="en-US" sz="1800" b="0" i="0" u="none" strike="noStrike" noProof="0" dirty="0">
                          <a:solidFill>
                            <a:srgbClr val="000000"/>
                          </a:solidFill>
                          <a:latin typeface="+mn-lt"/>
                        </a:rPr>
                        <a:t> class</a:t>
                      </a:r>
                      <a:endParaRPr lang="en-US">
                        <a:solidFill>
                          <a:srgbClr val="000000"/>
                        </a:solidFill>
                        <a:latin typeface="+mn-lt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48455025"/>
                  </a:ext>
                </a:extLst>
              </a:tr>
              <a:tr h="307035">
                <a:tc>
                  <a:txBody>
                    <a:bodyPr/>
                    <a:lstStyle/>
                    <a:p>
                      <a:pPr marL="0" lvl="0" indent="0" algn="ctr">
                        <a:buNone/>
                      </a:pPr>
                      <a:r>
                        <a:rPr lang="en-US">
                          <a:latin typeface="+mn-lt"/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ctr">
                        <a:buNone/>
                      </a:pPr>
                      <a:r>
                        <a:rPr lang="en-US" sz="1800" b="0" i="0" u="none" strike="noStrike" baseline="0" noProof="0" dirty="0">
                          <a:solidFill>
                            <a:srgbClr val="000000"/>
                          </a:solidFill>
                          <a:latin typeface="+mn-lt"/>
                        </a:rPr>
                        <a:t>Collect </a:t>
                      </a:r>
                      <a:r>
                        <a:rPr lang="en-US" sz="1800" b="0" i="0" u="none" strike="noStrike" baseline="0" noProof="0" dirty="0" err="1">
                          <a:solidFill>
                            <a:srgbClr val="000000"/>
                          </a:solidFill>
                          <a:latin typeface="+mn-lt"/>
                        </a:rPr>
                        <a:t>get_current_line</a:t>
                      </a:r>
                      <a:r>
                        <a:rPr lang="en-US" sz="1800" b="0" i="0" u="none" strike="noStrike" baseline="0" noProof="0" dirty="0">
                          <a:solidFill>
                            <a:srgbClr val="000000"/>
                          </a:solidFill>
                          <a:latin typeface="+mn-lt"/>
                        </a:rPr>
                        <a:t> methods</a:t>
                      </a:r>
                      <a:endParaRPr lang="en-US"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ctr">
                        <a:buNone/>
                      </a:pPr>
                      <a:r>
                        <a:rPr lang="en-US" sz="1800" b="0" i="0" u="none" strike="noStrike" baseline="0" noProof="0" dirty="0">
                          <a:solidFill>
                            <a:srgbClr val="000000"/>
                          </a:solidFill>
                          <a:latin typeface="+mn-lt"/>
                        </a:rPr>
                        <a:t>✅ DONE</a:t>
                      </a:r>
                      <a:endParaRPr lang="en-US"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ctr">
                        <a:buNone/>
                      </a:pPr>
                      <a:r>
                        <a:rPr lang="en-US" sz="1800" b="0" i="0" u="none" strike="noStrike" baseline="0" noProof="0" dirty="0">
                          <a:solidFill>
                            <a:srgbClr val="000000"/>
                          </a:solidFill>
                          <a:latin typeface="+mn-lt"/>
                        </a:rPr>
                        <a:t>Replaced with object-oriented </a:t>
                      </a:r>
                      <a:r>
                        <a:rPr lang="en-US" sz="1800" b="0" i="0" u="none" strike="noStrike" baseline="0" noProof="0" dirty="0" err="1">
                          <a:solidFill>
                            <a:srgbClr val="000000"/>
                          </a:solidFill>
                          <a:latin typeface="+mn-lt"/>
                        </a:rPr>
                        <a:t>FileCursor</a:t>
                      </a:r>
                      <a:r>
                        <a:rPr lang="en-US" sz="1800" b="0" i="0" u="none" strike="noStrike" baseline="0" noProof="0" dirty="0">
                          <a:solidFill>
                            <a:srgbClr val="000000"/>
                          </a:solidFill>
                          <a:latin typeface="+mn-lt"/>
                        </a:rPr>
                        <a:t> class</a:t>
                      </a:r>
                      <a:endParaRPr lang="en-US">
                        <a:latin typeface="+mn-lt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94635679"/>
                  </a:ext>
                </a:extLst>
              </a:tr>
              <a:tr h="364605">
                <a:tc>
                  <a:txBody>
                    <a:bodyPr/>
                    <a:lstStyle/>
                    <a:p>
                      <a:pPr marL="0" lvl="0" indent="0" algn="ctr">
                        <a:buNone/>
                      </a:pPr>
                      <a:r>
                        <a:rPr lang="en-US">
                          <a:latin typeface="+mn-lt"/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ctr">
                        <a:buNone/>
                      </a:pPr>
                      <a:r>
                        <a:rPr lang="en-US" sz="1800" b="0" i="0" u="none" strike="noStrike" baseline="0" noProof="0" dirty="0">
                          <a:solidFill>
                            <a:srgbClr val="000000"/>
                          </a:solidFill>
                          <a:latin typeface="+mn-lt"/>
                        </a:rPr>
                        <a:t>WS DIR Parsing needs method</a:t>
                      </a:r>
                      <a:endParaRPr lang="en-US"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ctr">
                        <a:buNone/>
                      </a:pPr>
                      <a:r>
                        <a:rPr lang="en-US" sz="1800" b="0" i="0" u="none" strike="noStrike" baseline="0" noProof="0" dirty="0">
                          <a:solidFill>
                            <a:srgbClr val="000000"/>
                          </a:solidFill>
                          <a:latin typeface="+mn-lt"/>
                        </a:rPr>
                        <a:t>✅ DONE</a:t>
                      </a:r>
                      <a:endParaRPr lang="en-US"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ctr">
                        <a:buNone/>
                      </a:pPr>
                      <a:r>
                        <a:rPr lang="en-US" sz="1800" b="0" i="0" u="none" strike="noStrike" baseline="0" noProof="0" dirty="0">
                          <a:solidFill>
                            <a:srgbClr val="000000"/>
                          </a:solidFill>
                          <a:latin typeface="+mn-lt"/>
                        </a:rPr>
                        <a:t>Logic extracted into modular functions to </a:t>
                      </a:r>
                      <a:r>
                        <a:rPr lang="en-US" sz="1800" b="0" i="0" u="none" strike="noStrike" baseline="0" noProof="0" dirty="0" err="1">
                          <a:solidFill>
                            <a:srgbClr val="000000"/>
                          </a:solidFill>
                          <a:latin typeface="+mn-lt"/>
                        </a:rPr>
                        <a:t>parse_ws_dir</a:t>
                      </a:r>
                      <a:r>
                        <a:rPr lang="en-US" sz="1800" b="0" i="0" u="none" strike="noStrike" baseline="0" noProof="0" dirty="0">
                          <a:solidFill>
                            <a:srgbClr val="000000"/>
                          </a:solidFill>
                          <a:latin typeface="+mn-lt"/>
                        </a:rPr>
                        <a:t>.</a:t>
                      </a:r>
                      <a:endParaRPr lang="en-US">
                        <a:latin typeface="+mn-lt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60288363"/>
                  </a:ext>
                </a:extLst>
              </a:tr>
              <a:tr h="364605">
                <a:tc>
                  <a:txBody>
                    <a:bodyPr/>
                    <a:lstStyle/>
                    <a:p>
                      <a:pPr marL="0" lvl="0" indent="0" algn="ctr">
                        <a:buNone/>
                      </a:pPr>
                      <a:r>
                        <a:rPr lang="en-US">
                          <a:latin typeface="+mn-lt"/>
                        </a:rP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ctr">
                        <a:buNone/>
                      </a:pPr>
                      <a:r>
                        <a:rPr lang="en-US" sz="1800" b="0" i="0" u="none" strike="noStrike" baseline="0" noProof="0" dirty="0">
                          <a:solidFill>
                            <a:srgbClr val="000000"/>
                          </a:solidFill>
                          <a:latin typeface="+mn-lt"/>
                        </a:rPr>
                        <a:t>LEF Parsing needs method</a:t>
                      </a:r>
                      <a:endParaRPr lang="en-US"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ctr">
                        <a:buNone/>
                      </a:pPr>
                      <a:r>
                        <a:rPr lang="en-US" sz="1800" b="0" i="0" u="none" strike="noStrike" baseline="0" noProof="0" dirty="0">
                          <a:solidFill>
                            <a:srgbClr val="000000"/>
                          </a:solidFill>
                          <a:latin typeface="+mn-lt"/>
                        </a:rPr>
                        <a:t>✅ DONE</a:t>
                      </a:r>
                      <a:endParaRPr lang="en-US"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ctr">
                        <a:buNone/>
                      </a:pPr>
                      <a:r>
                        <a:rPr lang="en-US" sz="1800" b="0" i="0" u="none" strike="noStrike" baseline="0" noProof="0" dirty="0">
                          <a:solidFill>
                            <a:srgbClr val="000000"/>
                          </a:solidFill>
                          <a:latin typeface="+mn-lt"/>
                        </a:rPr>
                        <a:t>Logic extracted into modular functions to </a:t>
                      </a:r>
                      <a:r>
                        <a:rPr lang="en-US" sz="1800" b="0" i="0" u="none" strike="noStrike" baseline="0" noProof="0" dirty="0" err="1">
                          <a:solidFill>
                            <a:srgbClr val="000000"/>
                          </a:solidFill>
                          <a:latin typeface="+mn-lt"/>
                        </a:rPr>
                        <a:t>parse_lef_files</a:t>
                      </a:r>
                      <a:r>
                        <a:rPr lang="en-US" sz="1800" b="0" i="0" u="none" strike="noStrike" baseline="0" noProof="0" dirty="0">
                          <a:solidFill>
                            <a:srgbClr val="000000"/>
                          </a:solidFill>
                          <a:latin typeface="+mn-lt"/>
                        </a:rPr>
                        <a:t>.</a:t>
                      </a:r>
                      <a:endParaRPr lang="en-US">
                        <a:latin typeface="+mn-lt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094115"/>
                  </a:ext>
                </a:extLst>
              </a:tr>
              <a:tr h="364605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>
                          <a:latin typeface="+mn-lt"/>
                        </a:rP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ctr">
                        <a:buNone/>
                      </a:pPr>
                      <a:r>
                        <a:rPr lang="en-US" sz="1800" b="0" i="0" u="none" strike="noStrike" baseline="0" noProof="0" dirty="0">
                          <a:solidFill>
                            <a:srgbClr val="000000"/>
                          </a:solidFill>
                          <a:latin typeface="+mn-lt"/>
                        </a:rPr>
                        <a:t>Lib Parsing needs method</a:t>
                      </a:r>
                      <a:endParaRPr lang="en-US"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ctr">
                        <a:buNone/>
                      </a:pPr>
                      <a:r>
                        <a:rPr lang="en-US" sz="1800" b="0" i="0" u="none" strike="noStrike" baseline="0" noProof="0" dirty="0">
                          <a:solidFill>
                            <a:srgbClr val="000000"/>
                          </a:solidFill>
                          <a:latin typeface="+mn-lt"/>
                        </a:rPr>
                        <a:t>✅ DONE</a:t>
                      </a:r>
                      <a:endParaRPr lang="en-US"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ctr">
                        <a:buNone/>
                      </a:pPr>
                      <a:r>
                        <a:rPr lang="en-US" sz="1800" b="0" i="0" u="none" strike="noStrike" baseline="0" noProof="0" dirty="0">
                          <a:solidFill>
                            <a:srgbClr val="000000"/>
                          </a:solidFill>
                          <a:latin typeface="+mn-lt"/>
                        </a:rPr>
                        <a:t>Logic extracted into modular functions to </a:t>
                      </a:r>
                      <a:r>
                        <a:rPr lang="en-US" sz="1800" b="0" i="0" u="none" strike="noStrike" baseline="0" noProof="0" dirty="0" err="1">
                          <a:solidFill>
                            <a:srgbClr val="000000"/>
                          </a:solidFill>
                          <a:latin typeface="+mn-lt"/>
                        </a:rPr>
                        <a:t>parse_lib_files</a:t>
                      </a:r>
                      <a:r>
                        <a:rPr lang="en-US" sz="1800" b="0" i="0" u="none" strike="noStrike" baseline="0" noProof="0" dirty="0">
                          <a:solidFill>
                            <a:srgbClr val="000000"/>
                          </a:solidFill>
                          <a:latin typeface="+mn-lt"/>
                        </a:rPr>
                        <a:t>.</a:t>
                      </a:r>
                      <a:endParaRPr lang="en-US">
                        <a:latin typeface="+mn-lt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86946396"/>
                  </a:ext>
                </a:extLst>
              </a:tr>
              <a:tr h="364605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>
                          <a:latin typeface="+mn-lt"/>
                        </a:rPr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ctr">
                        <a:buNone/>
                      </a:pPr>
                      <a:r>
                        <a:rPr lang="en-US" sz="1800" b="0" i="0" u="none" strike="noStrike" baseline="0" noProof="0" dirty="0">
                          <a:solidFill>
                            <a:srgbClr val="000000"/>
                          </a:solidFill>
                          <a:latin typeface="+mn-lt"/>
                        </a:rPr>
                        <a:t>LEF-LIB Compare needs method</a:t>
                      </a:r>
                      <a:endParaRPr lang="en-US"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ctr">
                        <a:buNone/>
                      </a:pPr>
                      <a:r>
                        <a:rPr lang="en-US" sz="1800" b="0" i="0" u="none" strike="noStrike" baseline="0" noProof="0" dirty="0">
                          <a:solidFill>
                            <a:srgbClr val="000000"/>
                          </a:solidFill>
                          <a:latin typeface="+mn-lt"/>
                        </a:rPr>
                        <a:t>✅ DONE</a:t>
                      </a:r>
                      <a:endParaRPr lang="en-US"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ctr">
                        <a:buNone/>
                      </a:pPr>
                      <a:r>
                        <a:rPr lang="en-US" sz="1800" b="0" i="0" u="none" strike="noStrike" baseline="0" noProof="0" dirty="0">
                          <a:solidFill>
                            <a:srgbClr val="000000"/>
                          </a:solidFill>
                          <a:latin typeface="+mn-lt"/>
                        </a:rPr>
                        <a:t>Logic extracted into modular functions to </a:t>
                      </a:r>
                      <a:r>
                        <a:rPr lang="en-US" sz="1800" b="0" i="0" u="none" strike="noStrike" baseline="0" noProof="0" dirty="0" err="1">
                          <a:solidFill>
                            <a:srgbClr val="000000"/>
                          </a:solidFill>
                          <a:latin typeface="+mn-lt"/>
                        </a:rPr>
                        <a:t>compare_lef_lib</a:t>
                      </a:r>
                      <a:r>
                        <a:rPr lang="en-US" sz="1800" b="0" i="0" u="none" strike="noStrike" baseline="0" noProof="0" dirty="0">
                          <a:solidFill>
                            <a:srgbClr val="000000"/>
                          </a:solidFill>
                          <a:latin typeface="+mn-lt"/>
                        </a:rPr>
                        <a:t>.</a:t>
                      </a:r>
                      <a:endParaRPr lang="en-US">
                        <a:latin typeface="+mn-lt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97863373"/>
                  </a:ext>
                </a:extLst>
              </a:tr>
              <a:tr h="364605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>
                          <a:latin typeface="+mn-lt"/>
                        </a:rPr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ctr">
                        <a:buNone/>
                      </a:pPr>
                      <a:r>
                        <a:rPr lang="en-US" sz="1800" b="0" i="0" u="none" strike="noStrike" baseline="0" noProof="0" dirty="0">
                          <a:solidFill>
                            <a:srgbClr val="000000"/>
                          </a:solidFill>
                          <a:latin typeface="+mn-lt"/>
                        </a:rPr>
                        <a:t>Print file needs method</a:t>
                      </a:r>
                      <a:endParaRPr lang="en-US"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ctr">
                        <a:buNone/>
                      </a:pPr>
                      <a:r>
                        <a:rPr lang="en-US" sz="1800" b="0" i="0" u="none" strike="noStrike" baseline="0" noProof="0" dirty="0">
                          <a:solidFill>
                            <a:srgbClr val="000000"/>
                          </a:solidFill>
                          <a:latin typeface="+mn-lt"/>
                        </a:rPr>
                        <a:t>✅ DONE</a:t>
                      </a:r>
                      <a:endParaRPr lang="en-US"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ctr">
                        <a:buNone/>
                      </a:pPr>
                      <a:r>
                        <a:rPr lang="en-US" sz="1800" b="0" i="0" u="none" strike="noStrike" baseline="0" noProof="0" dirty="0">
                          <a:solidFill>
                            <a:srgbClr val="000000"/>
                          </a:solidFill>
                          <a:latin typeface="+mn-lt"/>
                        </a:rPr>
                        <a:t>Logic extracted into modular functions to </a:t>
                      </a:r>
                      <a:r>
                        <a:rPr lang="en-US" sz="1800" b="0" i="0" u="none" strike="noStrike" baseline="0" noProof="0" dirty="0" err="1">
                          <a:solidFill>
                            <a:srgbClr val="000000"/>
                          </a:solidFill>
                          <a:latin typeface="+mn-lt"/>
                        </a:rPr>
                        <a:t>print_output_files</a:t>
                      </a:r>
                      <a:r>
                        <a:rPr lang="en-US" sz="1800" b="0" i="0" u="none" strike="noStrike" baseline="0" noProof="0" dirty="0">
                          <a:solidFill>
                            <a:srgbClr val="000000"/>
                          </a:solidFill>
                          <a:latin typeface="+mn-lt"/>
                        </a:rPr>
                        <a:t>.</a:t>
                      </a:r>
                      <a:endParaRPr lang="en-US">
                        <a:latin typeface="+mn-lt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73901080"/>
                  </a:ext>
                </a:extLst>
              </a:tr>
              <a:tr h="537312">
                <a:tc>
                  <a:txBody>
                    <a:bodyPr/>
                    <a:lstStyle/>
                    <a:p>
                      <a:pPr marL="0" lvl="0" indent="0" algn="ctr">
                        <a:buNone/>
                      </a:pPr>
                      <a:r>
                        <a:rPr lang="en-US">
                          <a:latin typeface="+mn-lt"/>
                        </a:rPr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ctr">
                        <a:buNone/>
                      </a:pPr>
                      <a:r>
                        <a:rPr lang="en-US" sz="1800" b="0" i="0" u="none" strike="noStrike" baseline="0" noProof="0" dirty="0">
                          <a:solidFill>
                            <a:srgbClr val="000000"/>
                          </a:solidFill>
                          <a:latin typeface="+mn-lt"/>
                        </a:rPr>
                        <a:t>Use block format for </a:t>
                      </a:r>
                      <a:r>
                        <a:rPr lang="en-US" sz="1800" b="0" i="0" u="none" strike="noStrike" baseline="0" noProof="0" dirty="0" err="1">
                          <a:solidFill>
                            <a:srgbClr val="000000"/>
                          </a:solidFill>
                          <a:latin typeface="+mn-lt"/>
                        </a:rPr>
                        <a:t>File.open</a:t>
                      </a:r>
                      <a:endParaRPr lang="en-US" err="1"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ctr">
                        <a:buNone/>
                      </a:pPr>
                      <a:r>
                        <a:rPr lang="en-US" sz="1800" b="0" i="0" u="none" strike="noStrike" baseline="0" noProof="0" dirty="0">
                          <a:solidFill>
                            <a:srgbClr val="000000"/>
                          </a:solidFill>
                          <a:latin typeface="+mn-lt"/>
                        </a:rPr>
                        <a:t>✅ DONE</a:t>
                      </a:r>
                      <a:endParaRPr lang="en-US"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ctr">
                        <a:buNone/>
                      </a:pPr>
                      <a:r>
                        <a:rPr lang="en-US" sz="1800" b="0" i="0" u="none" strike="noStrike" baseline="0" noProof="0">
                          <a:solidFill>
                            <a:srgbClr val="000000"/>
                          </a:solidFill>
                          <a:latin typeface="+mn-lt"/>
                        </a:rPr>
                        <a:t>Implemented in print_output_files. Implemented block syntax to auto-close files.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91542396"/>
                  </a:ext>
                </a:extLst>
              </a:tr>
              <a:tr h="307035">
                <a:tc>
                  <a:txBody>
                    <a:bodyPr/>
                    <a:lstStyle/>
                    <a:p>
                      <a:pPr marL="0" lvl="0" indent="0" algn="ctr">
                        <a:buNone/>
                      </a:pPr>
                      <a:r>
                        <a:rPr lang="en-US">
                          <a:latin typeface="+mn-lt"/>
                        </a:rPr>
                        <a:t>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ctr">
                        <a:buNone/>
                      </a:pPr>
                      <a:r>
                        <a:rPr lang="en-US" sz="1800" b="0" i="0" u="none" strike="noStrike" baseline="0" noProof="0" dirty="0">
                          <a:solidFill>
                            <a:srgbClr val="000000"/>
                          </a:solidFill>
                          <a:latin typeface="+mn-lt"/>
                        </a:rPr>
                        <a:t>Cell properties: case vs if/else</a:t>
                      </a:r>
                      <a:endParaRPr lang="en-US"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ctr">
                        <a:buNone/>
                      </a:pPr>
                      <a:r>
                        <a:rPr lang="en-US" sz="1800" b="0" i="0" u="none" strike="noStrike" baseline="0" noProof="0" dirty="0">
                          <a:solidFill>
                            <a:srgbClr val="000000"/>
                          </a:solidFill>
                          <a:latin typeface="+mn-lt"/>
                        </a:rPr>
                        <a:t>✅ DONE</a:t>
                      </a:r>
                      <a:endParaRPr lang="en-US"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ctr">
                        <a:buNone/>
                      </a:pPr>
                      <a:r>
                        <a:rPr lang="en-US" sz="1800" b="0" i="0" u="none" strike="noStrike" baseline="0" noProof="0" dirty="0">
                          <a:solidFill>
                            <a:srgbClr val="000000"/>
                          </a:solidFill>
                          <a:latin typeface="+mn-lt"/>
                        </a:rPr>
                        <a:t>Refactored Cell to use case.</a:t>
                      </a:r>
                      <a:endParaRPr lang="en-US">
                        <a:latin typeface="+mn-lt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49792731"/>
                  </a:ext>
                </a:extLst>
              </a:tr>
              <a:tr h="537312">
                <a:tc>
                  <a:txBody>
                    <a:bodyPr/>
                    <a:lstStyle/>
                    <a:p>
                      <a:pPr marL="0" lvl="0" indent="0" algn="ctr">
                        <a:buNone/>
                      </a:pPr>
                      <a:r>
                        <a:rPr lang="en-US">
                          <a:latin typeface="+mn-lt"/>
                        </a:rPr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ctr">
                        <a:buNone/>
                      </a:pPr>
                      <a:r>
                        <a:rPr lang="en-US" sz="1800" b="0" i="0" u="none" strike="noStrike" baseline="0" noProof="0" dirty="0">
                          <a:solidFill>
                            <a:srgbClr val="000000"/>
                          </a:solidFill>
                          <a:latin typeface="+mn-lt"/>
                        </a:rPr>
                        <a:t>Cell print: Writing to file inadvisable</a:t>
                      </a:r>
                      <a:endParaRPr lang="en-US"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ctr">
                        <a:buNone/>
                      </a:pPr>
                      <a:r>
                        <a:rPr lang="en-US" sz="1800" b="0" i="0" u="none" strike="noStrike" baseline="0" noProof="0" dirty="0">
                          <a:solidFill>
                            <a:srgbClr val="000000"/>
                          </a:solidFill>
                          <a:latin typeface="+mn-lt"/>
                        </a:rPr>
                        <a:t>✅ DONE</a:t>
                      </a:r>
                      <a:endParaRPr lang="en-US"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ctr">
                        <a:buNone/>
                      </a:pPr>
                      <a:r>
                        <a:rPr lang="en-US" sz="1800" b="0" i="0" u="none" strike="noStrike" baseline="0" noProof="0" dirty="0">
                          <a:solidFill>
                            <a:srgbClr val="000000"/>
                          </a:solidFill>
                          <a:latin typeface="+mn-lt"/>
                        </a:rPr>
                        <a:t>Refactored to </a:t>
                      </a:r>
                      <a:r>
                        <a:rPr lang="en-US" sz="1800" b="0" i="0" u="none" strike="noStrike" baseline="0" noProof="0" dirty="0" err="1">
                          <a:solidFill>
                            <a:srgbClr val="000000"/>
                          </a:solidFill>
                          <a:latin typeface="+mn-lt"/>
                        </a:rPr>
                        <a:t>to_s</a:t>
                      </a:r>
                      <a:r>
                        <a:rPr lang="en-US" sz="1800" b="0" i="0" u="none" strike="noStrike" baseline="0" noProof="0" dirty="0">
                          <a:solidFill>
                            <a:srgbClr val="000000"/>
                          </a:solidFill>
                          <a:latin typeface="+mn-lt"/>
                        </a:rPr>
                        <a:t>.</a:t>
                      </a:r>
                      <a:endParaRPr lang="en-US">
                        <a:latin typeface="+mn-lt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65247717"/>
                  </a:ext>
                </a:extLst>
              </a:tr>
              <a:tr h="537312">
                <a:tc>
                  <a:txBody>
                    <a:bodyPr/>
                    <a:lstStyle/>
                    <a:p>
                      <a:pPr marL="0" lvl="0" indent="0" algn="ctr">
                        <a:buNone/>
                      </a:pPr>
                      <a:r>
                        <a:rPr lang="en-US">
                          <a:latin typeface="+mn-lt"/>
                        </a:rPr>
                        <a:t>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ctr">
                        <a:buNone/>
                      </a:pPr>
                      <a:r>
                        <a:rPr lang="en-US" sz="1800" b="0" i="0" u="none" strike="noStrike" baseline="0" noProof="0" dirty="0">
                          <a:solidFill>
                            <a:srgbClr val="000000"/>
                          </a:solidFill>
                          <a:latin typeface="+mn-lt"/>
                        </a:rPr>
                        <a:t>Layer checks: Make TLEF required</a:t>
                      </a:r>
                      <a:endParaRPr lang="en-US"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ctr">
                        <a:buNone/>
                      </a:pPr>
                      <a:r>
                        <a:rPr lang="en-US" sz="1800" b="0" i="0" u="none" strike="noStrike" baseline="0" noProof="0" dirty="0">
                          <a:solidFill>
                            <a:srgbClr val="000000"/>
                          </a:solidFill>
                          <a:latin typeface="+mn-lt"/>
                        </a:rPr>
                        <a:t>✅ DONE</a:t>
                      </a:r>
                      <a:endParaRPr lang="en-US"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 i="0" u="none" strike="noStrike" baseline="0" noProof="0" dirty="0">
                          <a:solidFill>
                            <a:srgbClr val="000000"/>
                          </a:solidFill>
                          <a:latin typeface="+mn-lt"/>
                        </a:rPr>
                        <a:t>TLEF parser now correctly extracts CUT/ROUTING layers.</a:t>
                      </a:r>
                    </a:p>
                    <a:p>
                      <a:pPr marL="0" lvl="0" indent="0" algn="ctr">
                        <a:buNone/>
                      </a:pPr>
                      <a:endParaRPr lang="en-US" sz="1800" b="0" i="0" u="none" strike="noStrike" baseline="0" noProof="0" dirty="0">
                        <a:solidFill>
                          <a:srgbClr val="000000"/>
                        </a:solidFill>
                        <a:latin typeface="+mn-lt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0034097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54018135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FC3394-8F44-3B83-1816-7533187997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2048025-3CFE-BC9D-795E-BFE431C271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6D28ED-750A-4DFC-A458-38B3E79E4C7D}" type="datetime1">
              <a:rPr lang="en-US" sz="1400" smtClean="0">
                <a:solidFill>
                  <a:srgbClr val="0070C0"/>
                </a:solidFill>
                <a:ea typeface="Cambria" panose="02040503050406030204" pitchFamily="18" charset="0"/>
              </a:rPr>
              <a:t>12/19/2025</a:t>
            </a:fld>
            <a:endParaRPr lang="en-US" sz="1400">
              <a:solidFill>
                <a:srgbClr val="0070C0"/>
              </a:solidFill>
              <a:ea typeface="Cambria" panose="02040503050406030204" pitchFamily="18" charset="0"/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285B144-7A7D-2391-E346-39F7DB70E0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 sz="1400">
                <a:solidFill>
                  <a:srgbClr val="0070C0"/>
                </a:solidFill>
                <a:ea typeface="Cambria" panose="02040503050406030204" pitchFamily="18" charset="0"/>
              </a:rPr>
              <a:t>EE/CPE584 Intro to VLSI</a:t>
            </a:r>
            <a:endParaRPr lang="en-US" sz="1400">
              <a:solidFill>
                <a:srgbClr val="0070C0"/>
              </a:solidFill>
              <a:ea typeface="Cambria" panose="02040503050406030204" pitchFamily="18" charset="0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35D9D6E-C34C-7F88-BA7D-ABECE7B327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8A6112-8193-45F5-863E-CC8218595965}" type="slidenum">
              <a:rPr lang="en-US" sz="1400" smtClean="0">
                <a:solidFill>
                  <a:srgbClr val="0070C0"/>
                </a:solidFill>
                <a:ea typeface="Cambria" panose="02040503050406030204" pitchFamily="18" charset="0"/>
              </a:rPr>
              <a:t>41</a:t>
            </a:fld>
            <a:endParaRPr lang="en-US" sz="1400">
              <a:solidFill>
                <a:srgbClr val="0070C0"/>
              </a:solidFill>
              <a:ea typeface="Cambria" panose="02040503050406030204" pitchFamily="18" charset="0"/>
            </a:endParaRPr>
          </a:p>
        </p:txBody>
      </p:sp>
      <p:graphicFrame>
        <p:nvGraphicFramePr>
          <p:cNvPr id="9" name="Content Placeholder 8">
            <a:extLst>
              <a:ext uri="{FF2B5EF4-FFF2-40B4-BE49-F238E27FC236}">
                <a16:creationId xmlns:a16="http://schemas.microsoft.com/office/drawing/2014/main" id="{DE006863-934A-C044-4173-D02055F321D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513524016"/>
              </p:ext>
            </p:extLst>
          </p:nvPr>
        </p:nvGraphicFramePr>
        <p:xfrm>
          <a:off x="223075" y="188855"/>
          <a:ext cx="11741981" cy="4663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41958">
                  <a:extLst>
                    <a:ext uri="{9D8B030D-6E8A-4147-A177-3AD203B41FA5}">
                      <a16:colId xmlns:a16="http://schemas.microsoft.com/office/drawing/2014/main" val="2922194988"/>
                    </a:ext>
                  </a:extLst>
                </a:gridCol>
                <a:gridCol w="3914383">
                  <a:extLst>
                    <a:ext uri="{9D8B030D-6E8A-4147-A177-3AD203B41FA5}">
                      <a16:colId xmlns:a16="http://schemas.microsoft.com/office/drawing/2014/main" val="736724993"/>
                    </a:ext>
                  </a:extLst>
                </a:gridCol>
                <a:gridCol w="2239027">
                  <a:extLst>
                    <a:ext uri="{9D8B030D-6E8A-4147-A177-3AD203B41FA5}">
                      <a16:colId xmlns:a16="http://schemas.microsoft.com/office/drawing/2014/main" val="2703954245"/>
                    </a:ext>
                  </a:extLst>
                </a:gridCol>
                <a:gridCol w="4946613">
                  <a:extLst>
                    <a:ext uri="{9D8B030D-6E8A-4147-A177-3AD203B41FA5}">
                      <a16:colId xmlns:a16="http://schemas.microsoft.com/office/drawing/2014/main" val="3820929060"/>
                    </a:ext>
                  </a:extLst>
                </a:gridCol>
              </a:tblGrid>
              <a:tr h="236227">
                <a:tc>
                  <a:txBody>
                    <a:bodyPr/>
                    <a:lstStyle/>
                    <a:p>
                      <a:pPr marL="0" lvl="0" indent="0" algn="ctr">
                        <a:buNone/>
                      </a:pPr>
                      <a:r>
                        <a:rPr lang="en-US" b="1" dirty="0">
                          <a:latin typeface="+mn-lt"/>
                        </a:rPr>
                        <a:t>#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ctr">
                        <a:buNone/>
                      </a:pPr>
                      <a:r>
                        <a:rPr lang="en-US" b="1" dirty="0">
                          <a:latin typeface="+mn-lt"/>
                        </a:rPr>
                        <a:t>TODO Description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ctr">
                        <a:buNone/>
                      </a:pPr>
                      <a:r>
                        <a:rPr lang="en-US" b="1" dirty="0">
                          <a:latin typeface="+mn-lt"/>
                        </a:rPr>
                        <a:t>Status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ctr">
                        <a:buNone/>
                      </a:pPr>
                      <a:r>
                        <a:rPr lang="en-US" b="1" dirty="0">
                          <a:latin typeface="+mn-lt"/>
                        </a:rPr>
                        <a:t>Notes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18679985"/>
                  </a:ext>
                </a:extLst>
              </a:tr>
              <a:tr h="236227">
                <a:tc>
                  <a:txBody>
                    <a:bodyPr/>
                    <a:lstStyle/>
                    <a:p>
                      <a:pPr marL="0" lvl="0" indent="0" algn="ctr">
                        <a:buNone/>
                      </a:pPr>
                      <a:r>
                        <a:rPr lang="en-US" dirty="0">
                          <a:latin typeface="+mn-lt"/>
                        </a:rPr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ctr">
                        <a:buNone/>
                      </a:pPr>
                      <a:r>
                        <a:rPr lang="en-US" sz="1800" b="0" i="0" u="none" strike="noStrike" baseline="0" noProof="0" dirty="0">
                          <a:solidFill>
                            <a:srgbClr val="000000"/>
                          </a:solidFill>
                          <a:latin typeface="+mn-lt"/>
                        </a:rPr>
                        <a:t>Lib parsing: area/pins/direction</a:t>
                      </a:r>
                      <a:endParaRPr lang="en-US" dirty="0"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ctr">
                        <a:buNone/>
                      </a:pPr>
                      <a:r>
                        <a:rPr lang="en-US" sz="1800" b="0" i="0" u="none" strike="noStrike" baseline="0" noProof="0" dirty="0">
                          <a:solidFill>
                            <a:srgbClr val="000000"/>
                          </a:solidFill>
                          <a:latin typeface="+mn-lt"/>
                        </a:rPr>
                        <a:t>✅ DONE</a:t>
                      </a:r>
                      <a:endParaRPr lang="en-US" dirty="0"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ctr">
                        <a:buNone/>
                      </a:pPr>
                      <a:r>
                        <a:rPr lang="en-US" dirty="0">
                          <a:latin typeface="+mn-lt"/>
                        </a:rPr>
                        <a:t>Parses completed and all cells, pins and properties parsed properly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21114811"/>
                  </a:ext>
                </a:extLst>
              </a:tr>
              <a:tr h="258513">
                <a:tc>
                  <a:txBody>
                    <a:bodyPr/>
                    <a:lstStyle/>
                    <a:p>
                      <a:pPr marL="0" lvl="0" indent="0" algn="ctr">
                        <a:buNone/>
                      </a:pPr>
                      <a:r>
                        <a:rPr lang="en-US" dirty="0">
                          <a:latin typeface="+mn-lt"/>
                        </a:rPr>
                        <a:t>13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ctr">
                        <a:buNone/>
                      </a:pPr>
                      <a:r>
                        <a:rPr lang="en-US" sz="1800" b="0" i="0" u="none" strike="noStrike" baseline="0" noProof="0" dirty="0">
                          <a:solidFill>
                            <a:srgbClr val="000000"/>
                          </a:solidFill>
                          <a:latin typeface="+mn-lt"/>
                        </a:rPr>
                        <a:t>PG_PIN check (PWR/GND)</a:t>
                      </a:r>
                      <a:endParaRPr lang="en-US" dirty="0"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 i="0" u="none" strike="noStrike" baseline="0" noProof="0" dirty="0">
                          <a:solidFill>
                            <a:srgbClr val="000000"/>
                          </a:solidFill>
                          <a:latin typeface="+mn-lt"/>
                        </a:rPr>
                        <a:t>✅ DONE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ctr">
                        <a:buNone/>
                      </a:pPr>
                      <a:r>
                        <a:rPr lang="en-US" dirty="0">
                          <a:latin typeface="+mn-lt"/>
                        </a:rPr>
                        <a:t>Implemented in </a:t>
                      </a:r>
                      <a:r>
                        <a:rPr lang="en-US" dirty="0" err="1">
                          <a:latin typeface="+mn-lt"/>
                        </a:rPr>
                        <a:t>LibRuleChecker</a:t>
                      </a:r>
                      <a:r>
                        <a:rPr lang="en-US" dirty="0">
                          <a:latin typeface="+mn-lt"/>
                        </a:rPr>
                        <a:t> class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60499553"/>
                  </a:ext>
                </a:extLst>
              </a:tr>
              <a:tr h="236227">
                <a:tc>
                  <a:txBody>
                    <a:bodyPr/>
                    <a:lstStyle/>
                    <a:p>
                      <a:pPr marL="0" lvl="0" indent="0" algn="ctr">
                        <a:buNone/>
                      </a:pPr>
                      <a:r>
                        <a:rPr lang="en-US" dirty="0">
                          <a:latin typeface="+mn-lt"/>
                        </a:rPr>
                        <a:t>14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ctr">
                        <a:buNone/>
                      </a:pPr>
                      <a:r>
                        <a:rPr lang="en-US" sz="1800" b="0" i="0" u="none" strike="noStrike" baseline="0" noProof="0" dirty="0">
                          <a:solidFill>
                            <a:srgbClr val="000000"/>
                          </a:solidFill>
                          <a:latin typeface="+mn-lt"/>
                        </a:rPr>
                        <a:t>Pin Init: Should not do work</a:t>
                      </a:r>
                      <a:endParaRPr lang="en-US" dirty="0"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ctr">
                        <a:buNone/>
                      </a:pPr>
                      <a:r>
                        <a:rPr lang="en-US" sz="1800" b="0" i="0" u="none" strike="noStrike" baseline="0" noProof="0" dirty="0">
                          <a:solidFill>
                            <a:srgbClr val="000000"/>
                          </a:solidFill>
                          <a:latin typeface="+mn-lt"/>
                        </a:rPr>
                        <a:t>✅ DONE</a:t>
                      </a:r>
                      <a:endParaRPr lang="en-US" dirty="0"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ctr">
                        <a:buNone/>
                      </a:pPr>
                      <a:r>
                        <a:rPr lang="en-US" dirty="0">
                          <a:latin typeface="+mn-lt"/>
                        </a:rPr>
                        <a:t>Logic moved to new parse() method.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0548716"/>
                  </a:ext>
                </a:extLst>
              </a:tr>
              <a:tr h="236227">
                <a:tc>
                  <a:txBody>
                    <a:bodyPr/>
                    <a:lstStyle/>
                    <a:p>
                      <a:pPr marL="0" lvl="0" indent="0" algn="ctr">
                        <a:buNone/>
                      </a:pPr>
                      <a:r>
                        <a:rPr lang="en-US" dirty="0">
                          <a:latin typeface="+mn-lt"/>
                        </a:rPr>
                        <a:t>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ctr">
                        <a:buNone/>
                      </a:pPr>
                      <a:r>
                        <a:rPr lang="en-US" sz="1800" b="0" i="0" u="none" strike="noStrike" baseline="0" noProof="0" dirty="0">
                          <a:solidFill>
                            <a:srgbClr val="000000"/>
                          </a:solidFill>
                          <a:latin typeface="+mn-lt"/>
                        </a:rPr>
                        <a:t>Uncommon properties: Deprecate</a:t>
                      </a:r>
                      <a:endParaRPr lang="en-US" dirty="0"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ctr">
                        <a:buNone/>
                      </a:pPr>
                      <a:r>
                        <a:rPr lang="en-US" sz="1800" b="0" i="0" u="none" strike="noStrike" baseline="0" noProof="0" dirty="0">
                          <a:solidFill>
                            <a:srgbClr val="000000"/>
                          </a:solidFill>
                          <a:latin typeface="+mn-lt"/>
                        </a:rPr>
                        <a:t>✅ DONE</a:t>
                      </a:r>
                      <a:endParaRPr lang="en-US" dirty="0"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ctr">
                        <a:buNone/>
                      </a:pPr>
                      <a:r>
                        <a:rPr lang="en-US" dirty="0">
                          <a:latin typeface="+mn-lt"/>
                        </a:rPr>
                        <a:t>Function deleted and calls removed.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48455025"/>
                  </a:ext>
                </a:extLst>
              </a:tr>
              <a:tr h="209484">
                <a:tc>
                  <a:txBody>
                    <a:bodyPr/>
                    <a:lstStyle/>
                    <a:p>
                      <a:pPr marL="0" lvl="0" indent="0" algn="ctr">
                        <a:buNone/>
                      </a:pPr>
                      <a:r>
                        <a:rPr lang="en-US" dirty="0">
                          <a:latin typeface="+mn-lt"/>
                        </a:rPr>
                        <a:t>16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ctr">
                        <a:buNone/>
                      </a:pPr>
                      <a:r>
                        <a:rPr lang="en-US" sz="1800" b="0" i="0" u="none" strike="noStrike" baseline="0" noProof="0" dirty="0">
                          <a:solidFill>
                            <a:srgbClr val="000000"/>
                          </a:solidFill>
                          <a:latin typeface="+mn-lt"/>
                        </a:rPr>
                        <a:t>Collect rules in </a:t>
                      </a:r>
                      <a:r>
                        <a:rPr lang="en-US" sz="1800" b="0" i="0" u="none" strike="noStrike" baseline="0" noProof="0" dirty="0" err="1">
                          <a:solidFill>
                            <a:srgbClr val="000000"/>
                          </a:solidFill>
                          <a:latin typeface="+mn-lt"/>
                        </a:rPr>
                        <a:t>LibRuleChecker</a:t>
                      </a:r>
                      <a:endParaRPr lang="en-US" dirty="0" err="1"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 i="0" u="none" strike="noStrike" baseline="0" noProof="0" dirty="0">
                          <a:solidFill>
                            <a:srgbClr val="000000"/>
                          </a:solidFill>
                          <a:latin typeface="+mn-lt"/>
                        </a:rPr>
                        <a:t>✅ DONE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ctr">
                        <a:buNone/>
                      </a:pPr>
                      <a:r>
                        <a:rPr lang="en-US" dirty="0">
                          <a:latin typeface="+mn-lt"/>
                        </a:rPr>
                        <a:t>Moved to </a:t>
                      </a:r>
                      <a:r>
                        <a:rPr lang="en-US" dirty="0" err="1">
                          <a:latin typeface="+mn-lt"/>
                        </a:rPr>
                        <a:t>LibRuleChecker</a:t>
                      </a:r>
                      <a:r>
                        <a:rPr lang="en-US" dirty="0">
                          <a:latin typeface="+mn-lt"/>
                        </a:rPr>
                        <a:t> class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94635679"/>
                  </a:ext>
                </a:extLst>
              </a:tr>
              <a:tr h="209484">
                <a:tc>
                  <a:txBody>
                    <a:bodyPr/>
                    <a:lstStyle/>
                    <a:p>
                      <a:pPr marL="0" lvl="0" indent="0" algn="ctr">
                        <a:buNone/>
                      </a:pPr>
                      <a:r>
                        <a:rPr lang="en-US" dirty="0">
                          <a:latin typeface="+mn-lt"/>
                        </a:rPr>
                        <a:t>17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ctr">
                        <a:buNone/>
                      </a:pPr>
                      <a:r>
                        <a:rPr lang="en-US" sz="1800" b="0" i="0" u="none" strike="noStrike" baseline="0" noProof="0" dirty="0">
                          <a:solidFill>
                            <a:srgbClr val="000000"/>
                          </a:solidFill>
                          <a:latin typeface="+mn-lt"/>
                        </a:rPr>
                        <a:t>Errors: Print file-to-file</a:t>
                      </a:r>
                      <a:endParaRPr lang="en-US" dirty="0"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 i="0" u="none" strike="noStrike" baseline="0" noProof="0" dirty="0">
                          <a:solidFill>
                            <a:srgbClr val="000000"/>
                          </a:solidFill>
                          <a:latin typeface="+mn-lt"/>
                        </a:rPr>
                        <a:t>❌ NOT DONE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ctr">
                        <a:buNone/>
                      </a:pPr>
                      <a:r>
                        <a:rPr lang="en-US" dirty="0">
                          <a:latin typeface="+mn-lt"/>
                        </a:rPr>
                        <a:t>Still prints large block output (Low priority).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60288363"/>
                  </a:ext>
                </a:extLst>
              </a:tr>
              <a:tr h="209484">
                <a:tc>
                  <a:txBody>
                    <a:bodyPr/>
                    <a:lstStyle/>
                    <a:p>
                      <a:pPr marL="0" lvl="0" indent="0" algn="ctr">
                        <a:buNone/>
                      </a:pPr>
                      <a:r>
                        <a:rPr lang="en-US" dirty="0">
                          <a:latin typeface="+mn-lt"/>
                        </a:rPr>
                        <a:t>18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ctr">
                        <a:buNone/>
                      </a:pPr>
                      <a:r>
                        <a:rPr lang="en-US" sz="1800" b="0" i="0" u="none" strike="noStrike" baseline="0" noProof="0" dirty="0">
                          <a:solidFill>
                            <a:srgbClr val="000000"/>
                          </a:solidFill>
                          <a:latin typeface="+mn-lt"/>
                        </a:rPr>
                        <a:t>Cell Sort: Should be private</a:t>
                      </a:r>
                      <a:endParaRPr lang="en-US" dirty="0"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 i="0" u="none" strike="noStrike" baseline="0" noProof="0" dirty="0">
                          <a:solidFill>
                            <a:srgbClr val="000000"/>
                          </a:solidFill>
                          <a:latin typeface="+mn-lt"/>
                        </a:rPr>
                        <a:t>✅ DONE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ctr">
                        <a:buNone/>
                      </a:pPr>
                      <a:r>
                        <a:rPr lang="en-US" dirty="0">
                          <a:latin typeface="+mn-lt"/>
                        </a:rPr>
                        <a:t>sort! is now private and automatic.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094115"/>
                  </a:ext>
                </a:extLst>
              </a:tr>
              <a:tr h="20948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dirty="0">
                          <a:latin typeface="+mn-lt"/>
                        </a:rPr>
                        <a:t>19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ctr">
                        <a:buNone/>
                      </a:pPr>
                      <a:r>
                        <a:rPr lang="en-US" sz="1800" b="0" i="0" u="none" strike="noStrike" baseline="0" noProof="0" dirty="0">
                          <a:solidFill>
                            <a:srgbClr val="000000"/>
                          </a:solidFill>
                          <a:latin typeface="+mn-lt"/>
                        </a:rPr>
                        <a:t>Cell Source: SOURCE syntax check</a:t>
                      </a:r>
                      <a:endParaRPr lang="en-US" dirty="0"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 i="0" u="none" strike="noStrike" baseline="0" noProof="0" dirty="0">
                          <a:solidFill>
                            <a:srgbClr val="000000"/>
                          </a:solidFill>
                          <a:latin typeface="+mn-lt"/>
                        </a:rPr>
                        <a:t>✅ DONE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ctr">
                        <a:buNone/>
                      </a:pPr>
                      <a:r>
                        <a:rPr lang="en-US" dirty="0">
                          <a:latin typeface="+mn-lt"/>
                        </a:rPr>
                        <a:t>Logic removed/deprecated during cleanup.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86946396"/>
                  </a:ext>
                </a:extLst>
              </a:tr>
              <a:tr h="20948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dirty="0">
                          <a:latin typeface="+mn-lt"/>
                        </a:rPr>
                        <a:t>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ctr">
                        <a:buNone/>
                      </a:pPr>
                      <a:r>
                        <a:rPr lang="en-US" sz="1800" b="0" i="0" u="none" strike="noStrike" baseline="0" noProof="0" dirty="0">
                          <a:solidFill>
                            <a:srgbClr val="000000"/>
                          </a:solidFill>
                          <a:latin typeface="+mn-lt"/>
                        </a:rPr>
                        <a:t>Add </a:t>
                      </a:r>
                      <a:r>
                        <a:rPr lang="en-US" sz="1800" b="0" i="0" u="none" strike="noStrike" baseline="0" noProof="0" dirty="0" err="1">
                          <a:solidFill>
                            <a:srgbClr val="000000"/>
                          </a:solidFill>
                          <a:latin typeface="+mn-lt"/>
                        </a:rPr>
                        <a:t>missing_source</a:t>
                      </a:r>
                      <a:r>
                        <a:rPr lang="en-US" sz="1800" b="0" i="0" u="none" strike="noStrike" baseline="0" noProof="0" dirty="0">
                          <a:solidFill>
                            <a:srgbClr val="000000"/>
                          </a:solidFill>
                          <a:latin typeface="+mn-lt"/>
                        </a:rPr>
                        <a:t> error key</a:t>
                      </a:r>
                      <a:endParaRPr lang="en-US" dirty="0"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 i="0" u="none" strike="noStrike" baseline="0" noProof="0" dirty="0">
                          <a:solidFill>
                            <a:srgbClr val="000000"/>
                          </a:solidFill>
                          <a:latin typeface="+mn-lt"/>
                        </a:rPr>
                        <a:t>✅ DONE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ctr">
                        <a:buNone/>
                      </a:pPr>
                      <a:r>
                        <a:rPr lang="en-US" dirty="0">
                          <a:latin typeface="+mn-lt"/>
                        </a:rPr>
                        <a:t>Logic removed/deprecated during cleanup.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97863373"/>
                  </a:ext>
                </a:extLst>
              </a:tr>
              <a:tr h="20948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dirty="0">
                          <a:latin typeface="+mn-lt"/>
                        </a:rPr>
                        <a:t>21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ctr">
                        <a:buNone/>
                      </a:pPr>
                      <a:r>
                        <a:rPr lang="en-US" sz="1800" b="0" i="0" u="none" strike="noStrike" baseline="0" noProof="0" dirty="0">
                          <a:solidFill>
                            <a:srgbClr val="000000"/>
                          </a:solidFill>
                          <a:latin typeface="+mn-lt"/>
                        </a:rPr>
                        <a:t>Layer Sort: </a:t>
                      </a:r>
                      <a:r>
                        <a:rPr lang="en-US" sz="1800" b="0" i="0" u="none" strike="noStrike" baseline="0" noProof="0" dirty="0" err="1">
                          <a:solidFill>
                            <a:srgbClr val="000000"/>
                          </a:solidFill>
                          <a:latin typeface="+mn-lt"/>
                        </a:rPr>
                        <a:t>coordSort</a:t>
                      </a:r>
                      <a:r>
                        <a:rPr lang="en-US" sz="1800" b="0" i="0" u="none" strike="noStrike" baseline="0" noProof="0" dirty="0">
                          <a:solidFill>
                            <a:srgbClr val="000000"/>
                          </a:solidFill>
                          <a:latin typeface="+mn-lt"/>
                        </a:rPr>
                        <a:t> private</a:t>
                      </a:r>
                      <a:endParaRPr lang="en-US" dirty="0"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 i="0" u="none" strike="noStrike" baseline="0" noProof="0" dirty="0">
                          <a:solidFill>
                            <a:srgbClr val="000000"/>
                          </a:solidFill>
                          <a:latin typeface="+mn-lt"/>
                        </a:rPr>
                        <a:t>✅ DONE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ctr">
                        <a:buNone/>
                      </a:pPr>
                      <a:r>
                        <a:rPr lang="en-US" dirty="0">
                          <a:latin typeface="+mn-lt"/>
                        </a:rPr>
                        <a:t>sort! is now private and automatic.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73901080"/>
                  </a:ext>
                </a:extLst>
              </a:tr>
              <a:tr h="209484">
                <a:tc>
                  <a:txBody>
                    <a:bodyPr/>
                    <a:lstStyle/>
                    <a:p>
                      <a:pPr marL="0" lvl="0" indent="0" algn="ctr">
                        <a:buNone/>
                      </a:pPr>
                      <a:r>
                        <a:rPr lang="en-US" dirty="0">
                          <a:latin typeface="+mn-lt"/>
                        </a:rPr>
                        <a:t>22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ctr">
                        <a:buNone/>
                      </a:pPr>
                      <a:r>
                        <a:rPr lang="en-US" sz="1800" b="0" i="0" u="none" strike="noStrike" baseline="0" noProof="0" dirty="0">
                          <a:solidFill>
                            <a:srgbClr val="000000"/>
                          </a:solidFill>
                          <a:latin typeface="+mn-lt"/>
                        </a:rPr>
                        <a:t>Pin Init: Separate function</a:t>
                      </a:r>
                      <a:endParaRPr lang="en-US" dirty="0"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 i="0" u="none" strike="noStrike" baseline="0" noProof="0" dirty="0">
                          <a:solidFill>
                            <a:srgbClr val="000000"/>
                          </a:solidFill>
                          <a:latin typeface="+mn-lt"/>
                        </a:rPr>
                        <a:t>✅ DONE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ctr">
                        <a:buNone/>
                      </a:pPr>
                      <a:r>
                        <a:rPr lang="en-US" dirty="0">
                          <a:latin typeface="+mn-lt"/>
                        </a:rPr>
                        <a:t>Logic moved to new parse() method.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9154239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34538154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AB2619-C7DB-C9F2-8193-B55E6542BB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D5E382-B250-CA23-0EAA-49335B9B4D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>
                <a:solidFill>
                  <a:srgbClr val="0070C0"/>
                </a:solidFill>
                <a:latin typeface="+mn-lt"/>
                <a:ea typeface="Cambria"/>
              </a:rPr>
              <a:t>Refactoring Impact</a:t>
            </a:r>
            <a:endParaRPr lang="en-US" dirty="0">
              <a:latin typeface="+mn-lt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5F06530-6147-1A45-198C-B7ACF0A908E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49481"/>
            <a:ext cx="10515600" cy="4983941"/>
          </a:xfr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 sz="3200" b="1" dirty="0">
                <a:ea typeface="+mn-lt"/>
                <a:cs typeface="+mn-lt"/>
              </a:rPr>
              <a:t>Before:</a:t>
            </a:r>
            <a:endParaRPr lang="en-US" sz="3200" dirty="0">
              <a:ea typeface="Cambria" panose="02040503050406030204" pitchFamily="18" charset="0"/>
            </a:endParaRPr>
          </a:p>
          <a:p>
            <a:pPr lvl="1">
              <a:buFont typeface="Courier New" panose="020B0604020202020204" pitchFamily="34" charset="0"/>
              <a:buChar char="o"/>
            </a:pPr>
            <a:r>
              <a:rPr lang="en-US" dirty="0">
                <a:ea typeface="+mn-lt"/>
                <a:cs typeface="+mn-lt"/>
              </a:rPr>
              <a:t>Procedural "spaghetti code."</a:t>
            </a:r>
            <a:endParaRPr lang="en-US" dirty="0">
              <a:ea typeface="Cambria"/>
            </a:endParaRPr>
          </a:p>
          <a:p>
            <a:pPr lvl="1">
              <a:buFont typeface="Courier New" panose="020B0604020202020204" pitchFamily="34" charset="0"/>
              <a:buChar char="o"/>
            </a:pPr>
            <a:r>
              <a:rPr lang="en-US" dirty="0">
                <a:ea typeface="+mn-lt"/>
                <a:cs typeface="+mn-lt"/>
              </a:rPr>
              <a:t>Global variables for file tracking.</a:t>
            </a:r>
            <a:endParaRPr lang="en-US" dirty="0">
              <a:ea typeface="Cambria"/>
            </a:endParaRPr>
          </a:p>
          <a:p>
            <a:pPr lvl="1">
              <a:buFont typeface="Courier New" panose="020B0604020202020204" pitchFamily="34" charset="0"/>
              <a:buChar char="o"/>
            </a:pPr>
            <a:r>
              <a:rPr lang="en-US" dirty="0">
                <a:ea typeface="+mn-lt"/>
                <a:cs typeface="+mn-lt"/>
              </a:rPr>
              <a:t>Manual array indexing (e.g., </a:t>
            </a:r>
            <a:r>
              <a:rPr lang="en-US" dirty="0">
                <a:ea typeface="Cambria"/>
              </a:rPr>
              <a:t>line[index+1]</a:t>
            </a:r>
            <a:r>
              <a:rPr lang="en-US" dirty="0">
                <a:ea typeface="+mn-lt"/>
                <a:cs typeface="+mn-lt"/>
              </a:rPr>
              <a:t>).</a:t>
            </a:r>
            <a:endParaRPr lang="en-US" dirty="0">
              <a:ea typeface="Cambria"/>
            </a:endParaRPr>
          </a:p>
          <a:p>
            <a:r>
              <a:rPr lang="en-US" sz="3200" b="1" dirty="0">
                <a:ea typeface="+mn-lt"/>
                <a:cs typeface="+mn-lt"/>
              </a:rPr>
              <a:t>After:</a:t>
            </a:r>
            <a:endParaRPr lang="en-US" sz="3200" dirty="0">
              <a:ea typeface="Cambria"/>
            </a:endParaRPr>
          </a:p>
          <a:p>
            <a:pPr lvl="1">
              <a:buFont typeface="Courier New" panose="020B0604020202020204" pitchFamily="34" charset="0"/>
              <a:buChar char="o"/>
            </a:pPr>
            <a:r>
              <a:rPr lang="en-US" b="1" dirty="0">
                <a:ea typeface="+mn-lt"/>
                <a:cs typeface="+mn-lt"/>
              </a:rPr>
              <a:t>Object-Oriented Design:</a:t>
            </a:r>
            <a:r>
              <a:rPr lang="en-US" dirty="0">
                <a:ea typeface="+mn-lt"/>
                <a:cs typeface="+mn-lt"/>
              </a:rPr>
              <a:t> </a:t>
            </a:r>
            <a:r>
              <a:rPr lang="en-US" dirty="0" err="1">
                <a:ea typeface="+mn-lt"/>
                <a:cs typeface="+mn-lt"/>
              </a:rPr>
              <a:t>FileCursor</a:t>
            </a:r>
            <a:r>
              <a:rPr lang="en-US" dirty="0">
                <a:ea typeface="+mn-lt"/>
                <a:cs typeface="+mn-lt"/>
              </a:rPr>
              <a:t> and </a:t>
            </a:r>
            <a:r>
              <a:rPr lang="en-US" dirty="0" err="1">
                <a:ea typeface="Cambria"/>
              </a:rPr>
              <a:t>LibRuleChecker</a:t>
            </a:r>
            <a:r>
              <a:rPr lang="en-US" dirty="0">
                <a:ea typeface="+mn-lt"/>
                <a:cs typeface="+mn-lt"/>
              </a:rPr>
              <a:t> classes manage their own data. </a:t>
            </a:r>
            <a:endParaRPr lang="en-US" dirty="0">
              <a:ea typeface="Cambria"/>
            </a:endParaRPr>
          </a:p>
          <a:p>
            <a:pPr lvl="1">
              <a:buFont typeface="Courier New" panose="020B0604020202020204" pitchFamily="34" charset="0"/>
              <a:buChar char="o"/>
            </a:pPr>
            <a:r>
              <a:rPr lang="en-US" b="1" dirty="0">
                <a:ea typeface="+mn-lt"/>
                <a:cs typeface="+mn-lt"/>
              </a:rPr>
              <a:t>Scalability:</a:t>
            </a:r>
            <a:r>
              <a:rPr lang="en-US" dirty="0">
                <a:ea typeface="+mn-lt"/>
                <a:cs typeface="+mn-lt"/>
              </a:rPr>
              <a:t> New checks (like the VIA OBS check) were easy to add because the parsing logic is now separate from the checking logic.</a:t>
            </a:r>
            <a:endParaRPr lang="en-US" dirty="0">
              <a:ea typeface="Cambria"/>
            </a:endParaRPr>
          </a:p>
          <a:p>
            <a:pPr lvl="1">
              <a:buFont typeface="Courier New" panose="020B0604020202020204" pitchFamily="34" charset="0"/>
              <a:buChar char="o"/>
            </a:pPr>
            <a:r>
              <a:rPr lang="en-US" b="1" dirty="0">
                <a:ea typeface="+mn-lt"/>
                <a:cs typeface="+mn-lt"/>
              </a:rPr>
              <a:t>Maintainability:</a:t>
            </a:r>
            <a:r>
              <a:rPr lang="en-US" dirty="0">
                <a:ea typeface="+mn-lt"/>
                <a:cs typeface="+mn-lt"/>
              </a:rPr>
              <a:t> Future teams can work on </a:t>
            </a:r>
            <a:r>
              <a:rPr lang="en-US" dirty="0" err="1">
                <a:ea typeface="Cambria"/>
              </a:rPr>
              <a:t>compare_lef_lib</a:t>
            </a:r>
            <a:r>
              <a:rPr lang="en-US" dirty="0">
                <a:ea typeface="+mn-lt"/>
                <a:cs typeface="+mn-lt"/>
              </a:rPr>
              <a:t> without breaking the file reader.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D91594B-648A-78CE-70CF-3D052F9751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6D28ED-750A-4DFC-A458-38B3E79E4C7D}" type="datetime1">
              <a:rPr lang="en-US" sz="1400" smtClean="0">
                <a:solidFill>
                  <a:srgbClr val="0070C0"/>
                </a:solidFill>
                <a:ea typeface="Cambria" panose="02040503050406030204" pitchFamily="18" charset="0"/>
              </a:rPr>
              <a:t>12/19/2025</a:t>
            </a:fld>
            <a:endParaRPr lang="en-US" sz="1400">
              <a:solidFill>
                <a:srgbClr val="0070C0"/>
              </a:solidFill>
              <a:ea typeface="Cambria" panose="02040503050406030204" pitchFamily="18" charset="0"/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D23F91B-85A0-9504-E535-BC20BDD889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 sz="1400">
                <a:solidFill>
                  <a:srgbClr val="0070C0"/>
                </a:solidFill>
                <a:ea typeface="Cambria" panose="02040503050406030204" pitchFamily="18" charset="0"/>
              </a:rPr>
              <a:t>EE/CPE584 Intro to VLSI</a:t>
            </a:r>
            <a:endParaRPr lang="en-US" sz="1400">
              <a:solidFill>
                <a:srgbClr val="0070C0"/>
              </a:solidFill>
              <a:ea typeface="Cambria" panose="02040503050406030204" pitchFamily="18" charset="0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434AB1D-8EEF-2626-D60F-963AD4C989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8A6112-8193-45F5-863E-CC8218595965}" type="slidenum">
              <a:rPr lang="en-US" sz="1400" smtClean="0">
                <a:solidFill>
                  <a:srgbClr val="0070C0"/>
                </a:solidFill>
                <a:ea typeface="Cambria" panose="02040503050406030204" pitchFamily="18" charset="0"/>
              </a:rPr>
              <a:t>42</a:t>
            </a:fld>
            <a:endParaRPr lang="en-US" sz="1400">
              <a:solidFill>
                <a:srgbClr val="0070C0"/>
              </a:solidFill>
              <a:ea typeface="Cambria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50516048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15BD42-DFD7-A623-6617-49DDE6BFCF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F739C9-65C3-3E05-6A13-78F95ADB4A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5256" y="132292"/>
            <a:ext cx="10515600" cy="1325563"/>
          </a:xfrm>
        </p:spPr>
        <p:txBody>
          <a:bodyPr/>
          <a:lstStyle/>
          <a:p>
            <a:r>
              <a:rPr lang="en-US" sz="4000">
                <a:solidFill>
                  <a:srgbClr val="0070C0"/>
                </a:solidFill>
                <a:latin typeface="+mn-lt"/>
              </a:rPr>
              <a:t>Summary</a:t>
            </a:r>
            <a:endParaRPr lang="en-US" sz="4000">
              <a:latin typeface="+mn-lt"/>
              <a:ea typeface="Cambria"/>
            </a:endParaRPr>
          </a:p>
        </p:txBody>
      </p:sp>
      <p:sp>
        <p:nvSpPr>
          <p:cNvPr id="7" name="Date Placeholder 3">
            <a:extLst>
              <a:ext uri="{FF2B5EF4-FFF2-40B4-BE49-F238E27FC236}">
                <a16:creationId xmlns:a16="http://schemas.microsoft.com/office/drawing/2014/main" id="{A8DACE07-4C1B-8D59-D1DD-04A1C785F01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A16D28ED-750A-4DFC-A458-38B3E79E4C7D}" type="datetime1">
              <a:rPr lang="en-US" sz="1400" smtClean="0">
                <a:solidFill>
                  <a:srgbClr val="0070C0"/>
                </a:solidFill>
                <a:ea typeface="Cambria" panose="02040503050406030204" pitchFamily="18" charset="0"/>
              </a:rPr>
              <a:t>12/19/2025</a:t>
            </a:fld>
            <a:endParaRPr lang="en-US" sz="1400">
              <a:solidFill>
                <a:srgbClr val="0070C0"/>
              </a:solidFill>
              <a:ea typeface="Cambria" panose="02040503050406030204" pitchFamily="18" charset="0"/>
            </a:endParaRPr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DCB489AD-3B7B-E112-B2BE-6A50AE45B7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es-ES" sz="1400">
                <a:solidFill>
                  <a:srgbClr val="0070C0"/>
                </a:solidFill>
                <a:ea typeface="Cambria" panose="02040503050406030204" pitchFamily="18" charset="0"/>
              </a:rPr>
              <a:t>EE/CPE584 Intro to VLSI</a:t>
            </a:r>
            <a:endParaRPr lang="en-US" sz="1400">
              <a:solidFill>
                <a:srgbClr val="0070C0"/>
              </a:solidFill>
              <a:ea typeface="Cambria" panose="02040503050406030204" pitchFamily="18" charset="0"/>
            </a:endParaRPr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31638387-F714-674A-DF57-FEAE754FBB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D08A6112-8193-45F5-863E-CC8218595965}" type="slidenum">
              <a:rPr lang="en-US" sz="1400" smtClean="0">
                <a:solidFill>
                  <a:srgbClr val="0070C0"/>
                </a:solidFill>
                <a:ea typeface="Cambria" panose="02040503050406030204" pitchFamily="18" charset="0"/>
              </a:rPr>
              <a:t>43</a:t>
            </a:fld>
            <a:endParaRPr lang="en-US" sz="1400">
              <a:solidFill>
                <a:srgbClr val="0070C0"/>
              </a:solidFill>
              <a:ea typeface="Cambria" panose="02040503050406030204" pitchFamily="18" charset="0"/>
            </a:endParaRP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5BA39EDA-13BE-5B87-3BBB-0AA6489F8E3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45256" y="1335768"/>
            <a:ext cx="10878658" cy="4351338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285750" indent="-285750">
              <a:buFont typeface="Arial"/>
              <a:buChar char="•"/>
            </a:pPr>
            <a:r>
              <a:rPr lang="en-US" dirty="0">
                <a:ea typeface="Cambria"/>
                <a:cs typeface="+mn-lt"/>
              </a:rPr>
              <a:t>Improved LEF vs LIB by implementing pin property checks for direction, clock, </a:t>
            </a:r>
            <a:r>
              <a:rPr lang="en-US" dirty="0" err="1">
                <a:ea typeface="Cambria"/>
                <a:cs typeface="+mn-lt"/>
              </a:rPr>
              <a:t>pg_types</a:t>
            </a:r>
            <a:r>
              <a:rPr lang="en-US" dirty="0">
                <a:ea typeface="Cambria"/>
                <a:cs typeface="+mn-lt"/>
              </a:rPr>
              <a:t> and related ground and power references </a:t>
            </a:r>
          </a:p>
          <a:p>
            <a:pPr marL="285750" indent="-285750">
              <a:buFont typeface="Arial"/>
              <a:buChar char="•"/>
            </a:pPr>
            <a:r>
              <a:rPr lang="en-US" dirty="0">
                <a:ea typeface="Cambria"/>
                <a:cs typeface="+mn-lt"/>
              </a:rPr>
              <a:t>Added Via Obstruction checking </a:t>
            </a:r>
            <a:r>
              <a:rPr lang="en-US" dirty="0">
                <a:ea typeface="Cambria"/>
              </a:rPr>
              <a:t>to help prevent routing conflicts during physical design. </a:t>
            </a:r>
          </a:p>
          <a:p>
            <a:pPr marL="742950" lvl="1" indent="-285750">
              <a:buFont typeface="Arial"/>
              <a:buChar char="•"/>
            </a:pPr>
            <a:r>
              <a:rPr lang="en-US" dirty="0">
                <a:ea typeface="Cambria"/>
              </a:rPr>
              <a:t>Completed by parsing CUT layers from TLEF and PORT sections from LEF, then verifies Via layers exist in OBS sections.</a:t>
            </a:r>
          </a:p>
          <a:p>
            <a:pPr marL="285750" indent="-285750">
              <a:buFont typeface="Arial"/>
              <a:buChar char="•"/>
            </a:pPr>
            <a:r>
              <a:rPr lang="en-US" dirty="0">
                <a:ea typeface="Cambria"/>
                <a:cs typeface="+mn-lt"/>
              </a:rPr>
              <a:t>Refactored codebase for maintainability</a:t>
            </a:r>
          </a:p>
          <a:p>
            <a:pPr marL="742950" lvl="1" indent="-285750">
              <a:buFont typeface="Arial"/>
              <a:buChar char="•"/>
            </a:pPr>
            <a:r>
              <a:rPr lang="en-US" dirty="0">
                <a:ea typeface="Cambria"/>
                <a:cs typeface="+mn-lt"/>
              </a:rPr>
              <a:t>Transformed a procedural script into an Object-Oriented application by implementing a </a:t>
            </a:r>
            <a:r>
              <a:rPr lang="en-US" dirty="0" err="1">
                <a:ea typeface="Cambria"/>
                <a:cs typeface="+mn-lt"/>
              </a:rPr>
              <a:t>FileCursor</a:t>
            </a:r>
            <a:r>
              <a:rPr lang="en-US" dirty="0">
                <a:ea typeface="Cambria"/>
                <a:cs typeface="+mn-lt"/>
              </a:rPr>
              <a:t> class, modularizing file processing, and resolving over 20 legacy TODO items to reduce technical debt.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0251855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FFA7D7-5F09-96BB-35E4-8A4B138BD9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904878-6571-8291-6D61-1D4D64CFE4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5256" y="132292"/>
            <a:ext cx="10515600" cy="1325563"/>
          </a:xfrm>
        </p:spPr>
        <p:txBody>
          <a:bodyPr/>
          <a:lstStyle/>
          <a:p>
            <a:r>
              <a:rPr lang="en-US" sz="4000" dirty="0">
                <a:solidFill>
                  <a:srgbClr val="0070C0"/>
                </a:solidFill>
                <a:latin typeface="+mn-lt"/>
              </a:rPr>
              <a:t>Possible Future Work</a:t>
            </a:r>
            <a:endParaRPr lang="en-US" sz="4000" dirty="0">
              <a:latin typeface="+mn-lt"/>
              <a:ea typeface="Cambria"/>
            </a:endParaRPr>
          </a:p>
        </p:txBody>
      </p:sp>
      <p:sp>
        <p:nvSpPr>
          <p:cNvPr id="7" name="Date Placeholder 3">
            <a:extLst>
              <a:ext uri="{FF2B5EF4-FFF2-40B4-BE49-F238E27FC236}">
                <a16:creationId xmlns:a16="http://schemas.microsoft.com/office/drawing/2014/main" id="{DEA418A4-09EC-8101-DA5D-FC7C97B4626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A16D28ED-750A-4DFC-A458-38B3E79E4C7D}" type="datetime1">
              <a:rPr lang="en-US" sz="1400" smtClean="0">
                <a:solidFill>
                  <a:srgbClr val="0070C0"/>
                </a:solidFill>
                <a:ea typeface="Cambria" panose="02040503050406030204" pitchFamily="18" charset="0"/>
              </a:rPr>
              <a:t>12/19/2025</a:t>
            </a:fld>
            <a:endParaRPr lang="en-US" sz="1400">
              <a:solidFill>
                <a:srgbClr val="0070C0"/>
              </a:solidFill>
              <a:ea typeface="Cambria" panose="02040503050406030204" pitchFamily="18" charset="0"/>
            </a:endParaRPr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64D4883B-C063-642A-0C10-71C26D9DCF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es-ES" sz="1400">
                <a:solidFill>
                  <a:srgbClr val="0070C0"/>
                </a:solidFill>
                <a:ea typeface="Cambria" panose="02040503050406030204" pitchFamily="18" charset="0"/>
              </a:rPr>
              <a:t>EE/CPE584 Intro to VLSI</a:t>
            </a:r>
            <a:endParaRPr lang="en-US" sz="1400">
              <a:solidFill>
                <a:srgbClr val="0070C0"/>
              </a:solidFill>
              <a:ea typeface="Cambria" panose="02040503050406030204" pitchFamily="18" charset="0"/>
            </a:endParaRPr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E056841C-0625-7B7F-C744-CBF5F5FB32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D08A6112-8193-45F5-863E-CC8218595965}" type="slidenum">
              <a:rPr lang="en-US" sz="1400" smtClean="0">
                <a:solidFill>
                  <a:srgbClr val="0070C0"/>
                </a:solidFill>
                <a:ea typeface="Cambria" panose="02040503050406030204" pitchFamily="18" charset="0"/>
              </a:rPr>
              <a:t>44</a:t>
            </a:fld>
            <a:endParaRPr lang="en-US" sz="1400">
              <a:solidFill>
                <a:srgbClr val="0070C0"/>
              </a:solidFill>
              <a:ea typeface="Cambria" panose="02040503050406030204" pitchFamily="18" charset="0"/>
            </a:endParaRP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C720B8E7-060C-3CF1-93AD-67700714487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45256" y="1335768"/>
            <a:ext cx="10878658" cy="4351338"/>
          </a:xfrm>
        </p:spPr>
        <p:txBody>
          <a:bodyPr vert="horz" lIns="91440" tIns="45720" rIns="91440" bIns="45720" rtlCol="0" anchor="t">
            <a:normAutofit fontScale="62500" lnSpcReduction="20000"/>
          </a:bodyPr>
          <a:lstStyle/>
          <a:p>
            <a:pPr marL="285750" indent="-285750">
              <a:buFont typeface="Arial"/>
              <a:buChar char="•"/>
            </a:pPr>
            <a:r>
              <a:rPr lang="en-US" b="1" dirty="0">
                <a:ea typeface="Cambria"/>
                <a:cs typeface="+mn-lt"/>
              </a:rPr>
              <a:t>Set up CONFIG file</a:t>
            </a:r>
          </a:p>
          <a:p>
            <a:pPr marL="628650" lvl="1" indent="-171450">
              <a:buFont typeface="Arial"/>
              <a:buChar char="•"/>
            </a:pPr>
            <a:r>
              <a:rPr lang="en-US" dirty="0">
                <a:ea typeface="Cambria"/>
                <a:cs typeface="+mn-lt"/>
              </a:rPr>
              <a:t>The goal is to move options from command-line flags to a more permanent configuration file.</a:t>
            </a:r>
          </a:p>
          <a:p>
            <a:pPr marL="285750" indent="-285750">
              <a:buFont typeface="Arial"/>
              <a:buChar char="•"/>
            </a:pPr>
            <a:r>
              <a:rPr lang="en-US" b="1" dirty="0">
                <a:ea typeface="Cambria"/>
                <a:cs typeface="+mn-lt"/>
              </a:rPr>
              <a:t>Investigate SOURCE USER</a:t>
            </a:r>
          </a:p>
          <a:p>
            <a:pPr marL="628650" lvl="1" indent="-171450">
              <a:buFont typeface="Arial"/>
              <a:buChar char="•"/>
            </a:pPr>
            <a:r>
              <a:rPr lang="en-US" dirty="0">
                <a:ea typeface="Cambria"/>
                <a:cs typeface="+mn-lt"/>
              </a:rPr>
              <a:t>Figure out what to do with the SOURCE property which are still in the Cell class.</a:t>
            </a:r>
          </a:p>
          <a:p>
            <a:pPr marL="285750" indent="-285750">
              <a:buFont typeface="Arial"/>
              <a:buChar char="•"/>
            </a:pPr>
            <a:r>
              <a:rPr lang="en-US" b="1" dirty="0">
                <a:ea typeface="Cambria"/>
                <a:cs typeface="+mn-lt"/>
              </a:rPr>
              <a:t>Research SI2 LEF/DEF APIs</a:t>
            </a:r>
          </a:p>
          <a:p>
            <a:pPr marL="628650" lvl="1" indent="-171450">
              <a:buFont typeface="Arial"/>
              <a:buChar char="•"/>
            </a:pPr>
            <a:r>
              <a:rPr lang="en-US" dirty="0">
                <a:ea typeface="Cambria"/>
                <a:cs typeface="+mn-lt"/>
              </a:rPr>
              <a:t>This is a research task to see if an external API would be better than this custom script.</a:t>
            </a:r>
          </a:p>
          <a:p>
            <a:pPr marL="171450" indent="-171450">
              <a:buFont typeface="Arial"/>
              <a:buChar char="•"/>
            </a:pPr>
            <a:r>
              <a:rPr lang="en-US" dirty="0">
                <a:ea typeface="Cambria"/>
                <a:cs typeface="+mn-lt"/>
              </a:rPr>
              <a:t>  </a:t>
            </a:r>
            <a:r>
              <a:rPr lang="en-US" b="1" dirty="0">
                <a:ea typeface="Cambria"/>
                <a:cs typeface="+mn-lt"/>
              </a:rPr>
              <a:t>Update Flowchart</a:t>
            </a:r>
          </a:p>
          <a:p>
            <a:pPr marL="628650" lvl="1" indent="-171450">
              <a:buFont typeface="Arial"/>
              <a:buChar char="•"/>
            </a:pPr>
            <a:r>
              <a:rPr lang="en-US" dirty="0">
                <a:ea typeface="Cambria"/>
                <a:cs typeface="+mn-lt"/>
              </a:rPr>
              <a:t>Need to update flowchart for the changes made in TLEF/TF parsing , LEF vs LIB, LEF parsing for VIAs, and checking of VIAs in OBS.</a:t>
            </a:r>
          </a:p>
          <a:p>
            <a:pPr>
              <a:buFont typeface="Arial"/>
              <a:buChar char="•"/>
            </a:pPr>
            <a:r>
              <a:rPr lang="en-US" b="1" dirty="0">
                <a:ea typeface="Cambria"/>
                <a:cs typeface="+mn-lt"/>
              </a:rPr>
              <a:t>Modular File Architecture</a:t>
            </a:r>
            <a:endParaRPr lang="en-US" b="1" dirty="0">
              <a:ea typeface="Cambria"/>
            </a:endParaRPr>
          </a:p>
          <a:p>
            <a:pPr lvl="1">
              <a:buFont typeface="Arial"/>
              <a:buChar char="•"/>
            </a:pPr>
            <a:r>
              <a:rPr lang="en-US" b="1" dirty="0">
                <a:ea typeface="+mn-lt"/>
                <a:cs typeface="+mn-lt"/>
              </a:rPr>
              <a:t>Current State:</a:t>
            </a:r>
            <a:r>
              <a:rPr lang="en-US" dirty="0">
                <a:ea typeface="+mn-lt"/>
                <a:cs typeface="+mn-lt"/>
              </a:rPr>
              <a:t> The ruby file is currently a single "monolithic" script holding all logic (parsing, data models, comparison, and reporting).</a:t>
            </a:r>
            <a:endParaRPr lang="en-US" dirty="0">
              <a:ea typeface="Cambria"/>
            </a:endParaRPr>
          </a:p>
          <a:p>
            <a:pPr lvl="1">
              <a:buFont typeface="Arial"/>
              <a:buChar char="•"/>
            </a:pPr>
            <a:r>
              <a:rPr lang="en-US" b="1" dirty="0">
                <a:ea typeface="+mn-lt"/>
                <a:cs typeface="+mn-lt"/>
              </a:rPr>
              <a:t>Proposed Change:</a:t>
            </a:r>
            <a:r>
              <a:rPr lang="en-US" dirty="0">
                <a:ea typeface="+mn-lt"/>
                <a:cs typeface="+mn-lt"/>
              </a:rPr>
              <a:t> Split the script into a standard library structure:</a:t>
            </a:r>
            <a:endParaRPr lang="en-US" dirty="0">
              <a:ea typeface="Cambria"/>
            </a:endParaRPr>
          </a:p>
          <a:p>
            <a:pPr lvl="2">
              <a:buFont typeface="Wingdings"/>
              <a:buChar char="§"/>
            </a:pPr>
            <a:r>
              <a:rPr lang="en-US" sz="2200" dirty="0">
                <a:ea typeface="Cambria"/>
                <a:cs typeface="+mn-lt"/>
              </a:rPr>
              <a:t>lib/parsers/</a:t>
            </a:r>
            <a:r>
              <a:rPr lang="en-US" sz="2200" dirty="0">
                <a:ea typeface="+mn-lt"/>
                <a:cs typeface="+mn-lt"/>
              </a:rPr>
              <a:t>: Separate files for </a:t>
            </a:r>
            <a:r>
              <a:rPr lang="en-US" sz="2200" dirty="0" err="1">
                <a:ea typeface="+mn-lt"/>
                <a:cs typeface="+mn-lt"/>
              </a:rPr>
              <a:t>FileCursor</a:t>
            </a:r>
            <a:r>
              <a:rPr lang="en-US" sz="2200" dirty="0">
                <a:ea typeface="+mn-lt"/>
                <a:cs typeface="+mn-lt"/>
              </a:rPr>
              <a:t>, </a:t>
            </a:r>
            <a:r>
              <a:rPr lang="en-US" sz="2200" dirty="0" err="1">
                <a:ea typeface="Cambria"/>
                <a:cs typeface="+mn-lt"/>
              </a:rPr>
              <a:t>TLEF_File</a:t>
            </a:r>
            <a:r>
              <a:rPr lang="en-US" sz="2200" dirty="0">
                <a:ea typeface="+mn-lt"/>
                <a:cs typeface="+mn-lt"/>
              </a:rPr>
              <a:t>, and </a:t>
            </a:r>
            <a:r>
              <a:rPr lang="en-US" sz="2200" dirty="0" err="1">
                <a:ea typeface="Cambria"/>
                <a:cs typeface="+mn-lt"/>
              </a:rPr>
              <a:t>Liberty_Cell</a:t>
            </a:r>
            <a:r>
              <a:rPr lang="en-US" sz="2200" dirty="0">
                <a:ea typeface="+mn-lt"/>
                <a:cs typeface="+mn-lt"/>
              </a:rPr>
              <a:t>.</a:t>
            </a:r>
            <a:endParaRPr lang="en-US" sz="2200" dirty="0">
              <a:ea typeface="Cambria"/>
            </a:endParaRPr>
          </a:p>
          <a:p>
            <a:pPr lvl="2">
              <a:buFont typeface="Wingdings"/>
              <a:buChar char="§"/>
            </a:pPr>
            <a:r>
              <a:rPr lang="en-US" sz="2200" dirty="0">
                <a:ea typeface="Cambria"/>
                <a:cs typeface="+mn-lt"/>
              </a:rPr>
              <a:t>lib/models/</a:t>
            </a:r>
            <a:r>
              <a:rPr lang="en-US" sz="2200" dirty="0">
                <a:ea typeface="+mn-lt"/>
                <a:cs typeface="+mn-lt"/>
              </a:rPr>
              <a:t>: Separate files for </a:t>
            </a:r>
            <a:r>
              <a:rPr lang="en-US" sz="2200" dirty="0">
                <a:ea typeface="Cambria"/>
                <a:cs typeface="+mn-lt"/>
              </a:rPr>
              <a:t>Cell</a:t>
            </a:r>
            <a:r>
              <a:rPr lang="en-US" sz="2200" dirty="0">
                <a:ea typeface="+mn-lt"/>
                <a:cs typeface="+mn-lt"/>
              </a:rPr>
              <a:t>, </a:t>
            </a:r>
            <a:r>
              <a:rPr lang="en-US" sz="2200" dirty="0">
                <a:ea typeface="Cambria"/>
                <a:cs typeface="+mn-lt"/>
              </a:rPr>
              <a:t>Pin</a:t>
            </a:r>
            <a:r>
              <a:rPr lang="en-US" sz="2200" dirty="0">
                <a:ea typeface="+mn-lt"/>
                <a:cs typeface="+mn-lt"/>
              </a:rPr>
              <a:t>, and </a:t>
            </a:r>
            <a:r>
              <a:rPr lang="en-US" sz="2200" dirty="0">
                <a:ea typeface="Cambria"/>
                <a:cs typeface="+mn-lt"/>
              </a:rPr>
              <a:t>Layer</a:t>
            </a:r>
            <a:r>
              <a:rPr lang="en-US" sz="2200" dirty="0">
                <a:ea typeface="+mn-lt"/>
                <a:cs typeface="+mn-lt"/>
              </a:rPr>
              <a:t>.</a:t>
            </a:r>
            <a:endParaRPr lang="en-US" sz="2200" dirty="0">
              <a:ea typeface="Cambria"/>
            </a:endParaRPr>
          </a:p>
          <a:p>
            <a:pPr lvl="2">
              <a:buFont typeface="Wingdings"/>
              <a:buChar char="§"/>
            </a:pPr>
            <a:r>
              <a:rPr lang="en-US" sz="2200" dirty="0">
                <a:ea typeface="Cambria"/>
                <a:cs typeface="+mn-lt"/>
              </a:rPr>
              <a:t>lib/reporters/</a:t>
            </a:r>
            <a:r>
              <a:rPr lang="en-US" sz="2200" dirty="0">
                <a:ea typeface="+mn-lt"/>
                <a:cs typeface="+mn-lt"/>
              </a:rPr>
              <a:t>: Logic for printing errors and sorted files.</a:t>
            </a:r>
            <a:endParaRPr lang="en-US" sz="2200" dirty="0">
              <a:ea typeface="Cambria"/>
            </a:endParaRPr>
          </a:p>
          <a:p>
            <a:pPr lvl="1">
              <a:buFont typeface="Arial"/>
              <a:buChar char="•"/>
            </a:pPr>
            <a:r>
              <a:rPr lang="en-US" b="1" dirty="0">
                <a:ea typeface="+mn-lt"/>
                <a:cs typeface="+mn-lt"/>
              </a:rPr>
              <a:t>Benefit:</a:t>
            </a:r>
            <a:r>
              <a:rPr lang="en-US" dirty="0">
                <a:ea typeface="+mn-lt"/>
                <a:cs typeface="+mn-lt"/>
              </a:rPr>
              <a:t> Allows multiple developers to work on various parts of the tool simultaneously without merge conflicts.</a:t>
            </a:r>
          </a:p>
          <a:p>
            <a:pPr marL="171450">
              <a:buFont typeface="Arial"/>
              <a:buChar char="•"/>
            </a:pPr>
            <a:endParaRPr lang="en-US" b="1" dirty="0">
              <a:ea typeface="Cambria"/>
              <a:cs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894085755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A9511D-252A-566D-63E4-B0A69DB728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5C1583F-8801-D9AC-0244-3E1E0E53E1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CEE1AB-5E79-4041-BFFA-F9F6DE0A4A26}" type="datetime1">
              <a:rPr lang="en-US" sz="1400" smtClean="0">
                <a:solidFill>
                  <a:srgbClr val="0070C0"/>
                </a:solidFill>
                <a:ea typeface="Cambria" panose="02040503050406030204" pitchFamily="18" charset="0"/>
              </a:rPr>
              <a:t>12/19/2025</a:t>
            </a:fld>
            <a:endParaRPr lang="en-US" sz="1400">
              <a:solidFill>
                <a:srgbClr val="0070C0"/>
              </a:solidFill>
              <a:ea typeface="Cambria" panose="02040503050406030204" pitchFamily="18" charset="0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5783E33-278D-5217-8FAE-C429F42243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8A6112-8193-45F5-863E-CC8218595965}" type="slidenum">
              <a:rPr lang="en-US" sz="1400" smtClean="0">
                <a:solidFill>
                  <a:srgbClr val="0070C0"/>
                </a:solidFill>
                <a:ea typeface="Cambria" panose="02040503050406030204" pitchFamily="18" charset="0"/>
              </a:rPr>
              <a:t>45</a:t>
            </a:fld>
            <a:endParaRPr lang="en-US" sz="1400">
              <a:solidFill>
                <a:srgbClr val="0070C0"/>
              </a:solidFill>
              <a:ea typeface="Cambria" panose="02040503050406030204" pitchFamily="18" charset="0"/>
            </a:endParaRP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CB0F68F-BA88-CA89-DF7C-8E5FCBFE11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 sz="1400">
                <a:solidFill>
                  <a:srgbClr val="0070C0"/>
                </a:solidFill>
                <a:ea typeface="Cambria" panose="02040503050406030204" pitchFamily="18" charset="0"/>
              </a:rPr>
              <a:t>EE/CPE584 Intro to VLSI</a:t>
            </a:r>
            <a:endParaRPr lang="en-US" sz="1400">
              <a:solidFill>
                <a:srgbClr val="0070C0"/>
              </a:solidFill>
              <a:ea typeface="Cambria" panose="02040503050406030204" pitchFamily="18" charset="0"/>
            </a:endParaRPr>
          </a:p>
        </p:txBody>
      </p:sp>
      <p:sp>
        <p:nvSpPr>
          <p:cNvPr id="7" name="Text Placeholder 2">
            <a:extLst>
              <a:ext uri="{FF2B5EF4-FFF2-40B4-BE49-F238E27FC236}">
                <a16:creationId xmlns:a16="http://schemas.microsoft.com/office/drawing/2014/main" id="{59646241-AC18-D6A8-82F0-A42768E40C76}"/>
              </a:ext>
            </a:extLst>
          </p:cNvPr>
          <p:cNvSpPr txBox="1">
            <a:spLocks/>
          </p:cNvSpPr>
          <p:nvPr/>
        </p:nvSpPr>
        <p:spPr>
          <a:xfrm>
            <a:off x="2909079" y="1276513"/>
            <a:ext cx="6373841" cy="681036"/>
          </a:xfrm>
          <a:prstGeom prst="rect">
            <a:avLst/>
          </a:prstGeom>
        </p:spPr>
        <p:txBody>
          <a:bodyPr lIns="91440" tIns="45720" rIns="91440" bIns="45720" anchor="t"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4000" dirty="0">
                <a:solidFill>
                  <a:srgbClr val="0070C0"/>
                </a:solidFill>
                <a:ea typeface="Cambria"/>
              </a:rPr>
              <a:t>Backup Slides For The Rest</a:t>
            </a:r>
            <a:endParaRPr lang="en-US" sz="4000" dirty="0">
              <a:solidFill>
                <a:srgbClr val="0070C0"/>
              </a:solidFill>
              <a:ea typeface="Cambria" panose="02040503050406030204" pitchFamily="18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A28E1D2-913F-2A08-E32B-CA37FAD99F21}"/>
              </a:ext>
            </a:extLst>
          </p:cNvPr>
          <p:cNvSpPr txBox="1"/>
          <p:nvPr/>
        </p:nvSpPr>
        <p:spPr>
          <a:xfrm>
            <a:off x="4039714" y="3242583"/>
            <a:ext cx="373113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>
                <a:ea typeface="Cambria" panose="02040503050406030204" pitchFamily="18" charset="0"/>
              </a:rPr>
              <a:t>Acquired From Previous Team (S22)</a:t>
            </a:r>
          </a:p>
        </p:txBody>
      </p:sp>
    </p:spTree>
    <p:extLst>
      <p:ext uri="{BB962C8B-B14F-4D97-AF65-F5344CB8AC3E}">
        <p14:creationId xmlns:p14="http://schemas.microsoft.com/office/powerpoint/2010/main" val="3199103495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AE4B5F-097C-1166-13EC-0D2A506EAD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5FDD7E-EA01-2147-F9E9-FA147BA7C1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5256" y="132292"/>
            <a:ext cx="10515600" cy="1325563"/>
          </a:xfrm>
        </p:spPr>
        <p:txBody>
          <a:bodyPr/>
          <a:lstStyle/>
          <a:p>
            <a:r>
              <a:rPr lang="en-US" sz="4000" dirty="0">
                <a:solidFill>
                  <a:srgbClr val="0070C0"/>
                </a:solidFill>
                <a:latin typeface="+mn-lt"/>
              </a:rPr>
              <a:t>Possible Future Work </a:t>
            </a:r>
            <a:r>
              <a:rPr lang="en-US" sz="4000" dirty="0">
                <a:solidFill>
                  <a:srgbClr val="0070C0"/>
                </a:solidFill>
                <a:latin typeface="+mn-lt"/>
                <a:ea typeface="Cambria" panose="02040503050406030204" pitchFamily="18" charset="0"/>
              </a:rPr>
              <a:t>- SOURCE USER Syntax</a:t>
            </a:r>
          </a:p>
        </p:txBody>
      </p:sp>
      <p:sp>
        <p:nvSpPr>
          <p:cNvPr id="7" name="Date Placeholder 3">
            <a:extLst>
              <a:ext uri="{FF2B5EF4-FFF2-40B4-BE49-F238E27FC236}">
                <a16:creationId xmlns:a16="http://schemas.microsoft.com/office/drawing/2014/main" id="{1A714B80-39DC-8B1A-F51D-4DA40A91E86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A16D28ED-750A-4DFC-A458-38B3E79E4C7D}" type="datetime1">
              <a:rPr lang="en-US" sz="1400" smtClean="0">
                <a:solidFill>
                  <a:srgbClr val="0070C0"/>
                </a:solidFill>
                <a:ea typeface="Cambria" panose="02040503050406030204" pitchFamily="18" charset="0"/>
              </a:rPr>
              <a:t>12/19/2025</a:t>
            </a:fld>
            <a:endParaRPr lang="en-US" sz="1400">
              <a:solidFill>
                <a:srgbClr val="0070C0"/>
              </a:solidFill>
              <a:ea typeface="Cambria" panose="02040503050406030204" pitchFamily="18" charset="0"/>
            </a:endParaRPr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81E48111-2B5B-63E5-21D5-EFD39185D5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es-ES" sz="1400" dirty="0">
                <a:solidFill>
                  <a:srgbClr val="0070C0"/>
                </a:solidFill>
                <a:ea typeface="Cambria" panose="02040503050406030204" pitchFamily="18" charset="0"/>
              </a:rPr>
              <a:t>EE/CPE584 </a:t>
            </a:r>
            <a:r>
              <a:rPr lang="es-ES" sz="1400" dirty="0" err="1">
                <a:solidFill>
                  <a:srgbClr val="0070C0"/>
                </a:solidFill>
                <a:ea typeface="Cambria" panose="02040503050406030204" pitchFamily="18" charset="0"/>
              </a:rPr>
              <a:t>Intro</a:t>
            </a:r>
            <a:r>
              <a:rPr lang="es-ES" sz="1400" dirty="0">
                <a:solidFill>
                  <a:srgbClr val="0070C0"/>
                </a:solidFill>
                <a:ea typeface="Cambria" panose="02040503050406030204" pitchFamily="18" charset="0"/>
              </a:rPr>
              <a:t> </a:t>
            </a:r>
            <a:r>
              <a:rPr lang="es-ES" sz="1400" dirty="0" err="1">
                <a:solidFill>
                  <a:srgbClr val="0070C0"/>
                </a:solidFill>
                <a:ea typeface="Cambria" panose="02040503050406030204" pitchFamily="18" charset="0"/>
              </a:rPr>
              <a:t>to</a:t>
            </a:r>
            <a:r>
              <a:rPr lang="es-ES" sz="1400" dirty="0">
                <a:solidFill>
                  <a:srgbClr val="0070C0"/>
                </a:solidFill>
                <a:ea typeface="Cambria" panose="02040503050406030204" pitchFamily="18" charset="0"/>
              </a:rPr>
              <a:t> VLSI</a:t>
            </a:r>
            <a:endParaRPr lang="en-US" sz="1400" dirty="0">
              <a:solidFill>
                <a:srgbClr val="0070C0"/>
              </a:solidFill>
              <a:ea typeface="Cambria" panose="02040503050406030204" pitchFamily="18" charset="0"/>
            </a:endParaRPr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0B9D4C8C-17DB-5833-1046-BC55722B38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D08A6112-8193-45F5-863E-CC8218595965}" type="slidenum">
              <a:rPr lang="en-US" sz="1400" smtClean="0">
                <a:solidFill>
                  <a:srgbClr val="0070C0"/>
                </a:solidFill>
                <a:ea typeface="Cambria" panose="02040503050406030204" pitchFamily="18" charset="0"/>
              </a:rPr>
              <a:t>46</a:t>
            </a:fld>
            <a:endParaRPr lang="en-US" sz="1400">
              <a:solidFill>
                <a:srgbClr val="0070C0"/>
              </a:solidFill>
              <a:ea typeface="Cambria" panose="02040503050406030204" pitchFamily="18" charset="0"/>
            </a:endParaRP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10CC9F03-D95C-3F99-FB63-2CADA8E78C7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45256" y="1214249"/>
            <a:ext cx="6274001" cy="5385707"/>
          </a:xfrm>
        </p:spPr>
        <p:txBody>
          <a:bodyPr vert="horz" lIns="91440" tIns="45720" rIns="91440" bIns="45720" rtlCol="0" anchor="t">
            <a:normAutofit fontScale="92500" lnSpcReduction="10000"/>
          </a:bodyPr>
          <a:lstStyle/>
          <a:p>
            <a:r>
              <a:rPr lang="en-US" sz="2400" dirty="0"/>
              <a:t>scs8ls_lpflow_s8p.lef</a:t>
            </a:r>
          </a:p>
          <a:p>
            <a:pPr lvl="1"/>
            <a:r>
              <a:rPr lang="en-US" sz="2000" dirty="0"/>
              <a:t>LEF/DEF syntax v5.5</a:t>
            </a:r>
          </a:p>
          <a:p>
            <a:pPr lvl="1"/>
            <a:r>
              <a:rPr lang="en-US" sz="2000" dirty="0"/>
              <a:t>Each macro specifies a SOURCE property</a:t>
            </a:r>
          </a:p>
          <a:p>
            <a:r>
              <a:rPr lang="en-US" sz="2400" dirty="0"/>
              <a:t>LEF/DEF language reference v5.7, v5.8</a:t>
            </a:r>
          </a:p>
          <a:p>
            <a:pPr lvl="1"/>
            <a:r>
              <a:rPr lang="en-US" sz="2000" dirty="0"/>
              <a:t>SOURCE property not part of LEF syntax</a:t>
            </a:r>
          </a:p>
          <a:p>
            <a:pPr lvl="1"/>
            <a:r>
              <a:rPr lang="en-US" sz="2000" dirty="0"/>
              <a:t>Only part of DEF syntax</a:t>
            </a:r>
          </a:p>
          <a:p>
            <a:r>
              <a:rPr lang="en-US" sz="2400" dirty="0"/>
              <a:t>DEF Syntax:</a:t>
            </a:r>
            <a:endParaRPr lang="en-US" sz="2000" dirty="0"/>
          </a:p>
          <a:p>
            <a:pPr lvl="1"/>
            <a:r>
              <a:rPr lang="en-US" sz="2000" dirty="0"/>
              <a:t>SOURCE specifies source of component</a:t>
            </a:r>
          </a:p>
          <a:p>
            <a:pPr lvl="1"/>
            <a:r>
              <a:rPr lang="en-US" sz="2000" dirty="0"/>
              <a:t>USER specifies component is generated by user</a:t>
            </a:r>
          </a:p>
          <a:p>
            <a:r>
              <a:rPr lang="en-US" sz="2400" dirty="0"/>
              <a:t>LEF QA Script</a:t>
            </a:r>
          </a:p>
          <a:p>
            <a:pPr lvl="1"/>
            <a:r>
              <a:rPr lang="en-US" sz="2000" dirty="0"/>
              <a:t>Includes SOURCE as one of the possible LEF syntax keywords</a:t>
            </a:r>
          </a:p>
          <a:p>
            <a:pPr lvl="1"/>
            <a:r>
              <a:rPr lang="en-US" sz="2000" dirty="0"/>
              <a:t>Doesn’t throw errors when SOURCE is included in LEF files</a:t>
            </a:r>
          </a:p>
          <a:p>
            <a:r>
              <a:rPr lang="en-US" sz="2400" dirty="0"/>
              <a:t>Need to do further research and determine scope of this problem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DE28711-7F2F-049B-D8F3-984A1E125090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b="25529"/>
          <a:stretch/>
        </p:blipFill>
        <p:spPr>
          <a:xfrm>
            <a:off x="7640369" y="1214249"/>
            <a:ext cx="3411808" cy="5162398"/>
          </a:xfrm>
          <a:prstGeom prst="rect">
            <a:avLst/>
          </a:prstGeom>
        </p:spPr>
      </p:pic>
      <p:cxnSp>
        <p:nvCxnSpPr>
          <p:cNvPr id="5" name="Connector: Elbow 4">
            <a:extLst>
              <a:ext uri="{FF2B5EF4-FFF2-40B4-BE49-F238E27FC236}">
                <a16:creationId xmlns:a16="http://schemas.microsoft.com/office/drawing/2014/main" id="{15AEE626-F3C2-A750-5A9A-E1B4700EEC36}"/>
              </a:ext>
            </a:extLst>
          </p:cNvPr>
          <p:cNvCxnSpPr>
            <a:cxnSpLocks/>
          </p:cNvCxnSpPr>
          <p:nvPr/>
        </p:nvCxnSpPr>
        <p:spPr>
          <a:xfrm>
            <a:off x="3744686" y="1698171"/>
            <a:ext cx="3865923" cy="587829"/>
          </a:xfrm>
          <a:prstGeom prst="bentConnector3">
            <a:avLst>
              <a:gd name="adj1" fmla="val 88764"/>
            </a:avLst>
          </a:prstGeom>
          <a:ln w="28575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7" name="Connector: Elbow 16">
            <a:extLst>
              <a:ext uri="{FF2B5EF4-FFF2-40B4-BE49-F238E27FC236}">
                <a16:creationId xmlns:a16="http://schemas.microsoft.com/office/drawing/2014/main" id="{FAC78ECE-F60F-8388-CEBC-161BB922BC87}"/>
              </a:ext>
            </a:extLst>
          </p:cNvPr>
          <p:cNvCxnSpPr>
            <a:cxnSpLocks/>
          </p:cNvCxnSpPr>
          <p:nvPr/>
        </p:nvCxnSpPr>
        <p:spPr>
          <a:xfrm>
            <a:off x="5971702" y="1996439"/>
            <a:ext cx="1638907" cy="1632285"/>
          </a:xfrm>
          <a:prstGeom prst="bentConnector3">
            <a:avLst>
              <a:gd name="adj1" fmla="val 50000"/>
            </a:avLst>
          </a:prstGeom>
          <a:ln w="28575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6239139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90D70E-7763-B74F-B942-75ACBB45F9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0070C0"/>
                </a:solidFill>
                <a:latin typeface="+mn-lt"/>
                <a:ea typeface="Cambria" panose="02040503050406030204" pitchFamily="18" charset="0"/>
              </a:rPr>
              <a:t>Possible Future Work - SI</a:t>
            </a:r>
            <a:r>
              <a:rPr lang="en-US" baseline="30000" dirty="0">
                <a:solidFill>
                  <a:srgbClr val="0070C0"/>
                </a:solidFill>
                <a:latin typeface="+mn-lt"/>
                <a:ea typeface="Cambria" panose="02040503050406030204" pitchFamily="18" charset="0"/>
              </a:rPr>
              <a:t>2</a:t>
            </a:r>
            <a:r>
              <a:rPr lang="en-US" dirty="0">
                <a:solidFill>
                  <a:srgbClr val="0070C0"/>
                </a:solidFill>
                <a:latin typeface="+mn-lt"/>
                <a:ea typeface="Cambria" panose="02040503050406030204" pitchFamily="18" charset="0"/>
              </a:rPr>
              <a:t> LEF/DEF APIs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6CE8B6A-CB35-EAFF-50AE-49AEE4B909B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>
                <a:ea typeface="Cambria" panose="02040503050406030204" pitchFamily="18" charset="0"/>
              </a:rPr>
              <a:t>Silicon Integration Initiative (SI</a:t>
            </a:r>
            <a:r>
              <a:rPr lang="en-US" sz="2400" baseline="30000" dirty="0">
                <a:ea typeface="Cambria" panose="02040503050406030204" pitchFamily="18" charset="0"/>
              </a:rPr>
              <a:t>2</a:t>
            </a:r>
            <a:r>
              <a:rPr lang="en-US" sz="2400" dirty="0">
                <a:ea typeface="Cambria" panose="02040503050406030204" pitchFamily="18" charset="0"/>
              </a:rPr>
              <a:t>)</a:t>
            </a:r>
          </a:p>
          <a:p>
            <a:pPr lvl="1"/>
            <a:r>
              <a:rPr lang="en-US" sz="2000" dirty="0">
                <a:ea typeface="Cambria" panose="02040503050406030204" pitchFamily="18" charset="0"/>
              </a:rPr>
              <a:t>Formerly CAD Framework Initiative (CFI)</a:t>
            </a:r>
          </a:p>
          <a:p>
            <a:pPr lvl="1"/>
            <a:r>
              <a:rPr lang="en-US" sz="2000" dirty="0">
                <a:ea typeface="Cambria" panose="02040503050406030204" pitchFamily="18" charset="0"/>
              </a:rPr>
              <a:t>Non-profit consortium of semiconductor, systems, EDA, and manufacturing companies</a:t>
            </a:r>
          </a:p>
          <a:p>
            <a:pPr lvl="1"/>
            <a:r>
              <a:rPr lang="en-US" sz="2000" dirty="0">
                <a:ea typeface="Cambria" panose="02040503050406030204" pitchFamily="18" charset="0"/>
                <a:hlinkClick r:id="rId2"/>
              </a:rPr>
              <a:t>https://si2.org/</a:t>
            </a:r>
            <a:endParaRPr lang="en-US" sz="2000" dirty="0">
              <a:ea typeface="Cambria" panose="02040503050406030204" pitchFamily="18" charset="0"/>
            </a:endParaRPr>
          </a:p>
          <a:p>
            <a:pPr lvl="1"/>
            <a:r>
              <a:rPr lang="en-US" sz="2000" dirty="0">
                <a:ea typeface="Cambria" panose="02040503050406030204" pitchFamily="18" charset="0"/>
              </a:rPr>
              <a:t>Distributes LEF/DEF APIs in C/C++</a:t>
            </a:r>
          </a:p>
          <a:p>
            <a:r>
              <a:rPr lang="en-US" sz="2400" dirty="0">
                <a:ea typeface="Cambria" panose="02040503050406030204" pitchFamily="18" charset="0"/>
              </a:rPr>
              <a:t>LEF/DEF APIs</a:t>
            </a:r>
          </a:p>
          <a:p>
            <a:pPr lvl="1"/>
            <a:r>
              <a:rPr lang="en-US" sz="2000" dirty="0">
                <a:ea typeface="Cambria" panose="02040503050406030204" pitchFamily="18" charset="0"/>
              </a:rPr>
              <a:t>Created and updated by Cadence</a:t>
            </a:r>
          </a:p>
          <a:p>
            <a:pPr lvl="1"/>
            <a:r>
              <a:rPr lang="en-US" sz="2000" dirty="0">
                <a:ea typeface="Cambria" panose="02040503050406030204" pitchFamily="18" charset="0"/>
              </a:rPr>
              <a:t>Used to read, write, and manipulate LEF/DEF files</a:t>
            </a:r>
          </a:p>
          <a:p>
            <a:pPr lvl="1"/>
            <a:r>
              <a:rPr lang="en-US" sz="2000" dirty="0">
                <a:ea typeface="Cambria" panose="02040503050406030204" pitchFamily="18" charset="0"/>
              </a:rPr>
              <a:t>APIs can parse all LEF syntax keywords</a:t>
            </a:r>
          </a:p>
          <a:p>
            <a:r>
              <a:rPr lang="en-US" sz="2400" dirty="0">
                <a:ea typeface="Cambria" panose="02040503050406030204" pitchFamily="18" charset="0"/>
              </a:rPr>
              <a:t>Need to explore APIs more and determine tradeoffs for adopting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A884774-1D9E-71C5-95E5-E3BF817803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6D28ED-750A-4DFC-A458-38B3E79E4C7D}" type="datetime1">
              <a:rPr lang="en-US" sz="1400" smtClean="0">
                <a:solidFill>
                  <a:srgbClr val="0070C0"/>
                </a:solidFill>
                <a:ea typeface="Cambria" panose="02040503050406030204" pitchFamily="18" charset="0"/>
              </a:rPr>
              <a:t>12/19/2025</a:t>
            </a:fld>
            <a:endParaRPr lang="en-US" sz="1400">
              <a:solidFill>
                <a:srgbClr val="0070C0"/>
              </a:solidFill>
              <a:ea typeface="Cambria" panose="02040503050406030204" pitchFamily="18" charset="0"/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574EFE8-0CB1-6AA1-7FC1-90743E542E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 sz="1400">
                <a:solidFill>
                  <a:srgbClr val="0070C0"/>
                </a:solidFill>
                <a:ea typeface="Cambria" panose="02040503050406030204" pitchFamily="18" charset="0"/>
              </a:rPr>
              <a:t>EE/CPE584 Intro to VLSI</a:t>
            </a:r>
            <a:endParaRPr lang="en-US" sz="1400">
              <a:solidFill>
                <a:srgbClr val="0070C0"/>
              </a:solidFill>
              <a:ea typeface="Cambria" panose="02040503050406030204" pitchFamily="18" charset="0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5E86ADD-AC86-3478-851F-23767BE8E0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8A6112-8193-45F5-863E-CC8218595965}" type="slidenum">
              <a:rPr lang="en-US" sz="1400" smtClean="0">
                <a:solidFill>
                  <a:srgbClr val="0070C0"/>
                </a:solidFill>
                <a:ea typeface="Cambria" panose="02040503050406030204" pitchFamily="18" charset="0"/>
              </a:rPr>
              <a:t>47</a:t>
            </a:fld>
            <a:endParaRPr lang="en-US" sz="1400">
              <a:solidFill>
                <a:srgbClr val="0070C0"/>
              </a:solidFill>
              <a:ea typeface="Cambria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63832281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992E7EE-4D24-4884-B919-D905FCEA1627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b="0" dirty="0">
                <a:latin typeface="+mn-lt"/>
              </a:rPr>
              <a:t>Updated Keyword Discrepancies</a:t>
            </a:r>
          </a:p>
        </p:txBody>
      </p:sp>
      <p:sp>
        <p:nvSpPr>
          <p:cNvPr id="44" name="Content Placeholder 1">
            <a:extLst>
              <a:ext uri="{FF2B5EF4-FFF2-40B4-BE49-F238E27FC236}">
                <a16:creationId xmlns:a16="http://schemas.microsoft.com/office/drawing/2014/main" id="{D2E4A8D4-31BD-4144-9070-934F1B008A6B}"/>
              </a:ext>
            </a:extLst>
          </p:cNvPr>
          <p:cNvSpPr txBox="1">
            <a:spLocks/>
          </p:cNvSpPr>
          <p:nvPr/>
        </p:nvSpPr>
        <p:spPr>
          <a:xfrm>
            <a:off x="324465" y="681035"/>
            <a:ext cx="10587949" cy="5814655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500" i="0" u="none" strike="noStrike" baseline="0" dirty="0"/>
              <a:t>[</a:t>
            </a:r>
            <a:r>
              <a:rPr lang="en-US" sz="1500" b="1" i="0" u="none" strike="noStrike" baseline="0" dirty="0"/>
              <a:t>VERSION</a:t>
            </a:r>
            <a:r>
              <a:rPr lang="en-US" sz="1500" i="0" u="none" strike="noStrike" baseline="0" dirty="0"/>
              <a:t> statement]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500" i="0" u="none" strike="noStrike" baseline="0" dirty="0"/>
              <a:t>[</a:t>
            </a:r>
            <a:r>
              <a:rPr lang="en-US" sz="1500" b="1" i="0" u="none" strike="noStrike" baseline="0" dirty="0"/>
              <a:t>BUSBITCHARS</a:t>
            </a:r>
            <a:r>
              <a:rPr lang="en-US" sz="1500" i="0" u="none" strike="noStrike" baseline="0" dirty="0"/>
              <a:t> statement]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500" i="0" u="none" strike="noStrike" baseline="0" dirty="0"/>
              <a:t>[</a:t>
            </a:r>
            <a:r>
              <a:rPr lang="en-US" sz="1500" b="1" i="0" u="none" strike="noStrike" baseline="0" dirty="0"/>
              <a:t>DIVIDERCHAR</a:t>
            </a:r>
            <a:r>
              <a:rPr lang="en-US" sz="1500" i="0" u="none" strike="noStrike" baseline="0" dirty="0"/>
              <a:t> statement]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500" i="0" u="none" strike="noStrike" baseline="0" dirty="0"/>
              <a:t>[</a:t>
            </a:r>
            <a:r>
              <a:rPr lang="en-US" sz="1500" b="1" i="0" u="none" strike="noStrike" baseline="0" dirty="0">
                <a:highlight>
                  <a:srgbClr val="00FF00"/>
                </a:highlight>
              </a:rPr>
              <a:t>VIA</a:t>
            </a:r>
            <a:r>
              <a:rPr lang="en-US" sz="1500" i="0" u="none" strike="noStrike" baseline="0" dirty="0"/>
              <a:t> statement] …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500" i="0" u="none" strike="noStrike" baseline="0" dirty="0"/>
              <a:t>[</a:t>
            </a:r>
            <a:r>
              <a:rPr lang="en-US" sz="1500" b="1" i="0" u="none" strike="noStrike" baseline="0" dirty="0">
                <a:highlight>
                  <a:srgbClr val="00FF00"/>
                </a:highlight>
              </a:rPr>
              <a:t>SITE</a:t>
            </a:r>
            <a:r>
              <a:rPr lang="en-US" sz="1500" i="0" u="none" strike="noStrike" baseline="0" dirty="0"/>
              <a:t> statement]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500" i="0" u="none" strike="noStrike" baseline="0" dirty="0"/>
              <a:t>[</a:t>
            </a:r>
            <a:r>
              <a:rPr lang="en-US" sz="1500" b="1" i="0" u="none" strike="noStrike" baseline="0" dirty="0"/>
              <a:t>MACRO</a:t>
            </a:r>
            <a:r>
              <a:rPr lang="en-US" sz="1500" i="0" u="none" strike="noStrike" baseline="0" dirty="0"/>
              <a:t> statement] …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500" i="0" u="none" strike="noStrike" baseline="0" dirty="0"/>
              <a:t>[</a:t>
            </a:r>
            <a:r>
              <a:rPr lang="en-US" sz="1500" b="1" i="0" u="none" strike="noStrike" baseline="0" dirty="0">
                <a:highlight>
                  <a:srgbClr val="00FF00"/>
                </a:highlight>
              </a:rPr>
              <a:t>BEGINEXT</a:t>
            </a:r>
            <a:r>
              <a:rPr lang="en-US" sz="1500" i="0" u="none" strike="noStrike" baseline="0" dirty="0"/>
              <a:t> statement] …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500" i="0" u="none" strike="noStrike" baseline="0" dirty="0"/>
              <a:t>[</a:t>
            </a:r>
            <a:r>
              <a:rPr lang="en-US" sz="1500" b="1" i="0" u="none" strike="noStrike" baseline="0" dirty="0"/>
              <a:t>END</a:t>
            </a:r>
            <a:r>
              <a:rPr lang="en-US" sz="1500" i="0" u="none" strike="noStrike" baseline="0" dirty="0"/>
              <a:t> </a:t>
            </a:r>
            <a:r>
              <a:rPr lang="en-US" sz="1500" b="1" i="0" u="none" strike="noStrike" baseline="0" dirty="0"/>
              <a:t>LIBRARY</a:t>
            </a:r>
            <a:r>
              <a:rPr lang="en-US" sz="1500" i="0" u="none" strike="noStrike" baseline="0" dirty="0"/>
              <a:t>]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en-US" sz="1500" dirty="0"/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en-US" sz="1500" i="0" u="none" strike="noStrike" baseline="0" dirty="0"/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500" b="0" i="0" u="none" strike="noStrike" baseline="0" dirty="0"/>
              <a:t>{</a:t>
            </a:r>
            <a:r>
              <a:rPr lang="en-US" sz="1500" b="1" i="0" u="none" strike="noStrike" baseline="0" dirty="0"/>
              <a:t>LAYER</a:t>
            </a:r>
            <a:r>
              <a:rPr lang="en-US" sz="1500" b="0" i="0" u="none" strike="noStrike" baseline="0" dirty="0"/>
              <a:t> </a:t>
            </a:r>
            <a:r>
              <a:rPr lang="en-US" sz="1500" b="0" i="1" u="none" strike="noStrike" baseline="0" dirty="0" err="1"/>
              <a:t>layerName</a:t>
            </a:r>
            <a:endParaRPr lang="en-US" sz="1500" i="1" dirty="0"/>
          </a:p>
          <a:p>
            <a:pPr marL="233363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500" b="0" i="0" u="none" strike="noStrike" baseline="0" dirty="0"/>
              <a:t>[</a:t>
            </a:r>
            <a:r>
              <a:rPr lang="en-US" sz="1500" b="1" i="0" u="none" strike="noStrike" baseline="0" dirty="0">
                <a:highlight>
                  <a:srgbClr val="00FF00"/>
                </a:highlight>
              </a:rPr>
              <a:t>EXCEPTPGNET</a:t>
            </a:r>
            <a:r>
              <a:rPr lang="en-US" sz="1500" b="0" i="0" u="none" strike="noStrike" baseline="0" dirty="0"/>
              <a:t>] [</a:t>
            </a:r>
            <a:r>
              <a:rPr lang="en-US" sz="1500" b="1" i="0" u="none" strike="noStrike" baseline="0" dirty="0">
                <a:highlight>
                  <a:srgbClr val="00FF00"/>
                </a:highlight>
              </a:rPr>
              <a:t>SPACING</a:t>
            </a:r>
            <a:r>
              <a:rPr lang="en-US" sz="1500" b="0" i="0" u="none" strike="noStrike" baseline="0" dirty="0"/>
              <a:t> </a:t>
            </a:r>
            <a:r>
              <a:rPr lang="en-US" sz="1500" b="0" i="1" u="none" strike="noStrike" baseline="0" dirty="0" err="1"/>
              <a:t>minSpacing</a:t>
            </a:r>
            <a:r>
              <a:rPr lang="en-US" sz="1500" b="0" i="1" u="none" strike="noStrike" baseline="0" dirty="0"/>
              <a:t> </a:t>
            </a:r>
            <a:r>
              <a:rPr lang="en-US" sz="1500" b="0" i="0" u="none" strike="noStrike" baseline="0" dirty="0"/>
              <a:t>| </a:t>
            </a:r>
            <a:r>
              <a:rPr lang="en-US" sz="1500" b="1" i="0" u="none" strike="noStrike" baseline="0" dirty="0">
                <a:highlight>
                  <a:srgbClr val="00FF00"/>
                </a:highlight>
              </a:rPr>
              <a:t>DESIGNRULEWIDTH</a:t>
            </a:r>
            <a:r>
              <a:rPr lang="en-US" sz="1500" b="0" i="0" u="none" strike="noStrike" baseline="0" dirty="0"/>
              <a:t> </a:t>
            </a:r>
            <a:r>
              <a:rPr lang="en-US" sz="1500" b="0" i="1" u="none" strike="noStrike" baseline="0" dirty="0"/>
              <a:t>value</a:t>
            </a:r>
            <a:r>
              <a:rPr lang="en-US" sz="1500" b="0" i="0" u="none" strike="noStrike" baseline="0" dirty="0"/>
              <a:t>] ;</a:t>
            </a:r>
          </a:p>
          <a:p>
            <a:pPr marL="233363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500" b="0" i="0" u="none" strike="noStrike" baseline="0" dirty="0"/>
              <a:t>[</a:t>
            </a:r>
            <a:r>
              <a:rPr lang="en-US" sz="1500" b="1" i="0" u="none" strike="noStrike" baseline="0" dirty="0">
                <a:highlight>
                  <a:srgbClr val="00FF00"/>
                </a:highlight>
              </a:rPr>
              <a:t>WIDTH</a:t>
            </a:r>
            <a:r>
              <a:rPr lang="en-US" sz="1500" b="0" i="0" u="none" strike="noStrike" baseline="0" dirty="0"/>
              <a:t> </a:t>
            </a:r>
            <a:r>
              <a:rPr lang="en-US" sz="1500" b="0" i="1" u="none" strike="noStrike" baseline="0" dirty="0" err="1"/>
              <a:t>width</a:t>
            </a:r>
            <a:r>
              <a:rPr lang="en-US" sz="1500" b="0" i="1" u="none" strike="noStrike" baseline="0" dirty="0"/>
              <a:t> </a:t>
            </a:r>
            <a:r>
              <a:rPr lang="en-US" sz="1500" b="0" i="0" u="none" strike="noStrike" baseline="0" dirty="0"/>
              <a:t>;]</a:t>
            </a:r>
          </a:p>
          <a:p>
            <a:pPr marL="233363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500" b="0" i="0" u="none" strike="noStrike" baseline="0" dirty="0"/>
              <a:t>{</a:t>
            </a:r>
            <a:r>
              <a:rPr lang="en-US" sz="1500" b="1" i="0" u="none" strike="noStrike" baseline="0" dirty="0">
                <a:highlight>
                  <a:srgbClr val="00FF00"/>
                </a:highlight>
              </a:rPr>
              <a:t>PATH</a:t>
            </a:r>
            <a:r>
              <a:rPr lang="en-US" sz="1500" b="0" i="0" u="none" strike="noStrike" baseline="0" dirty="0"/>
              <a:t> [</a:t>
            </a:r>
            <a:r>
              <a:rPr lang="en-US" sz="1500" b="1" i="0" u="none" strike="noStrike" baseline="0" dirty="0">
                <a:highlight>
                  <a:srgbClr val="00FF00"/>
                </a:highlight>
              </a:rPr>
              <a:t>MASK</a:t>
            </a:r>
            <a:r>
              <a:rPr lang="en-US" sz="1500" b="0" i="0" u="none" strike="noStrike" baseline="0" dirty="0"/>
              <a:t> </a:t>
            </a:r>
            <a:r>
              <a:rPr lang="en-US" sz="1500" b="0" i="1" u="none" strike="noStrike" baseline="0" dirty="0" err="1"/>
              <a:t>maskNum</a:t>
            </a:r>
            <a:r>
              <a:rPr lang="en-US" sz="1500" b="0" i="0" u="none" strike="noStrike" baseline="0" dirty="0"/>
              <a:t>] </a:t>
            </a:r>
            <a:r>
              <a:rPr lang="en-US" sz="1500" b="0" i="1" u="none" strike="noStrike" baseline="0" dirty="0"/>
              <a:t>pt </a:t>
            </a:r>
            <a:r>
              <a:rPr lang="en-US" sz="1500" b="0" i="0" u="none" strike="noStrike" baseline="0" dirty="0"/>
              <a:t>... ;</a:t>
            </a:r>
          </a:p>
          <a:p>
            <a:pPr marL="45720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500" b="0" i="0" u="none" strike="noStrike" baseline="0" dirty="0"/>
              <a:t>| </a:t>
            </a:r>
            <a:r>
              <a:rPr lang="en-US" sz="1500" b="1" i="0" u="none" strike="noStrike" baseline="0" dirty="0">
                <a:highlight>
                  <a:srgbClr val="00FF00"/>
                </a:highlight>
              </a:rPr>
              <a:t>PATH</a:t>
            </a:r>
            <a:r>
              <a:rPr lang="en-US" sz="1500" b="0" i="0" u="none" strike="noStrike" baseline="0" dirty="0"/>
              <a:t> [</a:t>
            </a:r>
            <a:r>
              <a:rPr lang="en-US" sz="1500" b="1" i="0" u="none" strike="noStrike" baseline="0" dirty="0">
                <a:highlight>
                  <a:srgbClr val="00FF00"/>
                </a:highlight>
              </a:rPr>
              <a:t>MASK</a:t>
            </a:r>
            <a:r>
              <a:rPr lang="en-US" sz="1500" b="0" i="0" u="none" strike="noStrike" baseline="0" dirty="0"/>
              <a:t> </a:t>
            </a:r>
            <a:r>
              <a:rPr lang="en-US" sz="1500" b="0" i="1" u="none" strike="noStrike" baseline="0" dirty="0" err="1"/>
              <a:t>maskNum</a:t>
            </a:r>
            <a:r>
              <a:rPr lang="en-US" sz="1500" b="0" i="0" u="none" strike="noStrike" baseline="0" dirty="0"/>
              <a:t>] </a:t>
            </a:r>
            <a:r>
              <a:rPr lang="en-US" sz="1500" b="1" i="0" u="none" strike="noStrike" baseline="0" dirty="0">
                <a:highlight>
                  <a:srgbClr val="00FF00"/>
                </a:highlight>
              </a:rPr>
              <a:t>ITERATE</a:t>
            </a:r>
            <a:r>
              <a:rPr lang="en-US" sz="1500" b="0" i="0" u="none" strike="noStrike" baseline="0" dirty="0"/>
              <a:t> </a:t>
            </a:r>
            <a:r>
              <a:rPr lang="en-US" sz="1500" b="0" i="1" u="none" strike="noStrike" baseline="0" dirty="0"/>
              <a:t>pt </a:t>
            </a:r>
            <a:r>
              <a:rPr lang="en-US" sz="1500" b="0" i="0" u="none" strike="noStrike" baseline="0" dirty="0"/>
              <a:t>... </a:t>
            </a:r>
            <a:r>
              <a:rPr lang="en-US" sz="1500" b="0" i="1" u="none" strike="noStrike" baseline="0" dirty="0" err="1"/>
              <a:t>stepPattern</a:t>
            </a:r>
            <a:r>
              <a:rPr lang="en-US" sz="1500" b="0" i="1" u="none" strike="noStrike" baseline="0" dirty="0"/>
              <a:t> </a:t>
            </a:r>
            <a:r>
              <a:rPr lang="en-US" sz="1500" b="0" i="0" u="none" strike="noStrike" baseline="0" dirty="0"/>
              <a:t>;</a:t>
            </a:r>
          </a:p>
          <a:p>
            <a:pPr marL="45720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500" b="0" i="0" u="none" strike="noStrike" baseline="0" dirty="0"/>
              <a:t>| </a:t>
            </a:r>
            <a:r>
              <a:rPr lang="en-US" sz="1500" b="1" i="0" u="none" strike="noStrike" baseline="0" dirty="0"/>
              <a:t>RECT</a:t>
            </a:r>
            <a:r>
              <a:rPr lang="en-US" sz="1500" b="0" i="0" u="none" strike="noStrike" baseline="0" dirty="0"/>
              <a:t> [</a:t>
            </a:r>
            <a:r>
              <a:rPr lang="en-US" sz="1500" b="1" i="0" u="none" strike="noStrike" baseline="0" dirty="0">
                <a:highlight>
                  <a:srgbClr val="00FF00"/>
                </a:highlight>
              </a:rPr>
              <a:t>MASK</a:t>
            </a:r>
            <a:r>
              <a:rPr lang="en-US" sz="1500" b="0" i="0" u="none" strike="noStrike" baseline="0" dirty="0"/>
              <a:t> </a:t>
            </a:r>
            <a:r>
              <a:rPr lang="en-US" sz="1500" b="0" i="1" u="none" strike="noStrike" baseline="0" dirty="0" err="1"/>
              <a:t>maskNum</a:t>
            </a:r>
            <a:r>
              <a:rPr lang="en-US" sz="1500" b="0" i="0" u="none" strike="noStrike" baseline="0" dirty="0"/>
              <a:t>] </a:t>
            </a:r>
            <a:r>
              <a:rPr lang="en-US" sz="1500" b="0" i="1" u="none" strike="noStrike" baseline="0" dirty="0"/>
              <a:t>pt </a:t>
            </a:r>
            <a:r>
              <a:rPr lang="en-US" sz="1500" b="0" i="1" u="none" strike="noStrike" baseline="0" dirty="0" err="1"/>
              <a:t>pt</a:t>
            </a:r>
            <a:r>
              <a:rPr lang="en-US" sz="1500" b="0" i="1" u="none" strike="noStrike" baseline="0" dirty="0"/>
              <a:t> </a:t>
            </a:r>
            <a:r>
              <a:rPr lang="en-US" sz="1500" b="0" i="0" u="none" strike="noStrike" baseline="0" dirty="0"/>
              <a:t>;</a:t>
            </a:r>
          </a:p>
          <a:p>
            <a:pPr marL="45720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500" b="0" i="0" u="none" strike="noStrike" baseline="0" dirty="0"/>
              <a:t>| </a:t>
            </a:r>
            <a:r>
              <a:rPr lang="en-US" sz="1500" b="1" i="0" u="none" strike="noStrike" baseline="0" dirty="0"/>
              <a:t>RECT</a:t>
            </a:r>
            <a:r>
              <a:rPr lang="en-US" sz="1500" b="0" i="0" u="none" strike="noStrike" baseline="0" dirty="0"/>
              <a:t> [</a:t>
            </a:r>
            <a:r>
              <a:rPr lang="en-US" sz="1500" b="1" i="0" u="none" strike="noStrike" baseline="0" dirty="0">
                <a:highlight>
                  <a:srgbClr val="00FF00"/>
                </a:highlight>
              </a:rPr>
              <a:t>MASK</a:t>
            </a:r>
            <a:r>
              <a:rPr lang="en-US" sz="1500" b="0" i="0" u="none" strike="noStrike" baseline="0" dirty="0"/>
              <a:t> </a:t>
            </a:r>
            <a:r>
              <a:rPr lang="en-US" sz="1500" b="0" i="1" u="none" strike="noStrike" baseline="0" dirty="0" err="1"/>
              <a:t>maskNum</a:t>
            </a:r>
            <a:r>
              <a:rPr lang="en-US" sz="1500" b="0" i="0" u="none" strike="noStrike" baseline="0" dirty="0"/>
              <a:t>] </a:t>
            </a:r>
            <a:r>
              <a:rPr lang="en-US" sz="1500" b="1" i="0" u="none" strike="noStrike" baseline="0" dirty="0">
                <a:highlight>
                  <a:srgbClr val="00FF00"/>
                </a:highlight>
              </a:rPr>
              <a:t>ITERATE</a:t>
            </a:r>
            <a:r>
              <a:rPr lang="en-US" sz="1500" b="0" i="0" u="none" strike="noStrike" baseline="0" dirty="0"/>
              <a:t> </a:t>
            </a:r>
            <a:r>
              <a:rPr lang="en-US" sz="1500" b="0" i="1" u="none" strike="noStrike" baseline="0" dirty="0"/>
              <a:t>pt </a:t>
            </a:r>
            <a:r>
              <a:rPr lang="en-US" sz="1500" b="0" i="1" u="none" strike="noStrike" baseline="0" dirty="0" err="1"/>
              <a:t>pt</a:t>
            </a:r>
            <a:r>
              <a:rPr lang="en-US" sz="1500" b="0" i="1" u="none" strike="noStrike" baseline="0" dirty="0"/>
              <a:t> </a:t>
            </a:r>
            <a:r>
              <a:rPr lang="en-US" sz="1500" b="0" i="1" u="none" strike="noStrike" baseline="0" dirty="0" err="1"/>
              <a:t>stepPattern</a:t>
            </a:r>
            <a:r>
              <a:rPr lang="en-US" sz="1500" b="0" i="1" u="none" strike="noStrike" baseline="0" dirty="0"/>
              <a:t> </a:t>
            </a:r>
            <a:r>
              <a:rPr lang="en-US" sz="1500" b="0" i="0" u="none" strike="noStrike" baseline="0" dirty="0"/>
              <a:t>;</a:t>
            </a:r>
          </a:p>
          <a:p>
            <a:pPr marL="45720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500" b="0" i="0" u="none" strike="noStrike" baseline="0" dirty="0"/>
              <a:t>| </a:t>
            </a:r>
            <a:r>
              <a:rPr lang="en-US" sz="1500" b="1" i="0" u="none" strike="noStrike" baseline="0" dirty="0">
                <a:highlight>
                  <a:srgbClr val="00FF00"/>
                </a:highlight>
              </a:rPr>
              <a:t>POLYGON</a:t>
            </a:r>
            <a:r>
              <a:rPr lang="en-US" sz="1500" b="0" i="0" u="none" strike="noStrike" baseline="0" dirty="0"/>
              <a:t> [</a:t>
            </a:r>
            <a:r>
              <a:rPr lang="en-US" sz="1500" b="1" i="0" u="none" strike="noStrike" baseline="0" dirty="0">
                <a:highlight>
                  <a:srgbClr val="00FF00"/>
                </a:highlight>
              </a:rPr>
              <a:t>MASK</a:t>
            </a:r>
            <a:r>
              <a:rPr lang="en-US" sz="1500" b="0" i="0" u="none" strike="noStrike" baseline="0" dirty="0"/>
              <a:t> </a:t>
            </a:r>
            <a:r>
              <a:rPr lang="en-US" sz="1500" b="0" i="1" u="none" strike="noStrike" baseline="0" dirty="0" err="1"/>
              <a:t>maskNum</a:t>
            </a:r>
            <a:r>
              <a:rPr lang="en-US" sz="1500" b="0" i="0" u="none" strike="noStrike" baseline="0" dirty="0"/>
              <a:t>] </a:t>
            </a:r>
            <a:r>
              <a:rPr lang="en-US" sz="1500" b="0" i="1" u="none" strike="noStrike" baseline="0" dirty="0"/>
              <a:t>pt </a:t>
            </a:r>
            <a:r>
              <a:rPr lang="en-US" sz="1500" b="0" i="1" u="none" strike="noStrike" baseline="0" dirty="0" err="1"/>
              <a:t>pt</a:t>
            </a:r>
            <a:r>
              <a:rPr lang="en-US" sz="1500" b="0" i="1" u="none" strike="noStrike" baseline="0" dirty="0"/>
              <a:t> </a:t>
            </a:r>
            <a:r>
              <a:rPr lang="en-US" sz="1500" b="0" i="1" u="none" strike="noStrike" baseline="0" dirty="0" err="1"/>
              <a:t>pt</a:t>
            </a:r>
            <a:r>
              <a:rPr lang="en-US" sz="1500" b="0" i="1" u="none" strike="noStrike" baseline="0" dirty="0"/>
              <a:t> </a:t>
            </a:r>
            <a:r>
              <a:rPr lang="en-US" sz="1500" b="0" i="1" u="none" strike="noStrike" baseline="0" dirty="0" err="1"/>
              <a:t>pt</a:t>
            </a:r>
            <a:r>
              <a:rPr lang="en-US" sz="1500" b="0" i="1" u="none" strike="noStrike" baseline="0" dirty="0"/>
              <a:t> </a:t>
            </a:r>
            <a:r>
              <a:rPr lang="en-US" sz="1500" b="0" i="0" u="none" strike="noStrike" baseline="0" dirty="0"/>
              <a:t>... ;</a:t>
            </a:r>
          </a:p>
          <a:p>
            <a:pPr marL="45720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500" b="0" i="0" u="none" strike="noStrike" baseline="0" dirty="0"/>
              <a:t>| </a:t>
            </a:r>
            <a:r>
              <a:rPr lang="en-US" sz="1500" b="1" i="0" u="none" strike="noStrike" baseline="0" dirty="0">
                <a:highlight>
                  <a:srgbClr val="00FF00"/>
                </a:highlight>
              </a:rPr>
              <a:t>POLYGON</a:t>
            </a:r>
            <a:r>
              <a:rPr lang="en-US" sz="1500" b="0" i="0" u="none" strike="noStrike" baseline="0" dirty="0"/>
              <a:t> [</a:t>
            </a:r>
            <a:r>
              <a:rPr lang="en-US" sz="1500" b="1" i="0" u="none" strike="noStrike" baseline="0" dirty="0">
                <a:highlight>
                  <a:srgbClr val="00FF00"/>
                </a:highlight>
              </a:rPr>
              <a:t>MASK</a:t>
            </a:r>
            <a:r>
              <a:rPr lang="en-US" sz="1500" b="0" i="0" u="none" strike="noStrike" baseline="0" dirty="0"/>
              <a:t> </a:t>
            </a:r>
            <a:r>
              <a:rPr lang="en-US" sz="1500" b="0" i="1" u="none" strike="noStrike" baseline="0" dirty="0" err="1"/>
              <a:t>maskNum</a:t>
            </a:r>
            <a:r>
              <a:rPr lang="en-US" sz="1500" b="0" i="0" u="none" strike="noStrike" baseline="0" dirty="0"/>
              <a:t>] </a:t>
            </a:r>
            <a:r>
              <a:rPr lang="en-US" sz="1500" b="1" i="0" u="none" strike="noStrike" baseline="0" dirty="0">
                <a:highlight>
                  <a:srgbClr val="00FF00"/>
                </a:highlight>
              </a:rPr>
              <a:t>ITERATE</a:t>
            </a:r>
            <a:r>
              <a:rPr lang="en-US" sz="1500" b="0" i="0" u="none" strike="noStrike" baseline="0" dirty="0"/>
              <a:t> </a:t>
            </a:r>
            <a:r>
              <a:rPr lang="en-US" sz="1500" b="0" i="1" u="none" strike="noStrike" baseline="0" dirty="0"/>
              <a:t>pt </a:t>
            </a:r>
            <a:r>
              <a:rPr lang="en-US" sz="1500" b="0" i="1" u="none" strike="noStrike" baseline="0" dirty="0" err="1"/>
              <a:t>pt</a:t>
            </a:r>
            <a:r>
              <a:rPr lang="en-US" sz="1500" b="0" i="1" u="none" strike="noStrike" baseline="0" dirty="0"/>
              <a:t> </a:t>
            </a:r>
            <a:r>
              <a:rPr lang="en-US" sz="1500" b="0" i="1" u="none" strike="noStrike" baseline="0" dirty="0" err="1"/>
              <a:t>pt</a:t>
            </a:r>
            <a:r>
              <a:rPr lang="en-US" sz="1500" b="0" i="1" u="none" strike="noStrike" baseline="0" dirty="0"/>
              <a:t> </a:t>
            </a:r>
            <a:r>
              <a:rPr lang="en-US" sz="1500" b="0" i="1" u="none" strike="noStrike" baseline="0" dirty="0" err="1"/>
              <a:t>pt</a:t>
            </a:r>
            <a:r>
              <a:rPr lang="en-US" sz="1500" b="0" i="1" u="none" strike="noStrike" baseline="0" dirty="0"/>
              <a:t> </a:t>
            </a:r>
            <a:r>
              <a:rPr lang="en-US" sz="1500" b="0" i="0" u="none" strike="noStrike" baseline="0" dirty="0"/>
              <a:t>... </a:t>
            </a:r>
            <a:r>
              <a:rPr lang="en-US" sz="1500" b="0" i="1" u="none" strike="noStrike" baseline="0" dirty="0" err="1"/>
              <a:t>stepPattern</a:t>
            </a:r>
            <a:r>
              <a:rPr lang="en-US" sz="1500" b="0" i="1" u="none" strike="noStrike" baseline="0" dirty="0"/>
              <a:t> </a:t>
            </a:r>
            <a:r>
              <a:rPr lang="en-US" sz="1500" b="0" i="0" u="none" strike="noStrike" baseline="0" dirty="0"/>
              <a:t>;</a:t>
            </a:r>
          </a:p>
          <a:p>
            <a:pPr marL="233363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500" b="0" i="0" u="none" strike="noStrike" baseline="0" dirty="0"/>
              <a:t>} ...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500" b="0" i="0" u="none" strike="noStrike" baseline="0" dirty="0"/>
              <a:t>| </a:t>
            </a:r>
            <a:r>
              <a:rPr lang="en-US" sz="1500" b="1" i="0" u="none" strike="noStrike" baseline="0" dirty="0">
                <a:highlight>
                  <a:srgbClr val="00FF00"/>
                </a:highlight>
              </a:rPr>
              <a:t>VIA</a:t>
            </a:r>
            <a:r>
              <a:rPr lang="en-US" sz="1500" b="0" i="0" u="none" strike="noStrike" baseline="0" dirty="0"/>
              <a:t> [</a:t>
            </a:r>
            <a:r>
              <a:rPr lang="en-US" sz="1500" b="1" i="0" u="none" strike="noStrike" baseline="0" dirty="0">
                <a:highlight>
                  <a:srgbClr val="00FF00"/>
                </a:highlight>
              </a:rPr>
              <a:t>MASK</a:t>
            </a:r>
            <a:r>
              <a:rPr lang="en-US" sz="1500" b="0" i="0" u="none" strike="noStrike" baseline="0" dirty="0"/>
              <a:t> </a:t>
            </a:r>
            <a:r>
              <a:rPr lang="en-US" sz="1500" b="0" i="1" u="none" strike="noStrike" baseline="0" dirty="0" err="1"/>
              <a:t>viaMaskNum</a:t>
            </a:r>
            <a:r>
              <a:rPr lang="en-US" sz="1500" b="0" i="0" u="none" strike="noStrike" baseline="0" dirty="0"/>
              <a:t>] </a:t>
            </a:r>
            <a:r>
              <a:rPr lang="en-US" sz="1500" b="0" i="1" u="none" strike="noStrike" baseline="0" dirty="0"/>
              <a:t>pt </a:t>
            </a:r>
            <a:r>
              <a:rPr lang="en-US" sz="1500" b="0" i="1" u="none" strike="noStrike" baseline="0" dirty="0" err="1"/>
              <a:t>viaName</a:t>
            </a:r>
            <a:r>
              <a:rPr lang="en-US" sz="1500" b="0" i="1" u="none" strike="noStrike" baseline="0" dirty="0"/>
              <a:t> </a:t>
            </a:r>
            <a:r>
              <a:rPr lang="en-US" sz="1500" b="0" i="0" u="none" strike="noStrike" baseline="0" dirty="0"/>
              <a:t>;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500" b="0" i="0" u="none" strike="noStrike" baseline="0" dirty="0"/>
              <a:t>| </a:t>
            </a:r>
            <a:r>
              <a:rPr lang="en-US" sz="1500" b="1" i="0" u="none" strike="noStrike" baseline="0" dirty="0">
                <a:highlight>
                  <a:srgbClr val="00FF00"/>
                </a:highlight>
              </a:rPr>
              <a:t>VIA</a:t>
            </a:r>
            <a:r>
              <a:rPr lang="en-US" sz="1500" b="0" i="0" u="none" strike="noStrike" baseline="0" dirty="0"/>
              <a:t> </a:t>
            </a:r>
            <a:r>
              <a:rPr lang="en-US" sz="1500" b="1" i="0" u="none" strike="noStrike" baseline="0" dirty="0">
                <a:highlight>
                  <a:srgbClr val="00FF00"/>
                </a:highlight>
              </a:rPr>
              <a:t>ITERATE</a:t>
            </a:r>
            <a:r>
              <a:rPr lang="en-US" sz="1500" b="0" i="0" u="none" strike="noStrike" baseline="0" dirty="0"/>
              <a:t> [</a:t>
            </a:r>
            <a:r>
              <a:rPr lang="en-US" sz="1500" b="1" i="0" u="none" strike="noStrike" baseline="0" dirty="0">
                <a:highlight>
                  <a:srgbClr val="00FF00"/>
                </a:highlight>
              </a:rPr>
              <a:t>MASK</a:t>
            </a:r>
            <a:r>
              <a:rPr lang="en-US" sz="1500" b="0" i="0" u="none" strike="noStrike" baseline="0" dirty="0"/>
              <a:t> </a:t>
            </a:r>
            <a:r>
              <a:rPr lang="en-US" sz="1500" b="0" i="1" u="none" strike="noStrike" baseline="0" dirty="0" err="1"/>
              <a:t>viaMaskNum</a:t>
            </a:r>
            <a:r>
              <a:rPr lang="en-US" sz="1500" b="0" i="0" u="none" strike="noStrike" baseline="0" dirty="0"/>
              <a:t>] </a:t>
            </a:r>
            <a:r>
              <a:rPr lang="en-US" sz="1500" b="0" i="1" u="none" strike="noStrike" baseline="0" dirty="0"/>
              <a:t>pt </a:t>
            </a:r>
            <a:r>
              <a:rPr lang="en-US" sz="1500" b="0" i="1" u="none" strike="noStrike" baseline="0" dirty="0" err="1"/>
              <a:t>viaName</a:t>
            </a:r>
            <a:r>
              <a:rPr lang="en-US" sz="1500" b="0" i="1" u="none" strike="noStrike" baseline="0" dirty="0"/>
              <a:t> </a:t>
            </a:r>
            <a:r>
              <a:rPr lang="en-US" sz="1500" b="0" i="1" u="none" strike="noStrike" baseline="0" dirty="0" err="1"/>
              <a:t>stepPattern</a:t>
            </a:r>
            <a:r>
              <a:rPr lang="en-US" sz="1500" b="0" i="1" u="none" strike="noStrike" baseline="0" dirty="0"/>
              <a:t> </a:t>
            </a:r>
            <a:r>
              <a:rPr lang="en-US" sz="1500" b="0" i="0" u="none" strike="noStrike" baseline="0" dirty="0"/>
              <a:t>;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500" b="0" i="0" u="none" strike="noStrike" baseline="0" dirty="0"/>
              <a:t>} ...</a:t>
            </a:r>
          </a:p>
        </p:txBody>
      </p:sp>
      <p:sp>
        <p:nvSpPr>
          <p:cNvPr id="2" name="Date Placeholder 3">
            <a:extLst>
              <a:ext uri="{FF2B5EF4-FFF2-40B4-BE49-F238E27FC236}">
                <a16:creationId xmlns:a16="http://schemas.microsoft.com/office/drawing/2014/main" id="{CA3E5B10-A072-9ED0-0E30-4C88F8630E29}"/>
              </a:ext>
            </a:extLst>
          </p:cNvPr>
          <p:cNvSpPr txBox="1">
            <a:spLocks/>
          </p:cNvSpPr>
          <p:nvPr/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16D28ED-750A-4DFC-A458-38B3E79E4C7D}" type="datetime1">
              <a:rPr lang="en-US" sz="1400" smtClean="0">
                <a:solidFill>
                  <a:srgbClr val="0070C0"/>
                </a:solidFill>
                <a:ea typeface="Cambria" panose="02040503050406030204" pitchFamily="18" charset="0"/>
              </a:rPr>
              <a:pPr/>
              <a:t>12/19/2025</a:t>
            </a:fld>
            <a:endParaRPr lang="en-US" sz="1400" dirty="0">
              <a:solidFill>
                <a:srgbClr val="0070C0"/>
              </a:solidFill>
              <a:ea typeface="Cambria" panose="02040503050406030204" pitchFamily="18" charset="0"/>
            </a:endParaRPr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6FD02AFF-BBCA-D105-272A-E3E82CB0BEBF}"/>
              </a:ext>
            </a:extLst>
          </p:cNvPr>
          <p:cNvSpPr txBox="1">
            <a:spLocks/>
          </p:cNvSpPr>
          <p:nvPr/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ES" sz="1400" dirty="0">
                <a:solidFill>
                  <a:srgbClr val="0070C0"/>
                </a:solidFill>
                <a:ea typeface="Cambria" panose="02040503050406030204" pitchFamily="18" charset="0"/>
              </a:rPr>
              <a:t>EE/CPE584 </a:t>
            </a:r>
            <a:r>
              <a:rPr lang="es-ES" sz="1400" dirty="0" err="1">
                <a:solidFill>
                  <a:srgbClr val="0070C0"/>
                </a:solidFill>
                <a:ea typeface="Cambria" panose="02040503050406030204" pitchFamily="18" charset="0"/>
              </a:rPr>
              <a:t>Intro</a:t>
            </a:r>
            <a:r>
              <a:rPr lang="es-ES" sz="1400" dirty="0">
                <a:solidFill>
                  <a:srgbClr val="0070C0"/>
                </a:solidFill>
                <a:ea typeface="Cambria" panose="02040503050406030204" pitchFamily="18" charset="0"/>
              </a:rPr>
              <a:t> </a:t>
            </a:r>
            <a:r>
              <a:rPr lang="es-ES" sz="1400" dirty="0" err="1">
                <a:solidFill>
                  <a:srgbClr val="0070C0"/>
                </a:solidFill>
                <a:ea typeface="Cambria" panose="02040503050406030204" pitchFamily="18" charset="0"/>
              </a:rPr>
              <a:t>to</a:t>
            </a:r>
            <a:r>
              <a:rPr lang="es-ES" sz="1400" dirty="0">
                <a:solidFill>
                  <a:srgbClr val="0070C0"/>
                </a:solidFill>
                <a:ea typeface="Cambria" panose="02040503050406030204" pitchFamily="18" charset="0"/>
              </a:rPr>
              <a:t> VLSI</a:t>
            </a:r>
            <a:endParaRPr lang="en-US" sz="1400" dirty="0">
              <a:solidFill>
                <a:srgbClr val="0070C0"/>
              </a:solidFill>
              <a:ea typeface="Cambria" panose="02040503050406030204" pitchFamily="18" charset="0"/>
            </a:endParaRP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505C331F-974E-1E70-D418-CE7E4857B2E8}"/>
              </a:ext>
            </a:extLst>
          </p:cNvPr>
          <p:cNvSpPr txBox="1">
            <a:spLocks/>
          </p:cNvSpPr>
          <p:nvPr/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D08A6112-8193-45F5-863E-CC8218595965}" type="slidenum">
              <a:rPr lang="en-US" sz="1400" smtClean="0">
                <a:solidFill>
                  <a:srgbClr val="0070C0"/>
                </a:solidFill>
                <a:ea typeface="Cambria" panose="02040503050406030204" pitchFamily="18" charset="0"/>
              </a:rPr>
              <a:pPr algn="r"/>
              <a:t>48</a:t>
            </a:fld>
            <a:endParaRPr lang="en-US" sz="1400">
              <a:solidFill>
                <a:srgbClr val="0070C0"/>
              </a:solidFill>
              <a:ea typeface="Cambria" panose="020405030504060302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ABCF9E0-08A4-04EE-CBF9-E8729B6934E2}"/>
              </a:ext>
            </a:extLst>
          </p:cNvPr>
          <p:cNvSpPr txBox="1"/>
          <p:nvPr/>
        </p:nvSpPr>
        <p:spPr>
          <a:xfrm>
            <a:off x="7662441" y="681034"/>
            <a:ext cx="4205094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800" b="1" dirty="0"/>
              <a:t>Keyword Highlighting: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800" i="0" u="none" strike="noStrike" baseline="0" dirty="0">
                <a:highlight>
                  <a:srgbClr val="00FF00"/>
                </a:highlight>
              </a:rPr>
              <a:t>Only in LEF files</a:t>
            </a:r>
          </a:p>
          <a:p>
            <a:r>
              <a:rPr lang="en-US" sz="1800" dirty="0"/>
              <a:t>No highlighting - In both script and LEF files</a:t>
            </a:r>
          </a:p>
        </p:txBody>
      </p:sp>
    </p:spTree>
    <p:extLst>
      <p:ext uri="{BB962C8B-B14F-4D97-AF65-F5344CB8AC3E}">
        <p14:creationId xmlns:p14="http://schemas.microsoft.com/office/powerpoint/2010/main" val="2391088033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992E7EE-4D24-4884-B919-D905FCEA1627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b="0" dirty="0">
                <a:latin typeface="+mn-lt"/>
              </a:rPr>
              <a:t>Updated Keyword Discrepancies</a:t>
            </a:r>
          </a:p>
        </p:txBody>
      </p:sp>
      <p:sp>
        <p:nvSpPr>
          <p:cNvPr id="4" name="Content Placeholder 1">
            <a:extLst>
              <a:ext uri="{FF2B5EF4-FFF2-40B4-BE49-F238E27FC236}">
                <a16:creationId xmlns:a16="http://schemas.microsoft.com/office/drawing/2014/main" id="{BA42F7F8-5843-444C-81F9-D14E2B93AD66}"/>
              </a:ext>
            </a:extLst>
          </p:cNvPr>
          <p:cNvSpPr txBox="1">
            <a:spLocks/>
          </p:cNvSpPr>
          <p:nvPr/>
        </p:nvSpPr>
        <p:spPr>
          <a:xfrm>
            <a:off x="324465" y="681034"/>
            <a:ext cx="7083332" cy="5814655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500" b="1" i="0" u="none" strike="noStrike" baseline="0" dirty="0"/>
              <a:t>MACRO</a:t>
            </a:r>
            <a:r>
              <a:rPr lang="en-US" sz="1500" b="0" i="0" u="none" strike="noStrike" baseline="0" dirty="0"/>
              <a:t> </a:t>
            </a:r>
            <a:r>
              <a:rPr lang="en-US" sz="1500" b="0" i="1" u="none" strike="noStrike" baseline="0" dirty="0"/>
              <a:t>macroName</a:t>
            </a:r>
            <a:endParaRPr lang="en-US" sz="1500" i="1" dirty="0"/>
          </a:p>
          <a:p>
            <a:pPr marL="233363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500" b="0" i="0" u="none" strike="noStrike" baseline="0" dirty="0"/>
              <a:t>[</a:t>
            </a:r>
            <a:r>
              <a:rPr lang="en-US" sz="1500" b="1" i="0" u="none" strike="noStrike" baseline="0" dirty="0"/>
              <a:t>CLASS</a:t>
            </a:r>
            <a:r>
              <a:rPr lang="en-US" sz="1500" b="0" i="0" u="none" strike="noStrike" baseline="0" dirty="0"/>
              <a:t> </a:t>
            </a:r>
          </a:p>
          <a:p>
            <a:pPr marL="45720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500" b="0" i="0" u="none" strike="noStrike" baseline="0" dirty="0"/>
              <a:t>{ </a:t>
            </a:r>
            <a:r>
              <a:rPr lang="en-US" sz="1500" b="1" i="0" u="none" strike="noStrike" baseline="0" dirty="0">
                <a:highlight>
                  <a:srgbClr val="00FF00"/>
                </a:highlight>
              </a:rPr>
              <a:t>COVER</a:t>
            </a:r>
            <a:r>
              <a:rPr lang="en-US" sz="1500" b="0" i="0" u="none" strike="noStrike" baseline="0" dirty="0"/>
              <a:t> [</a:t>
            </a:r>
            <a:r>
              <a:rPr lang="en-US" sz="1500" b="1" i="0" u="none" strike="noStrike" baseline="0" dirty="0">
                <a:highlight>
                  <a:srgbClr val="00FF00"/>
                </a:highlight>
              </a:rPr>
              <a:t>BUMP</a:t>
            </a:r>
            <a:r>
              <a:rPr lang="en-US" sz="1500" b="0" i="0" u="none" strike="noStrike" baseline="0" dirty="0"/>
              <a:t>]</a:t>
            </a:r>
          </a:p>
          <a:p>
            <a:pPr marL="45720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500" b="0" i="0" u="none" strike="noStrike" baseline="0" dirty="0"/>
              <a:t>| </a:t>
            </a:r>
            <a:r>
              <a:rPr lang="en-US" sz="1500" b="1" i="0" u="none" strike="noStrike" baseline="0" dirty="0">
                <a:highlight>
                  <a:srgbClr val="00FF00"/>
                </a:highlight>
              </a:rPr>
              <a:t>RING</a:t>
            </a:r>
          </a:p>
          <a:p>
            <a:pPr marL="45720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500" b="0" i="0" u="none" strike="noStrike" baseline="0" dirty="0"/>
              <a:t>| </a:t>
            </a:r>
            <a:r>
              <a:rPr lang="en-US" sz="1500" b="1" i="0" u="none" strike="noStrike" baseline="0" dirty="0">
                <a:highlight>
                  <a:srgbClr val="00FF00"/>
                </a:highlight>
              </a:rPr>
              <a:t>BLOCK</a:t>
            </a:r>
            <a:r>
              <a:rPr lang="en-US" sz="1500" b="0" i="0" u="none" strike="noStrike" baseline="0" dirty="0"/>
              <a:t> [</a:t>
            </a:r>
            <a:r>
              <a:rPr lang="en-US" sz="1500" b="1" i="0" u="none" strike="noStrike" baseline="0" dirty="0">
                <a:highlight>
                  <a:srgbClr val="00FF00"/>
                </a:highlight>
              </a:rPr>
              <a:t>BLACKBOX</a:t>
            </a:r>
            <a:r>
              <a:rPr lang="en-US" sz="1500" b="0" i="0" u="none" strike="noStrike" baseline="0" dirty="0"/>
              <a:t> | </a:t>
            </a:r>
            <a:r>
              <a:rPr lang="en-US" sz="1500" b="1" i="0" u="none" strike="noStrike" baseline="0" dirty="0">
                <a:highlight>
                  <a:srgbClr val="00FF00"/>
                </a:highlight>
              </a:rPr>
              <a:t>SOFT</a:t>
            </a:r>
            <a:r>
              <a:rPr lang="en-US" sz="1500" b="0" i="0" u="none" strike="noStrike" baseline="0" dirty="0"/>
              <a:t>]</a:t>
            </a:r>
          </a:p>
          <a:p>
            <a:pPr marL="45720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500" b="0" i="0" u="none" strike="noStrike" baseline="0" dirty="0"/>
              <a:t>| </a:t>
            </a:r>
            <a:r>
              <a:rPr lang="en-US" sz="1500" b="1" i="0" u="none" strike="noStrike" baseline="0" dirty="0">
                <a:highlight>
                  <a:srgbClr val="00FF00"/>
                </a:highlight>
              </a:rPr>
              <a:t>PAD</a:t>
            </a:r>
            <a:r>
              <a:rPr lang="en-US" sz="1500" b="0" i="0" u="none" strike="noStrike" baseline="0" dirty="0"/>
              <a:t> [</a:t>
            </a:r>
            <a:r>
              <a:rPr lang="en-US" sz="1500" b="1" i="0" u="none" strike="noStrike" baseline="0" dirty="0">
                <a:highlight>
                  <a:srgbClr val="00FF00"/>
                </a:highlight>
              </a:rPr>
              <a:t>INPUT</a:t>
            </a:r>
            <a:r>
              <a:rPr lang="en-US" sz="1500" b="0" i="0" u="none" strike="noStrike" baseline="0" dirty="0"/>
              <a:t> | </a:t>
            </a:r>
            <a:r>
              <a:rPr lang="en-US" sz="1500" b="1" i="0" u="none" strike="noStrike" baseline="0" dirty="0">
                <a:highlight>
                  <a:srgbClr val="00FF00"/>
                </a:highlight>
              </a:rPr>
              <a:t>OUTPUT</a:t>
            </a:r>
            <a:r>
              <a:rPr lang="en-US" sz="1500" b="0" i="0" u="none" strike="noStrike" baseline="0" dirty="0"/>
              <a:t> |</a:t>
            </a:r>
            <a:r>
              <a:rPr lang="en-US" sz="1500" b="1" i="0" u="none" strike="noStrike" baseline="0" dirty="0">
                <a:highlight>
                  <a:srgbClr val="00FF00"/>
                </a:highlight>
              </a:rPr>
              <a:t>INOUT</a:t>
            </a:r>
            <a:r>
              <a:rPr lang="en-US" sz="1500" b="0" i="0" u="none" strike="noStrike" baseline="0" dirty="0"/>
              <a:t> | </a:t>
            </a:r>
            <a:r>
              <a:rPr lang="en-US" sz="1500" b="1" i="0" u="none" strike="noStrike" baseline="0" dirty="0">
                <a:highlight>
                  <a:srgbClr val="00FF00"/>
                </a:highlight>
              </a:rPr>
              <a:t>POWER</a:t>
            </a:r>
            <a:r>
              <a:rPr lang="en-US" sz="1500" b="0" i="0" u="none" strike="noStrike" baseline="0" dirty="0"/>
              <a:t> | </a:t>
            </a:r>
            <a:r>
              <a:rPr lang="en-US" sz="1500" b="1" i="0" u="none" strike="noStrike" baseline="0" dirty="0">
                <a:highlight>
                  <a:srgbClr val="00FF00"/>
                </a:highlight>
              </a:rPr>
              <a:t>SPACER</a:t>
            </a:r>
            <a:r>
              <a:rPr lang="en-US" sz="1500" b="0" i="0" u="none" strike="noStrike" baseline="0" dirty="0"/>
              <a:t> | </a:t>
            </a:r>
            <a:r>
              <a:rPr lang="en-US" sz="1500" b="1" i="0" u="none" strike="noStrike" baseline="0" dirty="0">
                <a:highlight>
                  <a:srgbClr val="00FF00"/>
                </a:highlight>
              </a:rPr>
              <a:t>AREAIO</a:t>
            </a:r>
            <a:r>
              <a:rPr lang="en-US" sz="1500" b="0" i="0" u="none" strike="noStrike" baseline="0" dirty="0"/>
              <a:t>]</a:t>
            </a:r>
          </a:p>
          <a:p>
            <a:pPr marL="45720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500" b="0" i="0" u="none" strike="noStrike" baseline="0" dirty="0"/>
              <a:t>| </a:t>
            </a:r>
            <a:r>
              <a:rPr lang="en-US" sz="1500" b="1" i="0" u="none" strike="noStrike" baseline="0" dirty="0">
                <a:highlight>
                  <a:srgbClr val="00FF00"/>
                </a:highlight>
              </a:rPr>
              <a:t>CORE</a:t>
            </a:r>
            <a:r>
              <a:rPr lang="en-US" sz="1500" b="0" i="0" u="none" strike="noStrike" baseline="0" dirty="0"/>
              <a:t> [</a:t>
            </a:r>
            <a:r>
              <a:rPr lang="en-US" sz="1500" b="1" i="0" u="none" strike="noStrike" baseline="0" dirty="0">
                <a:highlight>
                  <a:srgbClr val="00FF00"/>
                </a:highlight>
              </a:rPr>
              <a:t>FEEDTHRU</a:t>
            </a:r>
            <a:r>
              <a:rPr lang="en-US" sz="1500" b="0" i="0" u="none" strike="noStrike" baseline="0" dirty="0"/>
              <a:t> | </a:t>
            </a:r>
            <a:r>
              <a:rPr lang="en-US" sz="1500" b="1" i="0" u="none" strike="noStrike" baseline="0" dirty="0">
                <a:highlight>
                  <a:srgbClr val="00FF00"/>
                </a:highlight>
              </a:rPr>
              <a:t>TIEHIGH</a:t>
            </a:r>
            <a:r>
              <a:rPr lang="en-US" sz="1500" b="0" i="0" u="none" strike="noStrike" baseline="0" dirty="0"/>
              <a:t> | </a:t>
            </a:r>
            <a:r>
              <a:rPr lang="en-US" sz="1500" b="1" i="0" u="none" strike="noStrike" baseline="0" dirty="0">
                <a:highlight>
                  <a:srgbClr val="00FF00"/>
                </a:highlight>
              </a:rPr>
              <a:t>TIELOW</a:t>
            </a:r>
            <a:r>
              <a:rPr lang="en-US" sz="1500" b="0" i="0" u="none" strike="noStrike" baseline="0" dirty="0"/>
              <a:t> | </a:t>
            </a:r>
            <a:r>
              <a:rPr lang="en-US" sz="1500" b="1" i="0" u="none" strike="noStrike" baseline="0" dirty="0">
                <a:highlight>
                  <a:srgbClr val="00FF00"/>
                </a:highlight>
              </a:rPr>
              <a:t>SPACER</a:t>
            </a:r>
            <a:r>
              <a:rPr lang="en-US" sz="1500" b="0" i="0" u="none" strike="noStrike" baseline="0" dirty="0"/>
              <a:t> | </a:t>
            </a:r>
            <a:r>
              <a:rPr lang="en-US" sz="1500" b="1" i="0" u="none" strike="noStrike" baseline="0" dirty="0">
                <a:highlight>
                  <a:srgbClr val="00FF00"/>
                </a:highlight>
              </a:rPr>
              <a:t>ANTENNACELL</a:t>
            </a:r>
            <a:r>
              <a:rPr lang="en-US" sz="1500" b="0" i="0" u="none" strike="noStrike" baseline="0" dirty="0"/>
              <a:t> | </a:t>
            </a:r>
            <a:r>
              <a:rPr lang="en-US" sz="1500" b="1" i="0" u="none" strike="noStrike" baseline="0" dirty="0">
                <a:highlight>
                  <a:srgbClr val="00FF00"/>
                </a:highlight>
              </a:rPr>
              <a:t>WELLTAP</a:t>
            </a:r>
            <a:r>
              <a:rPr lang="en-US" sz="1500" b="0" i="0" u="none" strike="noStrike" baseline="0" dirty="0"/>
              <a:t>]</a:t>
            </a:r>
          </a:p>
          <a:p>
            <a:pPr marL="45720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500" b="0" i="0" u="none" strike="noStrike" baseline="0" dirty="0"/>
              <a:t>| </a:t>
            </a:r>
            <a:r>
              <a:rPr lang="en-US" sz="1500" b="1" i="0" u="none" strike="noStrike" baseline="0" dirty="0">
                <a:highlight>
                  <a:srgbClr val="00FF00"/>
                </a:highlight>
              </a:rPr>
              <a:t>ENDCAP</a:t>
            </a:r>
            <a:r>
              <a:rPr lang="en-US" sz="1500" b="0" i="0" u="none" strike="noStrike" baseline="0" dirty="0"/>
              <a:t> {</a:t>
            </a:r>
            <a:r>
              <a:rPr lang="en-US" sz="1500" b="1" i="0" u="none" strike="noStrike" baseline="0" dirty="0">
                <a:highlight>
                  <a:srgbClr val="00FF00"/>
                </a:highlight>
              </a:rPr>
              <a:t>PRE</a:t>
            </a:r>
            <a:r>
              <a:rPr lang="en-US" sz="1500" b="0" i="0" u="none" strike="noStrike" baseline="0" dirty="0"/>
              <a:t> | </a:t>
            </a:r>
            <a:r>
              <a:rPr lang="en-US" sz="1500" b="1" i="0" u="none" strike="noStrike" baseline="0" dirty="0">
                <a:highlight>
                  <a:srgbClr val="00FF00"/>
                </a:highlight>
              </a:rPr>
              <a:t>POST</a:t>
            </a:r>
            <a:r>
              <a:rPr lang="en-US" sz="1500" b="0" i="0" u="none" strike="noStrike" baseline="0" dirty="0"/>
              <a:t> | </a:t>
            </a:r>
            <a:r>
              <a:rPr lang="en-US" sz="1500" b="1" i="0" u="none" strike="noStrike" baseline="0" dirty="0">
                <a:highlight>
                  <a:srgbClr val="00FF00"/>
                </a:highlight>
              </a:rPr>
              <a:t>TOPLEFT</a:t>
            </a:r>
            <a:r>
              <a:rPr lang="en-US" sz="1500" b="0" i="0" u="none" strike="noStrike" baseline="0" dirty="0"/>
              <a:t> | </a:t>
            </a:r>
            <a:r>
              <a:rPr lang="en-US" sz="1500" b="1" i="0" u="none" strike="noStrike" baseline="0" dirty="0">
                <a:highlight>
                  <a:srgbClr val="00FF00"/>
                </a:highlight>
              </a:rPr>
              <a:t>TOPRIGHT</a:t>
            </a:r>
            <a:r>
              <a:rPr lang="en-US" sz="1500" b="0" i="0" u="none" strike="noStrike" baseline="0" dirty="0"/>
              <a:t> | </a:t>
            </a:r>
            <a:r>
              <a:rPr lang="en-US" sz="1500" b="1" i="0" u="none" strike="noStrike" baseline="0" dirty="0">
                <a:highlight>
                  <a:srgbClr val="00FF00"/>
                </a:highlight>
              </a:rPr>
              <a:t>BOTTOMLEFT</a:t>
            </a:r>
            <a:r>
              <a:rPr lang="en-US" sz="1500" b="0" i="0" u="none" strike="noStrike" baseline="0" dirty="0"/>
              <a:t> | </a:t>
            </a:r>
            <a:r>
              <a:rPr lang="en-US" sz="1500" b="1" i="0" u="none" strike="noStrike" baseline="0" dirty="0">
                <a:highlight>
                  <a:srgbClr val="00FF00"/>
                </a:highlight>
              </a:rPr>
              <a:t>BOTTOMRIGHT</a:t>
            </a:r>
            <a:r>
              <a:rPr lang="en-US" sz="1500" b="0" i="0" u="none" strike="noStrike" baseline="0" dirty="0"/>
              <a:t>}</a:t>
            </a:r>
          </a:p>
          <a:p>
            <a:pPr marL="45720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500" b="0" i="0" u="none" strike="noStrike" baseline="0" dirty="0"/>
              <a:t>}</a:t>
            </a:r>
          </a:p>
          <a:p>
            <a:pPr marL="233363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500" b="0" i="0" u="none" strike="noStrike" baseline="0" dirty="0"/>
              <a:t>;]</a:t>
            </a:r>
          </a:p>
          <a:p>
            <a:pPr marL="233363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500" b="0" i="0" u="none" strike="noStrike" baseline="0" dirty="0"/>
              <a:t>[</a:t>
            </a:r>
            <a:r>
              <a:rPr lang="en-US" sz="1500" b="1" i="0" u="none" strike="noStrike" baseline="0" dirty="0">
                <a:highlight>
                  <a:srgbClr val="00FF00"/>
                </a:highlight>
              </a:rPr>
              <a:t>FIXEDMASK</a:t>
            </a:r>
            <a:r>
              <a:rPr lang="en-US" sz="1500" b="0" i="0" u="none" strike="noStrike" baseline="0" dirty="0"/>
              <a:t> ;]</a:t>
            </a:r>
          </a:p>
          <a:p>
            <a:pPr marL="233363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500" b="0" i="0" u="none" strike="noStrike" baseline="0" dirty="0"/>
              <a:t>[</a:t>
            </a:r>
            <a:r>
              <a:rPr lang="en-US" sz="1500" b="1" i="0" u="none" strike="noStrike" baseline="0" dirty="0"/>
              <a:t>FOREIGN</a:t>
            </a:r>
            <a:r>
              <a:rPr lang="en-US" sz="1500" b="0" i="0" u="none" strike="noStrike" baseline="0" dirty="0"/>
              <a:t> </a:t>
            </a:r>
            <a:r>
              <a:rPr lang="en-US" sz="1500" b="0" i="1" u="none" strike="noStrike" baseline="0" dirty="0" err="1"/>
              <a:t>foreignCellName</a:t>
            </a:r>
            <a:r>
              <a:rPr lang="en-US" sz="1500" b="0" i="1" u="none" strike="noStrike" baseline="0" dirty="0"/>
              <a:t> </a:t>
            </a:r>
            <a:r>
              <a:rPr lang="en-US" sz="1500" b="0" i="0" u="none" strike="noStrike" baseline="0" dirty="0"/>
              <a:t>[</a:t>
            </a:r>
            <a:r>
              <a:rPr lang="en-US" sz="1500" b="0" i="1" u="none" strike="noStrike" baseline="0" dirty="0"/>
              <a:t>pt </a:t>
            </a:r>
            <a:r>
              <a:rPr lang="en-US" sz="1500" b="0" i="0" u="none" strike="noStrike" baseline="0" dirty="0"/>
              <a:t>[</a:t>
            </a:r>
            <a:r>
              <a:rPr lang="en-US" sz="1500" b="0" i="1" u="none" strike="noStrike" baseline="0" dirty="0"/>
              <a:t>orient</a:t>
            </a:r>
            <a:r>
              <a:rPr lang="en-US" sz="1500" b="0" i="0" u="none" strike="noStrike" baseline="0" dirty="0"/>
              <a:t>]] ;] ...</a:t>
            </a:r>
          </a:p>
          <a:p>
            <a:pPr marL="233363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500" b="0" i="0" u="none" strike="noStrike" baseline="0" dirty="0"/>
              <a:t>[</a:t>
            </a:r>
            <a:r>
              <a:rPr lang="en-US" sz="1500" b="1" i="0" u="none" strike="noStrike" baseline="0" dirty="0"/>
              <a:t>ORIGIN</a:t>
            </a:r>
            <a:r>
              <a:rPr lang="en-US" sz="1500" b="0" i="0" u="none" strike="noStrike" baseline="0" dirty="0"/>
              <a:t> </a:t>
            </a:r>
            <a:r>
              <a:rPr lang="en-US" sz="1500" b="0" i="1" u="none" strike="noStrike" baseline="0" dirty="0"/>
              <a:t>pt </a:t>
            </a:r>
            <a:r>
              <a:rPr lang="en-US" sz="1500" b="0" i="0" u="none" strike="noStrike" baseline="0" dirty="0"/>
              <a:t>;]</a:t>
            </a:r>
          </a:p>
          <a:p>
            <a:pPr marL="233363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500" b="0" i="0" u="none" strike="noStrike" baseline="0" dirty="0"/>
              <a:t>[</a:t>
            </a:r>
            <a:r>
              <a:rPr lang="en-US" sz="1500" b="1" i="0" u="none" strike="noStrike" baseline="0" dirty="0"/>
              <a:t>EEQ</a:t>
            </a:r>
            <a:r>
              <a:rPr lang="en-US" sz="1500" b="0" i="0" u="none" strike="noStrike" baseline="0" dirty="0"/>
              <a:t> </a:t>
            </a:r>
            <a:r>
              <a:rPr lang="en-US" sz="1500" b="0" i="1" u="none" strike="noStrike" baseline="0" dirty="0" err="1"/>
              <a:t>EEQmacroName</a:t>
            </a:r>
            <a:r>
              <a:rPr lang="en-US" sz="1500" b="0" i="1" u="none" strike="noStrike" baseline="0" dirty="0"/>
              <a:t> </a:t>
            </a:r>
            <a:r>
              <a:rPr lang="en-US" sz="1500" b="0" i="0" u="none" strike="noStrike" baseline="0" dirty="0"/>
              <a:t>;]</a:t>
            </a:r>
          </a:p>
          <a:p>
            <a:pPr marL="233363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500" b="0" i="0" u="none" strike="noStrike" baseline="0" dirty="0"/>
              <a:t>[</a:t>
            </a:r>
            <a:r>
              <a:rPr lang="en-US" sz="1500" b="1" i="0" u="none" strike="noStrike" baseline="0" dirty="0"/>
              <a:t>SIZE</a:t>
            </a:r>
            <a:r>
              <a:rPr lang="en-US" sz="1500" b="0" i="0" u="none" strike="noStrike" baseline="0" dirty="0"/>
              <a:t> </a:t>
            </a:r>
            <a:r>
              <a:rPr lang="en-US" sz="1500" b="0" i="1" u="none" strike="noStrike" baseline="0" dirty="0"/>
              <a:t>width </a:t>
            </a:r>
            <a:r>
              <a:rPr lang="en-US" sz="1500" b="0" i="0" u="none" strike="noStrike" baseline="0" dirty="0"/>
              <a:t>BY </a:t>
            </a:r>
            <a:r>
              <a:rPr lang="en-US" sz="1500" b="0" i="1" u="none" strike="noStrike" baseline="0" dirty="0"/>
              <a:t>height </a:t>
            </a:r>
            <a:r>
              <a:rPr lang="en-US" sz="1500" b="0" i="0" u="none" strike="noStrike" baseline="0" dirty="0"/>
              <a:t>;]</a:t>
            </a:r>
          </a:p>
          <a:p>
            <a:pPr marL="233363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500" b="0" i="0" u="none" strike="noStrike" baseline="0" dirty="0"/>
              <a:t>[</a:t>
            </a:r>
            <a:r>
              <a:rPr lang="en-US" sz="1500" b="1" i="0" u="none" strike="noStrike" baseline="0" dirty="0"/>
              <a:t>SYMMETRY</a:t>
            </a:r>
            <a:r>
              <a:rPr lang="en-US" sz="1500" b="0" i="0" u="none" strike="noStrike" baseline="0" dirty="0"/>
              <a:t> {</a:t>
            </a:r>
            <a:r>
              <a:rPr lang="en-US" sz="1500" b="1" i="0" u="none" strike="noStrike" baseline="0" dirty="0"/>
              <a:t>X</a:t>
            </a:r>
            <a:r>
              <a:rPr lang="en-US" sz="1500" b="0" i="0" u="none" strike="noStrike" baseline="0" dirty="0"/>
              <a:t> | </a:t>
            </a:r>
            <a:r>
              <a:rPr lang="en-US" sz="1500" b="1" i="0" u="none" strike="noStrike" baseline="0" dirty="0"/>
              <a:t>Y</a:t>
            </a:r>
            <a:r>
              <a:rPr lang="en-US" sz="1500" b="0" i="0" u="none" strike="noStrike" baseline="0" dirty="0"/>
              <a:t> | </a:t>
            </a:r>
            <a:r>
              <a:rPr lang="en-US" sz="1500" b="1" i="0" u="none" strike="noStrike" baseline="0" dirty="0">
                <a:highlight>
                  <a:srgbClr val="00FF00"/>
                </a:highlight>
              </a:rPr>
              <a:t>R90</a:t>
            </a:r>
            <a:r>
              <a:rPr lang="en-US" sz="1500" b="0" i="0" u="none" strike="noStrike" baseline="0" dirty="0"/>
              <a:t>} ... ;]</a:t>
            </a:r>
          </a:p>
          <a:p>
            <a:pPr marL="233363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500" b="0" i="0" u="none" strike="noStrike" baseline="0" dirty="0"/>
              <a:t>[</a:t>
            </a:r>
            <a:r>
              <a:rPr lang="en-US" sz="1500" b="1" i="0" u="none" strike="noStrike" baseline="0" dirty="0"/>
              <a:t>SITE</a:t>
            </a:r>
            <a:r>
              <a:rPr lang="en-US" sz="1500" b="0" i="0" u="none" strike="noStrike" baseline="0" dirty="0"/>
              <a:t> </a:t>
            </a:r>
            <a:r>
              <a:rPr lang="en-US" sz="1500" b="0" i="1" u="none" strike="noStrike" baseline="0" dirty="0" err="1"/>
              <a:t>siteName</a:t>
            </a:r>
            <a:r>
              <a:rPr lang="en-US" sz="1500" b="0" i="1" u="none" strike="noStrike" baseline="0" dirty="0"/>
              <a:t> </a:t>
            </a:r>
            <a:r>
              <a:rPr lang="en-US" sz="1500" b="0" i="0" u="none" strike="noStrike" baseline="0" dirty="0"/>
              <a:t>[</a:t>
            </a:r>
            <a:r>
              <a:rPr lang="en-US" sz="1500" b="0" i="1" u="none" strike="noStrike" baseline="0" dirty="0" err="1"/>
              <a:t>sitePattern</a:t>
            </a:r>
            <a:r>
              <a:rPr lang="en-US" sz="1500" b="0" i="0" u="none" strike="noStrike" baseline="0" dirty="0"/>
              <a:t>] ;] ...</a:t>
            </a:r>
          </a:p>
          <a:p>
            <a:pPr marL="233363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500" b="0" i="0" u="none" strike="noStrike" baseline="0" dirty="0"/>
              <a:t>[</a:t>
            </a:r>
            <a:r>
              <a:rPr lang="en-US" sz="1500" b="1" i="0" u="none" strike="noStrike" baseline="0" dirty="0"/>
              <a:t>PIN</a:t>
            </a:r>
            <a:r>
              <a:rPr lang="en-US" sz="1500" b="0" i="0" u="none" strike="noStrike" baseline="0" dirty="0"/>
              <a:t> </a:t>
            </a:r>
            <a:r>
              <a:rPr lang="en-US" sz="1500" b="0" i="1" u="none" strike="noStrike" baseline="0" dirty="0"/>
              <a:t>statement</a:t>
            </a:r>
            <a:r>
              <a:rPr lang="en-US" sz="1500" b="0" i="0" u="none" strike="noStrike" baseline="0" dirty="0"/>
              <a:t>] ...</a:t>
            </a:r>
          </a:p>
          <a:p>
            <a:pPr marL="233363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500" b="0" i="0" u="none" strike="noStrike" baseline="0" dirty="0"/>
              <a:t>[</a:t>
            </a:r>
            <a:r>
              <a:rPr lang="en-US" sz="1500" b="1" i="0" u="none" strike="noStrike" baseline="0" dirty="0"/>
              <a:t>OBS</a:t>
            </a:r>
            <a:r>
              <a:rPr lang="en-US" sz="1500" b="0" i="0" u="none" strike="noStrike" baseline="0" dirty="0"/>
              <a:t> </a:t>
            </a:r>
            <a:r>
              <a:rPr lang="en-US" sz="1500" b="0" i="1" u="none" strike="noStrike" baseline="0" dirty="0"/>
              <a:t>statement</a:t>
            </a:r>
            <a:r>
              <a:rPr lang="en-US" sz="1500" b="0" i="0" u="none" strike="noStrike" baseline="0" dirty="0"/>
              <a:t>] ...</a:t>
            </a:r>
          </a:p>
          <a:p>
            <a:pPr marL="233363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500" b="0" i="0" u="none" strike="noStrike" baseline="0" dirty="0"/>
              <a:t>[</a:t>
            </a:r>
            <a:r>
              <a:rPr lang="en-US" sz="1500" b="1" i="0" u="none" strike="noStrike" baseline="0" dirty="0"/>
              <a:t>DENSITY</a:t>
            </a:r>
            <a:r>
              <a:rPr lang="en-US" sz="1500" b="0" i="0" u="none" strike="noStrike" baseline="0" dirty="0"/>
              <a:t> </a:t>
            </a:r>
            <a:r>
              <a:rPr lang="en-US" sz="1500" b="0" i="1" u="none" strike="noStrike" baseline="0" dirty="0"/>
              <a:t>statement</a:t>
            </a:r>
            <a:r>
              <a:rPr lang="en-US" sz="1500" b="0" i="0" u="none" strike="noStrike" baseline="0" dirty="0"/>
              <a:t>] ...</a:t>
            </a:r>
          </a:p>
          <a:p>
            <a:pPr marL="233363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500" b="0" i="0" u="none" strike="noStrike" baseline="0" dirty="0"/>
              <a:t>[</a:t>
            </a:r>
            <a:r>
              <a:rPr lang="en-US" sz="1500" b="1" i="0" u="none" strike="noStrike" baseline="0" dirty="0"/>
              <a:t>PROPERTY</a:t>
            </a:r>
            <a:r>
              <a:rPr lang="en-US" sz="1500" b="0" i="0" u="none" strike="noStrike" baseline="0" dirty="0"/>
              <a:t> </a:t>
            </a:r>
            <a:r>
              <a:rPr lang="en-US" sz="1500" b="0" i="1" u="none" strike="noStrike" baseline="0" dirty="0" err="1"/>
              <a:t>propName</a:t>
            </a:r>
            <a:r>
              <a:rPr lang="en-US" sz="1500" b="0" i="1" u="none" strike="noStrike" baseline="0" dirty="0"/>
              <a:t>  </a:t>
            </a:r>
            <a:r>
              <a:rPr lang="en-US" sz="1500" b="0" i="1" u="none" strike="noStrike" baseline="0" dirty="0" err="1"/>
              <a:t>propVal</a:t>
            </a:r>
            <a:r>
              <a:rPr lang="en-US" sz="1500" b="0" i="1" u="none" strike="noStrike" baseline="0" dirty="0"/>
              <a:t> </a:t>
            </a:r>
            <a:r>
              <a:rPr lang="en-US" sz="1500" b="0" i="0" u="none" strike="noStrike" baseline="0" dirty="0"/>
              <a:t>;] ...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500" b="1" i="0" u="none" strike="noStrike" baseline="0" dirty="0"/>
              <a:t>END</a:t>
            </a:r>
            <a:r>
              <a:rPr lang="en-US" sz="1500" b="0" i="0" u="none" strike="noStrike" baseline="0" dirty="0"/>
              <a:t> </a:t>
            </a:r>
            <a:r>
              <a:rPr lang="en-US" sz="1500" b="0" i="1" u="none" strike="noStrike" baseline="0" dirty="0"/>
              <a:t>macroName </a:t>
            </a:r>
            <a:endParaRPr lang="en-US" sz="1500" dirty="0"/>
          </a:p>
        </p:txBody>
      </p:sp>
      <p:sp>
        <p:nvSpPr>
          <p:cNvPr id="2" name="Date Placeholder 3">
            <a:extLst>
              <a:ext uri="{FF2B5EF4-FFF2-40B4-BE49-F238E27FC236}">
                <a16:creationId xmlns:a16="http://schemas.microsoft.com/office/drawing/2014/main" id="{20D953B9-74C2-DB4A-7E97-B7A7FEA2D376}"/>
              </a:ext>
            </a:extLst>
          </p:cNvPr>
          <p:cNvSpPr txBox="1">
            <a:spLocks/>
          </p:cNvSpPr>
          <p:nvPr/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16D28ED-750A-4DFC-A458-38B3E79E4C7D}" type="datetime1">
              <a:rPr lang="en-US" sz="1400" smtClean="0">
                <a:solidFill>
                  <a:srgbClr val="0070C0"/>
                </a:solidFill>
                <a:ea typeface="Cambria" panose="02040503050406030204" pitchFamily="18" charset="0"/>
              </a:rPr>
              <a:pPr/>
              <a:t>12/19/2025</a:t>
            </a:fld>
            <a:endParaRPr lang="en-US" sz="1400" dirty="0">
              <a:solidFill>
                <a:srgbClr val="0070C0"/>
              </a:solidFill>
              <a:ea typeface="Cambria" panose="02040503050406030204" pitchFamily="18" charset="0"/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BB4EFEE-241B-22A9-F05E-8AE44BA92762}"/>
              </a:ext>
            </a:extLst>
          </p:cNvPr>
          <p:cNvSpPr txBox="1">
            <a:spLocks/>
          </p:cNvSpPr>
          <p:nvPr/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ES" sz="1400" dirty="0">
                <a:solidFill>
                  <a:srgbClr val="0070C0"/>
                </a:solidFill>
                <a:ea typeface="Cambria" panose="02040503050406030204" pitchFamily="18" charset="0"/>
              </a:rPr>
              <a:t>EE/CPE584 </a:t>
            </a:r>
            <a:r>
              <a:rPr lang="es-ES" sz="1400" dirty="0" err="1">
                <a:solidFill>
                  <a:srgbClr val="0070C0"/>
                </a:solidFill>
                <a:ea typeface="Cambria" panose="02040503050406030204" pitchFamily="18" charset="0"/>
              </a:rPr>
              <a:t>Intro</a:t>
            </a:r>
            <a:r>
              <a:rPr lang="es-ES" sz="1400" dirty="0">
                <a:solidFill>
                  <a:srgbClr val="0070C0"/>
                </a:solidFill>
                <a:ea typeface="Cambria" panose="02040503050406030204" pitchFamily="18" charset="0"/>
              </a:rPr>
              <a:t> </a:t>
            </a:r>
            <a:r>
              <a:rPr lang="es-ES" sz="1400" dirty="0" err="1">
                <a:solidFill>
                  <a:srgbClr val="0070C0"/>
                </a:solidFill>
                <a:ea typeface="Cambria" panose="02040503050406030204" pitchFamily="18" charset="0"/>
              </a:rPr>
              <a:t>to</a:t>
            </a:r>
            <a:r>
              <a:rPr lang="es-ES" sz="1400" dirty="0">
                <a:solidFill>
                  <a:srgbClr val="0070C0"/>
                </a:solidFill>
                <a:ea typeface="Cambria" panose="02040503050406030204" pitchFamily="18" charset="0"/>
              </a:rPr>
              <a:t> VLSI</a:t>
            </a:r>
            <a:endParaRPr lang="en-US" sz="1400" dirty="0">
              <a:solidFill>
                <a:srgbClr val="0070C0"/>
              </a:solidFill>
              <a:ea typeface="Cambria" panose="02040503050406030204" pitchFamily="18" charset="0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11C680C-2029-5E1B-3022-2DB751F131BA}"/>
              </a:ext>
            </a:extLst>
          </p:cNvPr>
          <p:cNvSpPr txBox="1">
            <a:spLocks/>
          </p:cNvSpPr>
          <p:nvPr/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D08A6112-8193-45F5-863E-CC8218595965}" type="slidenum">
              <a:rPr lang="en-US" sz="1400" smtClean="0">
                <a:solidFill>
                  <a:srgbClr val="0070C0"/>
                </a:solidFill>
                <a:ea typeface="Cambria" panose="02040503050406030204" pitchFamily="18" charset="0"/>
              </a:rPr>
              <a:pPr algn="r"/>
              <a:t>49</a:t>
            </a:fld>
            <a:endParaRPr lang="en-US" sz="1400" dirty="0">
              <a:solidFill>
                <a:srgbClr val="0070C0"/>
              </a:solidFill>
              <a:ea typeface="Cambria" panose="02040503050406030204" pitchFamily="18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B77B188-2E1F-06A3-4754-549ADE618804}"/>
              </a:ext>
            </a:extLst>
          </p:cNvPr>
          <p:cNvSpPr txBox="1"/>
          <p:nvPr/>
        </p:nvSpPr>
        <p:spPr>
          <a:xfrm>
            <a:off x="7662441" y="681034"/>
            <a:ext cx="4205094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800" b="1" dirty="0"/>
              <a:t>Keyword Highlighting: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800" i="0" u="none" strike="noStrike" baseline="0" dirty="0">
                <a:highlight>
                  <a:srgbClr val="00FF00"/>
                </a:highlight>
              </a:rPr>
              <a:t>Only in LEF files</a:t>
            </a:r>
          </a:p>
          <a:p>
            <a:r>
              <a:rPr lang="en-US" sz="1800" dirty="0"/>
              <a:t>No highlighting - In both script and LEF files</a:t>
            </a:r>
          </a:p>
        </p:txBody>
      </p:sp>
    </p:spTree>
    <p:extLst>
      <p:ext uri="{BB962C8B-B14F-4D97-AF65-F5344CB8AC3E}">
        <p14:creationId xmlns:p14="http://schemas.microsoft.com/office/powerpoint/2010/main" val="1438814018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992E7EE-4D24-4884-B919-D905FCEA1627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b="0" dirty="0">
                <a:latin typeface="+mn-lt"/>
              </a:rPr>
              <a:t>Updated Keyword Discrepancies</a:t>
            </a:r>
          </a:p>
        </p:txBody>
      </p:sp>
      <p:sp>
        <p:nvSpPr>
          <p:cNvPr id="44" name="Content Placeholder 1">
            <a:extLst>
              <a:ext uri="{FF2B5EF4-FFF2-40B4-BE49-F238E27FC236}">
                <a16:creationId xmlns:a16="http://schemas.microsoft.com/office/drawing/2014/main" id="{D2E4A8D4-31BD-4144-9070-934F1B008A6B}"/>
              </a:ext>
            </a:extLst>
          </p:cNvPr>
          <p:cNvSpPr txBox="1">
            <a:spLocks/>
          </p:cNvSpPr>
          <p:nvPr/>
        </p:nvSpPr>
        <p:spPr>
          <a:xfrm>
            <a:off x="324465" y="681036"/>
            <a:ext cx="10587949" cy="5788775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500" i="0" u="none" strike="noStrike" baseline="0" dirty="0"/>
              <a:t>[</a:t>
            </a:r>
            <a:r>
              <a:rPr lang="en-US" sz="1500" b="1" i="0" u="none" strike="noStrike" baseline="0" dirty="0"/>
              <a:t>PIN</a:t>
            </a:r>
            <a:r>
              <a:rPr lang="en-US" sz="1500" b="0" i="0" u="none" strike="noStrike" baseline="0" dirty="0"/>
              <a:t> </a:t>
            </a:r>
            <a:r>
              <a:rPr lang="en-US" sz="1500" b="0" i="1" u="none" strike="noStrike" baseline="0" dirty="0" err="1"/>
              <a:t>pinName</a:t>
            </a:r>
            <a:endParaRPr lang="en-US" sz="1500" i="1" dirty="0"/>
          </a:p>
          <a:p>
            <a:pPr marL="233363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500" b="0" i="0" u="none" strike="noStrike" baseline="0" dirty="0"/>
              <a:t>[</a:t>
            </a:r>
            <a:r>
              <a:rPr lang="en-US" sz="1500" b="1" i="0" u="none" strike="noStrike" baseline="0" dirty="0"/>
              <a:t>TAPERRULE</a:t>
            </a:r>
            <a:r>
              <a:rPr lang="en-US" sz="1500" b="0" i="0" u="none" strike="noStrike" baseline="0" dirty="0"/>
              <a:t> </a:t>
            </a:r>
            <a:r>
              <a:rPr lang="en-US" sz="1500" b="0" i="1" u="none" strike="noStrike" baseline="0" dirty="0" err="1"/>
              <a:t>ruleName</a:t>
            </a:r>
            <a:r>
              <a:rPr lang="en-US" sz="1500" b="0" i="1" u="none" strike="noStrike" baseline="0" dirty="0"/>
              <a:t> </a:t>
            </a:r>
            <a:r>
              <a:rPr lang="en-US" sz="1500" b="0" i="0" u="none" strike="noStrike" baseline="0" dirty="0"/>
              <a:t>;]</a:t>
            </a:r>
          </a:p>
          <a:p>
            <a:pPr marL="233363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500" b="0" i="0" u="none" strike="noStrike" baseline="0" dirty="0"/>
              <a:t>[</a:t>
            </a:r>
            <a:r>
              <a:rPr lang="en-US" sz="1500" b="1" i="0" u="none" strike="noStrike" baseline="0" dirty="0"/>
              <a:t>DIRECTION</a:t>
            </a:r>
            <a:r>
              <a:rPr lang="en-US" sz="1500" b="0" i="0" u="none" strike="noStrike" baseline="0" dirty="0"/>
              <a:t> {</a:t>
            </a:r>
            <a:r>
              <a:rPr lang="en-US" sz="1500" b="1" i="0" u="none" strike="noStrike" baseline="0" dirty="0"/>
              <a:t>INPUT</a:t>
            </a:r>
            <a:r>
              <a:rPr lang="en-US" sz="1500" b="0" i="0" u="none" strike="noStrike" baseline="0" dirty="0"/>
              <a:t> | </a:t>
            </a:r>
            <a:r>
              <a:rPr lang="en-US" sz="1500" b="1" i="0" u="none" strike="noStrike" baseline="0" dirty="0"/>
              <a:t>OUTPUT</a:t>
            </a:r>
            <a:r>
              <a:rPr lang="en-US" sz="1500" b="0" i="0" u="none" strike="noStrike" baseline="0" dirty="0"/>
              <a:t> [</a:t>
            </a:r>
            <a:r>
              <a:rPr lang="en-US" sz="1500" b="1" i="0" u="none" strike="noStrike" baseline="0" dirty="0">
                <a:highlight>
                  <a:srgbClr val="00FF00"/>
                </a:highlight>
              </a:rPr>
              <a:t>TRISTATE</a:t>
            </a:r>
            <a:r>
              <a:rPr lang="en-US" sz="1500" b="0" i="0" u="none" strike="noStrike" baseline="0" dirty="0"/>
              <a:t>] | </a:t>
            </a:r>
            <a:r>
              <a:rPr lang="en-US" sz="1500" b="1" i="0" u="none" strike="noStrike" baseline="0" dirty="0"/>
              <a:t>INOUT</a:t>
            </a:r>
            <a:r>
              <a:rPr lang="en-US" sz="1500" b="0" i="0" u="none" strike="noStrike" baseline="0" dirty="0"/>
              <a:t> | </a:t>
            </a:r>
            <a:r>
              <a:rPr lang="en-US" sz="1500" b="1" i="0" u="none" strike="noStrike" baseline="0" dirty="0">
                <a:highlight>
                  <a:srgbClr val="00FF00"/>
                </a:highlight>
              </a:rPr>
              <a:t>FEEDTHRU</a:t>
            </a:r>
            <a:r>
              <a:rPr lang="en-US" sz="1500" b="0" i="0" u="none" strike="noStrike" baseline="0" dirty="0"/>
              <a:t>} ;]</a:t>
            </a:r>
          </a:p>
          <a:p>
            <a:pPr marL="233363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500" b="0" i="0" u="none" strike="noStrike" baseline="0" dirty="0"/>
              <a:t>[</a:t>
            </a:r>
            <a:r>
              <a:rPr lang="en-US" sz="1500" b="1" i="0" u="none" strike="noStrike" baseline="0" dirty="0"/>
              <a:t>USE</a:t>
            </a:r>
            <a:r>
              <a:rPr lang="en-US" sz="1500" b="0" i="0" u="none" strike="noStrike" baseline="0" dirty="0"/>
              <a:t> { </a:t>
            </a:r>
            <a:r>
              <a:rPr lang="en-US" sz="1500" b="1" i="0" u="none" strike="noStrike" baseline="0" dirty="0"/>
              <a:t>SIGNAL</a:t>
            </a:r>
            <a:r>
              <a:rPr lang="en-US" sz="1500" b="0" i="0" u="none" strike="noStrike" baseline="0" dirty="0"/>
              <a:t> | </a:t>
            </a:r>
            <a:r>
              <a:rPr lang="en-US" sz="1500" b="1" i="0" u="none" strike="noStrike" baseline="0" dirty="0">
                <a:highlight>
                  <a:srgbClr val="00FF00"/>
                </a:highlight>
              </a:rPr>
              <a:t>ANALOG</a:t>
            </a:r>
            <a:r>
              <a:rPr lang="en-US" sz="1500" b="0" i="0" u="none" strike="noStrike" baseline="0" dirty="0"/>
              <a:t> | </a:t>
            </a:r>
            <a:r>
              <a:rPr lang="en-US" sz="1500" b="1" i="0" u="none" strike="noStrike" baseline="0" dirty="0"/>
              <a:t>POWER</a:t>
            </a:r>
            <a:r>
              <a:rPr lang="en-US" sz="1500" b="0" i="0" u="none" strike="noStrike" baseline="0" dirty="0"/>
              <a:t> | </a:t>
            </a:r>
            <a:r>
              <a:rPr lang="en-US" sz="1500" b="1" i="0" u="none" strike="noStrike" baseline="0" dirty="0"/>
              <a:t>GROUND</a:t>
            </a:r>
            <a:r>
              <a:rPr lang="en-US" sz="1500" b="0" i="0" u="none" strike="noStrike" baseline="0" dirty="0"/>
              <a:t> | </a:t>
            </a:r>
            <a:r>
              <a:rPr lang="en-US" sz="1500" b="1" i="0" u="none" strike="noStrike" baseline="0" dirty="0"/>
              <a:t>CLOCK</a:t>
            </a:r>
            <a:r>
              <a:rPr lang="en-US" sz="1500" b="0" i="0" u="none" strike="noStrike" baseline="0" dirty="0"/>
              <a:t> } ;]</a:t>
            </a:r>
          </a:p>
          <a:p>
            <a:pPr marL="233363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500" b="0" i="0" u="none" strike="noStrike" baseline="0" dirty="0"/>
              <a:t>[</a:t>
            </a:r>
            <a:r>
              <a:rPr lang="en-US" sz="1500" b="1" i="0" u="none" strike="noStrike" baseline="0" dirty="0"/>
              <a:t>NETEXPR</a:t>
            </a:r>
            <a:r>
              <a:rPr lang="en-US" sz="1500" b="0" i="0" u="none" strike="noStrike" baseline="0" dirty="0"/>
              <a:t> "</a:t>
            </a:r>
            <a:r>
              <a:rPr lang="en-US" sz="1500" b="0" i="1" u="none" strike="noStrike" baseline="0" dirty="0" err="1"/>
              <a:t>netExprPropName</a:t>
            </a:r>
            <a:r>
              <a:rPr lang="en-US" sz="1500" b="0" i="1" u="none" strike="noStrike" baseline="0" dirty="0"/>
              <a:t> </a:t>
            </a:r>
            <a:r>
              <a:rPr lang="en-US" sz="1500" b="0" i="1" u="none" strike="noStrike" baseline="0" dirty="0" err="1"/>
              <a:t>defaultNetName</a:t>
            </a:r>
            <a:r>
              <a:rPr lang="en-US" sz="1500" b="0" i="0" u="none" strike="noStrike" baseline="0" dirty="0"/>
              <a:t>" ;]</a:t>
            </a:r>
          </a:p>
          <a:p>
            <a:pPr marL="233363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500" b="0" i="0" u="none" strike="noStrike" baseline="0" dirty="0"/>
              <a:t>[</a:t>
            </a:r>
            <a:r>
              <a:rPr lang="en-US" sz="1500" b="1" i="0" u="none" strike="noStrike" baseline="0" dirty="0"/>
              <a:t>SUPPLYSENSITIVITY</a:t>
            </a:r>
            <a:r>
              <a:rPr lang="en-US" sz="1500" b="0" i="0" u="none" strike="noStrike" baseline="0" dirty="0"/>
              <a:t> </a:t>
            </a:r>
            <a:r>
              <a:rPr lang="en-US" sz="1500" b="0" i="1" u="none" strike="noStrike" baseline="0" dirty="0" err="1"/>
              <a:t>powerPinName</a:t>
            </a:r>
            <a:r>
              <a:rPr lang="en-US" sz="1500" b="0" i="1" u="none" strike="noStrike" baseline="0" dirty="0"/>
              <a:t> </a:t>
            </a:r>
            <a:r>
              <a:rPr lang="en-US" sz="1500" b="0" i="0" u="none" strike="noStrike" baseline="0" dirty="0"/>
              <a:t>;]</a:t>
            </a:r>
          </a:p>
          <a:p>
            <a:pPr marL="233363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500" b="0" i="0" u="none" strike="noStrike" baseline="0" dirty="0"/>
              <a:t>[</a:t>
            </a:r>
            <a:r>
              <a:rPr lang="en-US" sz="1500" b="1" i="0" u="none" strike="noStrike" baseline="0" dirty="0"/>
              <a:t>GROUNDSENSITIVITY</a:t>
            </a:r>
            <a:r>
              <a:rPr lang="en-US" sz="1500" b="0" i="0" u="none" strike="noStrike" baseline="0" dirty="0"/>
              <a:t> </a:t>
            </a:r>
            <a:r>
              <a:rPr lang="en-US" sz="1500" b="0" i="1" u="none" strike="noStrike" baseline="0" dirty="0" err="1"/>
              <a:t>groundPinName</a:t>
            </a:r>
            <a:r>
              <a:rPr lang="en-US" sz="1500" b="0" i="1" u="none" strike="noStrike" baseline="0" dirty="0"/>
              <a:t> </a:t>
            </a:r>
            <a:r>
              <a:rPr lang="en-US" sz="1500" b="0" i="0" u="none" strike="noStrike" baseline="0" dirty="0"/>
              <a:t>;]</a:t>
            </a:r>
          </a:p>
          <a:p>
            <a:pPr marL="233363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500" b="0" i="0" u="none" strike="noStrike" baseline="0" dirty="0"/>
              <a:t>[</a:t>
            </a:r>
            <a:r>
              <a:rPr lang="en-US" sz="1500" b="1" i="0" u="none" strike="noStrike" baseline="0" dirty="0"/>
              <a:t>SHAPE</a:t>
            </a:r>
            <a:r>
              <a:rPr lang="en-US" sz="1500" b="0" i="0" u="none" strike="noStrike" baseline="0" dirty="0"/>
              <a:t> {</a:t>
            </a:r>
            <a:r>
              <a:rPr lang="en-US" sz="1500" b="1" i="0" u="none" strike="noStrike" baseline="0" dirty="0">
                <a:highlight>
                  <a:srgbClr val="00FF00"/>
                </a:highlight>
              </a:rPr>
              <a:t>ABUTMENT</a:t>
            </a:r>
            <a:r>
              <a:rPr lang="en-US" sz="1500" b="0" i="0" u="none" strike="noStrike" baseline="0" dirty="0"/>
              <a:t> | </a:t>
            </a:r>
            <a:r>
              <a:rPr lang="en-US" sz="1500" b="1" i="0" u="none" strike="noStrike" baseline="0" dirty="0">
                <a:highlight>
                  <a:srgbClr val="00FF00"/>
                </a:highlight>
              </a:rPr>
              <a:t>RING</a:t>
            </a:r>
            <a:r>
              <a:rPr lang="en-US" sz="1500" b="0" i="0" u="none" strike="noStrike" baseline="0" dirty="0"/>
              <a:t> | </a:t>
            </a:r>
            <a:r>
              <a:rPr lang="en-US" sz="1500" b="1" i="0" u="none" strike="noStrike" baseline="0" dirty="0">
                <a:highlight>
                  <a:srgbClr val="00FF00"/>
                </a:highlight>
              </a:rPr>
              <a:t>FEEDTHRU</a:t>
            </a:r>
            <a:r>
              <a:rPr lang="en-US" sz="1500" b="0" i="0" u="none" strike="noStrike" baseline="0" dirty="0"/>
              <a:t>} ;]</a:t>
            </a:r>
          </a:p>
          <a:p>
            <a:pPr marL="233363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500" b="0" i="0" u="none" strike="noStrike" baseline="0" dirty="0"/>
              <a:t>[</a:t>
            </a:r>
            <a:r>
              <a:rPr lang="en-US" sz="1500" b="1" i="0" u="none" strike="noStrike" baseline="0" dirty="0"/>
              <a:t>MUSTJOIN</a:t>
            </a:r>
            <a:r>
              <a:rPr lang="en-US" sz="1500" b="0" i="0" u="none" strike="noStrike" baseline="0" dirty="0"/>
              <a:t> </a:t>
            </a:r>
            <a:r>
              <a:rPr lang="en-US" sz="1500" b="0" i="1" u="none" strike="noStrike" baseline="0" dirty="0" err="1"/>
              <a:t>pinName</a:t>
            </a:r>
            <a:r>
              <a:rPr lang="en-US" sz="1500" b="0" i="1" u="none" strike="noStrike" baseline="0" dirty="0"/>
              <a:t> </a:t>
            </a:r>
            <a:r>
              <a:rPr lang="en-US" sz="1500" b="0" i="0" u="none" strike="noStrike" baseline="0" dirty="0"/>
              <a:t>;]</a:t>
            </a:r>
          </a:p>
          <a:p>
            <a:pPr marL="233363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500" b="0" i="0" u="none" strike="noStrike" baseline="0" dirty="0"/>
              <a:t>{</a:t>
            </a:r>
            <a:r>
              <a:rPr lang="en-US" sz="1500" b="1" i="0" u="none" strike="noStrike" baseline="0" dirty="0"/>
              <a:t>PORT</a:t>
            </a:r>
            <a:endParaRPr lang="en-US" sz="1500" dirty="0"/>
          </a:p>
          <a:p>
            <a:pPr marL="233363" indent="223838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500" b="0" i="0" u="none" strike="noStrike" baseline="0" dirty="0"/>
              <a:t>[</a:t>
            </a:r>
            <a:r>
              <a:rPr lang="en-US" sz="1500" b="1" i="0" u="none" strike="noStrike" baseline="0" dirty="0">
                <a:highlight>
                  <a:srgbClr val="00FF00"/>
                </a:highlight>
              </a:rPr>
              <a:t>CLASS</a:t>
            </a:r>
            <a:r>
              <a:rPr lang="en-US" sz="1500" b="0" i="0" u="none" strike="noStrike" baseline="0" dirty="0"/>
              <a:t> {</a:t>
            </a:r>
            <a:r>
              <a:rPr lang="en-US" sz="1500" b="1" i="0" u="none" strike="noStrike" baseline="0" dirty="0">
                <a:highlight>
                  <a:srgbClr val="00FF00"/>
                </a:highlight>
              </a:rPr>
              <a:t>NONE</a:t>
            </a:r>
            <a:r>
              <a:rPr lang="en-US" sz="1500" b="0" i="0" u="none" strike="noStrike" baseline="0" dirty="0"/>
              <a:t> | </a:t>
            </a:r>
            <a:r>
              <a:rPr lang="en-US" sz="1500" b="1" i="0" u="none" strike="noStrike" baseline="0" dirty="0">
                <a:highlight>
                  <a:srgbClr val="00FF00"/>
                </a:highlight>
              </a:rPr>
              <a:t>CORE</a:t>
            </a:r>
            <a:r>
              <a:rPr lang="en-US" sz="1500" b="0" i="0" u="none" strike="noStrike" baseline="0" dirty="0"/>
              <a:t> | </a:t>
            </a:r>
            <a:r>
              <a:rPr lang="en-US" sz="1500" b="1" i="0" u="none" strike="noStrike" baseline="0" dirty="0">
                <a:highlight>
                  <a:srgbClr val="00FF00"/>
                </a:highlight>
              </a:rPr>
              <a:t>BUMP</a:t>
            </a:r>
            <a:r>
              <a:rPr lang="en-US" sz="1500" b="0" i="0" u="none" strike="noStrike" baseline="0" dirty="0"/>
              <a:t>} ;]</a:t>
            </a:r>
          </a:p>
          <a:p>
            <a:pPr marL="233363" indent="223838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500" b="0" i="0" u="none" strike="noStrike" baseline="0" dirty="0"/>
              <a:t>{</a:t>
            </a:r>
            <a:r>
              <a:rPr lang="en-US" sz="1500" b="0" i="1" u="none" strike="noStrike" baseline="0" dirty="0" err="1"/>
              <a:t>layerGeometries</a:t>
            </a:r>
            <a:r>
              <a:rPr lang="en-US" sz="1500" b="0" i="0" u="none" strike="noStrike" baseline="0" dirty="0"/>
              <a:t>} ...</a:t>
            </a:r>
          </a:p>
          <a:p>
            <a:pPr marL="233363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500" b="1" i="0" u="none" strike="noStrike" baseline="0" dirty="0"/>
              <a:t>END</a:t>
            </a:r>
            <a:r>
              <a:rPr lang="en-US" sz="1500" b="0" i="0" u="none" strike="noStrike" baseline="0" dirty="0"/>
              <a:t>} ...</a:t>
            </a:r>
          </a:p>
          <a:p>
            <a:pPr marL="233363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500" b="0" i="0" u="none" strike="noStrike" baseline="0" dirty="0"/>
              <a:t>[</a:t>
            </a:r>
            <a:r>
              <a:rPr lang="en-US" sz="1500" b="1" i="0" u="none" strike="noStrike" baseline="0" dirty="0"/>
              <a:t>PROPERTY</a:t>
            </a:r>
            <a:r>
              <a:rPr lang="en-US" sz="1500" b="0" i="0" u="none" strike="noStrike" baseline="0" dirty="0"/>
              <a:t> </a:t>
            </a:r>
            <a:r>
              <a:rPr lang="en-US" sz="1500" b="0" i="1" u="none" strike="noStrike" baseline="0" dirty="0" err="1"/>
              <a:t>propName</a:t>
            </a:r>
            <a:r>
              <a:rPr lang="en-US" sz="1500" b="0" i="1" u="none" strike="noStrike" baseline="0" dirty="0"/>
              <a:t> </a:t>
            </a:r>
            <a:r>
              <a:rPr lang="en-US" sz="1500" b="0" i="1" u="none" strike="noStrike" baseline="0" dirty="0" err="1"/>
              <a:t>propVal</a:t>
            </a:r>
            <a:r>
              <a:rPr lang="en-US" sz="1500" b="0" i="1" u="none" strike="noStrike" baseline="0" dirty="0"/>
              <a:t> </a:t>
            </a:r>
            <a:r>
              <a:rPr lang="en-US" sz="1500" b="0" i="0" u="none" strike="noStrike" baseline="0" dirty="0"/>
              <a:t>;] ...</a:t>
            </a:r>
          </a:p>
          <a:p>
            <a:pPr marL="233363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500" b="0" i="0" u="none" strike="noStrike" baseline="0" dirty="0"/>
              <a:t>[</a:t>
            </a:r>
            <a:r>
              <a:rPr lang="en-US" sz="1500" b="1" i="0" u="none" strike="noStrike" baseline="0" dirty="0"/>
              <a:t>PROPERTY</a:t>
            </a:r>
            <a:r>
              <a:rPr lang="en-US" sz="1500" b="0" i="0" u="none" strike="noStrike" baseline="0" dirty="0"/>
              <a:t> </a:t>
            </a:r>
            <a:r>
              <a:rPr lang="en-US" sz="1500" b="1" i="0" u="none" strike="noStrike" baseline="0" dirty="0"/>
              <a:t>LEF58_VIAINPINONLY</a:t>
            </a:r>
            <a:r>
              <a:rPr lang="en-US" sz="1500" b="0" i="0" u="none" strike="noStrike" baseline="0" dirty="0"/>
              <a:t> “</a:t>
            </a:r>
            <a:r>
              <a:rPr lang="en-US" sz="1500" b="1" i="0" u="none" strike="noStrike" baseline="0" dirty="0"/>
              <a:t>VIAINPINONLY</a:t>
            </a:r>
            <a:r>
              <a:rPr lang="en-US" sz="1500" b="0" i="0" u="none" strike="noStrike" baseline="0" dirty="0"/>
              <a:t> ; </a:t>
            </a:r>
            <a:r>
              <a:rPr lang="en-US" sz="1500" dirty="0"/>
              <a:t>”</a:t>
            </a:r>
            <a:r>
              <a:rPr lang="en-US" sz="1500" b="0" i="0" u="none" strike="noStrike" baseline="0" dirty="0"/>
              <a:t> ;]</a:t>
            </a:r>
          </a:p>
          <a:p>
            <a:pPr marL="233363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500" b="0" i="0" u="none" strike="noStrike" baseline="0" dirty="0"/>
              <a:t>[</a:t>
            </a:r>
            <a:r>
              <a:rPr lang="en-US" sz="1500" b="1" i="0" u="none" strike="noStrike" baseline="0" dirty="0"/>
              <a:t>ANTENNAPARTIALMETALAREA</a:t>
            </a:r>
            <a:r>
              <a:rPr lang="en-US" sz="1500" b="0" i="0" u="none" strike="noStrike" baseline="0" dirty="0"/>
              <a:t> </a:t>
            </a:r>
            <a:r>
              <a:rPr lang="en-US" sz="1500" b="0" i="1" u="none" strike="noStrike" baseline="0" dirty="0"/>
              <a:t>value </a:t>
            </a:r>
            <a:r>
              <a:rPr lang="en-US" sz="1500" b="0" i="0" u="none" strike="noStrike" baseline="0" dirty="0"/>
              <a:t>[</a:t>
            </a:r>
            <a:r>
              <a:rPr lang="en-US" sz="1500" b="1" i="0" u="none" strike="noStrike" baseline="0" dirty="0"/>
              <a:t>LAYER</a:t>
            </a:r>
            <a:r>
              <a:rPr lang="en-US" sz="1500" b="0" i="0" u="none" strike="noStrike" baseline="0" dirty="0"/>
              <a:t> </a:t>
            </a:r>
            <a:r>
              <a:rPr lang="en-US" sz="1500" b="0" i="1" u="none" strike="noStrike" baseline="0" dirty="0" err="1"/>
              <a:t>layerName</a:t>
            </a:r>
            <a:r>
              <a:rPr lang="en-US" sz="1500" b="0" i="0" u="none" strike="noStrike" baseline="0" dirty="0"/>
              <a:t>] ;] ... </a:t>
            </a:r>
          </a:p>
          <a:p>
            <a:pPr marL="233363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500" b="0" i="0" u="none" strike="noStrike" baseline="0" dirty="0"/>
              <a:t>[</a:t>
            </a:r>
            <a:r>
              <a:rPr lang="en-US" sz="1500" b="1" i="0" u="none" strike="noStrike" baseline="0" dirty="0"/>
              <a:t>ANTENNAPARTIALMETALSIDEAREA</a:t>
            </a:r>
            <a:r>
              <a:rPr lang="en-US" sz="1500" b="0" i="0" u="none" strike="noStrike" baseline="0" dirty="0"/>
              <a:t> </a:t>
            </a:r>
            <a:r>
              <a:rPr lang="en-US" sz="1500" b="0" i="1" u="none" strike="noStrike" baseline="0" dirty="0"/>
              <a:t>value </a:t>
            </a:r>
            <a:r>
              <a:rPr lang="en-US" sz="1500" b="0" i="0" u="none" strike="noStrike" baseline="0" dirty="0"/>
              <a:t>[</a:t>
            </a:r>
            <a:r>
              <a:rPr lang="en-US" sz="1500" b="1" i="0" u="none" strike="noStrike" baseline="0" dirty="0"/>
              <a:t>LAYER</a:t>
            </a:r>
            <a:r>
              <a:rPr lang="en-US" sz="1500" b="0" i="0" u="none" strike="noStrike" baseline="0" dirty="0"/>
              <a:t> </a:t>
            </a:r>
            <a:r>
              <a:rPr lang="en-US" sz="1500" b="0" i="1" u="none" strike="noStrike" baseline="0" dirty="0" err="1"/>
              <a:t>layerName</a:t>
            </a:r>
            <a:r>
              <a:rPr lang="en-US" sz="1500" b="0" i="0" u="none" strike="noStrike" baseline="0" dirty="0"/>
              <a:t>] ;] ... </a:t>
            </a:r>
          </a:p>
          <a:p>
            <a:pPr marL="233363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500" b="0" i="0" u="none" strike="noStrike" baseline="0" dirty="0"/>
              <a:t>[</a:t>
            </a:r>
            <a:r>
              <a:rPr lang="en-US" sz="1500" b="1" i="0" u="none" strike="noStrike" baseline="0" dirty="0"/>
              <a:t>ANTENNAPARTIALCUTAREA</a:t>
            </a:r>
            <a:r>
              <a:rPr lang="en-US" sz="1500" b="0" i="0" u="none" strike="noStrike" baseline="0" dirty="0"/>
              <a:t> </a:t>
            </a:r>
            <a:r>
              <a:rPr lang="en-US" sz="1500" b="0" i="1" u="none" strike="noStrike" baseline="0" dirty="0"/>
              <a:t>value </a:t>
            </a:r>
            <a:r>
              <a:rPr lang="en-US" sz="1500" b="0" i="0" u="none" strike="noStrike" baseline="0" dirty="0"/>
              <a:t>[</a:t>
            </a:r>
            <a:r>
              <a:rPr lang="en-US" sz="1500" b="1" i="0" u="none" strike="noStrike" baseline="0" dirty="0"/>
              <a:t>LAYER</a:t>
            </a:r>
            <a:r>
              <a:rPr lang="en-US" sz="1500" b="0" i="0" u="none" strike="noStrike" baseline="0" dirty="0"/>
              <a:t> </a:t>
            </a:r>
            <a:r>
              <a:rPr lang="en-US" sz="1500" b="0" i="1" u="none" strike="noStrike" baseline="0" dirty="0" err="1"/>
              <a:t>layerName</a:t>
            </a:r>
            <a:r>
              <a:rPr lang="en-US" sz="1500" b="0" i="0" u="none" strike="noStrike" baseline="0" dirty="0"/>
              <a:t>] ;] ... </a:t>
            </a:r>
          </a:p>
          <a:p>
            <a:pPr marL="233363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500" b="0" i="0" u="none" strike="noStrike" baseline="0" dirty="0"/>
              <a:t>[</a:t>
            </a:r>
            <a:r>
              <a:rPr lang="en-US" sz="1500" b="1" i="0" u="none" strike="noStrike" baseline="0" dirty="0"/>
              <a:t>ANTENNADIFFAREA</a:t>
            </a:r>
            <a:r>
              <a:rPr lang="en-US" sz="1500" b="0" i="0" u="none" strike="noStrike" baseline="0" dirty="0"/>
              <a:t> </a:t>
            </a:r>
            <a:r>
              <a:rPr lang="en-US" sz="1500" b="0" i="1" u="none" strike="noStrike" baseline="0" dirty="0"/>
              <a:t>value </a:t>
            </a:r>
            <a:r>
              <a:rPr lang="en-US" sz="1500" b="0" i="0" u="none" strike="noStrike" baseline="0" dirty="0"/>
              <a:t>[</a:t>
            </a:r>
            <a:r>
              <a:rPr lang="en-US" sz="1500" b="1" i="0" u="none" strike="noStrike" baseline="0" dirty="0"/>
              <a:t>LAYER</a:t>
            </a:r>
            <a:r>
              <a:rPr lang="en-US" sz="1500" b="0" i="0" u="none" strike="noStrike" baseline="0" dirty="0"/>
              <a:t> </a:t>
            </a:r>
            <a:r>
              <a:rPr lang="en-US" sz="1500" b="0" i="1" u="none" strike="noStrike" baseline="0" dirty="0" err="1"/>
              <a:t>layerName</a:t>
            </a:r>
            <a:r>
              <a:rPr lang="en-US" sz="1500" b="0" i="0" u="none" strike="noStrike" baseline="0" dirty="0"/>
              <a:t>] ;] ... </a:t>
            </a:r>
          </a:p>
          <a:p>
            <a:pPr marL="233363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500" b="0" i="0" u="none" strike="noStrike" baseline="0" dirty="0"/>
              <a:t>[</a:t>
            </a:r>
            <a:r>
              <a:rPr lang="en-US" sz="1500" b="1" i="0" u="none" strike="noStrike" baseline="0" dirty="0"/>
              <a:t>ANTENNAMODEL</a:t>
            </a:r>
            <a:r>
              <a:rPr lang="en-US" sz="1500" b="0" i="0" u="none" strike="noStrike" baseline="0" dirty="0"/>
              <a:t> {</a:t>
            </a:r>
            <a:r>
              <a:rPr lang="en-US" sz="1500" b="1" i="0" u="none" strike="noStrike" baseline="0" dirty="0">
                <a:highlight>
                  <a:srgbClr val="00FF00"/>
                </a:highlight>
              </a:rPr>
              <a:t>OXIDE1</a:t>
            </a:r>
            <a:r>
              <a:rPr lang="en-US" sz="1500" b="0" i="0" u="none" strike="noStrike" baseline="0" dirty="0"/>
              <a:t> | </a:t>
            </a:r>
            <a:r>
              <a:rPr lang="en-US" sz="1500" b="1" i="0" u="none" strike="noStrike" baseline="0" dirty="0">
                <a:highlight>
                  <a:srgbClr val="00FF00"/>
                </a:highlight>
              </a:rPr>
              <a:t>OXIDE2</a:t>
            </a:r>
            <a:r>
              <a:rPr lang="en-US" sz="1500" b="0" i="0" u="none" strike="noStrike" baseline="0" dirty="0"/>
              <a:t> | </a:t>
            </a:r>
            <a:r>
              <a:rPr lang="en-US" sz="1500" b="1" i="0" u="none" strike="noStrike" baseline="0" dirty="0">
                <a:highlight>
                  <a:srgbClr val="00FF00"/>
                </a:highlight>
              </a:rPr>
              <a:t>OXIDE3</a:t>
            </a:r>
            <a:r>
              <a:rPr lang="en-US" sz="1500" b="0" i="0" u="none" strike="noStrike" baseline="0" dirty="0"/>
              <a:t> | </a:t>
            </a:r>
            <a:r>
              <a:rPr lang="en-US" sz="1500" b="1" i="0" u="none" strike="noStrike" baseline="0" dirty="0">
                <a:highlight>
                  <a:srgbClr val="00FF00"/>
                </a:highlight>
              </a:rPr>
              <a:t>OXIDE4</a:t>
            </a:r>
            <a:r>
              <a:rPr lang="en-US" sz="1500" b="0" i="0" u="none" strike="noStrike" baseline="0" dirty="0"/>
              <a:t>} ;] ... </a:t>
            </a:r>
          </a:p>
          <a:p>
            <a:pPr marL="233363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500" b="0" i="0" u="none" strike="noStrike" baseline="0" dirty="0"/>
              <a:t>[</a:t>
            </a:r>
            <a:r>
              <a:rPr lang="en-US" sz="1500" b="1" i="0" u="none" strike="noStrike" baseline="0" dirty="0"/>
              <a:t>ANTENNAGATEAREA</a:t>
            </a:r>
            <a:r>
              <a:rPr lang="en-US" sz="1500" b="0" i="0" u="none" strike="noStrike" baseline="0" dirty="0"/>
              <a:t> </a:t>
            </a:r>
            <a:r>
              <a:rPr lang="en-US" sz="1500" b="0" i="1" u="none" strike="noStrike" baseline="0" dirty="0"/>
              <a:t>value </a:t>
            </a:r>
            <a:r>
              <a:rPr lang="en-US" sz="1500" b="0" i="0" u="none" strike="noStrike" baseline="0" dirty="0"/>
              <a:t>[</a:t>
            </a:r>
            <a:r>
              <a:rPr lang="en-US" sz="1500" b="1" i="0" u="none" strike="noStrike" baseline="0" dirty="0"/>
              <a:t>LAYER</a:t>
            </a:r>
            <a:r>
              <a:rPr lang="en-US" sz="1500" b="0" i="0" u="none" strike="noStrike" baseline="0" dirty="0"/>
              <a:t> </a:t>
            </a:r>
            <a:r>
              <a:rPr lang="en-US" sz="1500" b="0" i="1" u="none" strike="noStrike" baseline="0" dirty="0" err="1"/>
              <a:t>layerName</a:t>
            </a:r>
            <a:r>
              <a:rPr lang="en-US" sz="1500" b="0" i="0" u="none" strike="noStrike" baseline="0" dirty="0"/>
              <a:t>] ;] ...</a:t>
            </a:r>
          </a:p>
          <a:p>
            <a:pPr marL="233363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500" b="0" i="0" u="none" strike="noStrike" baseline="0" dirty="0"/>
              <a:t>[</a:t>
            </a:r>
            <a:r>
              <a:rPr lang="en-US" sz="1500" b="1" i="0" u="none" strike="noStrike" baseline="0" dirty="0"/>
              <a:t>ANTENNAMAXAREACAR</a:t>
            </a:r>
            <a:r>
              <a:rPr lang="en-US" sz="1500" b="0" i="0" u="none" strike="noStrike" baseline="0" dirty="0"/>
              <a:t> </a:t>
            </a:r>
            <a:r>
              <a:rPr lang="en-US" sz="1500" b="0" i="1" u="none" strike="noStrike" baseline="0" dirty="0"/>
              <a:t>value </a:t>
            </a:r>
            <a:r>
              <a:rPr lang="en-US" sz="1500" b="1" i="0" u="none" strike="noStrike" baseline="0" dirty="0"/>
              <a:t>LAYER</a:t>
            </a:r>
            <a:r>
              <a:rPr lang="en-US" sz="1500" b="0" i="0" u="none" strike="noStrike" baseline="0" dirty="0"/>
              <a:t> </a:t>
            </a:r>
            <a:r>
              <a:rPr lang="en-US" sz="1500" b="0" i="1" u="none" strike="noStrike" baseline="0" dirty="0" err="1"/>
              <a:t>layerName</a:t>
            </a:r>
            <a:r>
              <a:rPr lang="en-US" sz="1500" b="0" i="1" u="none" strike="noStrike" baseline="0" dirty="0"/>
              <a:t> </a:t>
            </a:r>
            <a:r>
              <a:rPr lang="en-US" sz="1500" b="0" i="0" u="none" strike="noStrike" baseline="0" dirty="0"/>
              <a:t>;] ... </a:t>
            </a:r>
          </a:p>
          <a:p>
            <a:pPr marL="233363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500" b="0" i="0" u="none" strike="noStrike" baseline="0" dirty="0"/>
              <a:t>[</a:t>
            </a:r>
            <a:r>
              <a:rPr lang="en-US" sz="1500" b="1" i="0" u="none" strike="noStrike" baseline="0" dirty="0"/>
              <a:t>ANTENNAMAXSIDEAREACAR</a:t>
            </a:r>
            <a:r>
              <a:rPr lang="en-US" sz="1500" b="0" i="0" u="none" strike="noStrike" baseline="0" dirty="0"/>
              <a:t> </a:t>
            </a:r>
            <a:r>
              <a:rPr lang="en-US" sz="1500" b="0" i="1" u="none" strike="noStrike" baseline="0" dirty="0"/>
              <a:t>value </a:t>
            </a:r>
            <a:r>
              <a:rPr lang="en-US" sz="1500" b="1" i="0" u="none" strike="noStrike" baseline="0" dirty="0"/>
              <a:t>LAYER</a:t>
            </a:r>
            <a:r>
              <a:rPr lang="en-US" sz="1500" b="0" i="0" u="none" strike="noStrike" baseline="0" dirty="0"/>
              <a:t> </a:t>
            </a:r>
            <a:r>
              <a:rPr lang="en-US" sz="1500" b="0" i="1" u="none" strike="noStrike" baseline="0" dirty="0" err="1"/>
              <a:t>layerName</a:t>
            </a:r>
            <a:r>
              <a:rPr lang="en-US" sz="1500" b="0" i="1" u="none" strike="noStrike" baseline="0" dirty="0"/>
              <a:t> </a:t>
            </a:r>
            <a:r>
              <a:rPr lang="en-US" sz="1500" b="0" i="0" u="none" strike="noStrike" baseline="0" dirty="0"/>
              <a:t>;] ...</a:t>
            </a:r>
          </a:p>
          <a:p>
            <a:pPr marL="233363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500" b="0" i="0" u="none" strike="noStrike" baseline="0" dirty="0"/>
              <a:t>[</a:t>
            </a:r>
            <a:r>
              <a:rPr lang="en-US" sz="1500" b="1" i="0" u="none" strike="noStrike" baseline="0" dirty="0"/>
              <a:t>ANTENNAMAXCUTCAR</a:t>
            </a:r>
            <a:r>
              <a:rPr lang="en-US" sz="1500" b="0" i="0" u="none" strike="noStrike" baseline="0" dirty="0"/>
              <a:t> </a:t>
            </a:r>
            <a:r>
              <a:rPr lang="en-US" sz="1500" b="0" i="1" u="none" strike="noStrike" baseline="0" dirty="0"/>
              <a:t>value </a:t>
            </a:r>
            <a:r>
              <a:rPr lang="en-US" sz="1500" b="1" i="0" u="none" strike="noStrike" baseline="0" dirty="0"/>
              <a:t>LAYER</a:t>
            </a:r>
            <a:r>
              <a:rPr lang="en-US" sz="1500" b="0" i="0" u="none" strike="noStrike" baseline="0" dirty="0"/>
              <a:t> </a:t>
            </a:r>
            <a:r>
              <a:rPr lang="en-US" sz="1500" b="0" i="1" u="none" strike="noStrike" baseline="0" dirty="0" err="1"/>
              <a:t>layerName</a:t>
            </a:r>
            <a:r>
              <a:rPr lang="en-US" sz="1500" b="0" i="1" u="none" strike="noStrike" baseline="0" dirty="0"/>
              <a:t> </a:t>
            </a:r>
            <a:r>
              <a:rPr lang="en-US" sz="1500" b="0" i="0" u="none" strike="noStrike" baseline="0" dirty="0"/>
              <a:t>;] ... 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500" b="1" i="0" u="none" strike="noStrike" baseline="0" dirty="0"/>
              <a:t>END</a:t>
            </a:r>
            <a:r>
              <a:rPr lang="en-US" sz="1500" b="0" i="0" u="none" strike="noStrike" baseline="0" dirty="0"/>
              <a:t> </a:t>
            </a:r>
            <a:r>
              <a:rPr lang="en-US" sz="1500" b="0" i="1" u="none" strike="noStrike" baseline="0" dirty="0" err="1"/>
              <a:t>pinName</a:t>
            </a:r>
            <a:r>
              <a:rPr lang="en-US" sz="1500" b="0" u="none" strike="noStrike" baseline="0" dirty="0"/>
              <a:t>]</a:t>
            </a:r>
            <a:endParaRPr lang="en-US" sz="1500" dirty="0"/>
          </a:p>
        </p:txBody>
      </p:sp>
      <p:sp>
        <p:nvSpPr>
          <p:cNvPr id="2" name="Date Placeholder 3">
            <a:extLst>
              <a:ext uri="{FF2B5EF4-FFF2-40B4-BE49-F238E27FC236}">
                <a16:creationId xmlns:a16="http://schemas.microsoft.com/office/drawing/2014/main" id="{3158EC57-A5E4-B013-5DE2-BC8B79A74BFE}"/>
              </a:ext>
            </a:extLst>
          </p:cNvPr>
          <p:cNvSpPr txBox="1">
            <a:spLocks/>
          </p:cNvSpPr>
          <p:nvPr/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16D28ED-750A-4DFC-A458-38B3E79E4C7D}" type="datetime1">
              <a:rPr lang="en-US" sz="1400" smtClean="0">
                <a:solidFill>
                  <a:srgbClr val="0070C0"/>
                </a:solidFill>
                <a:ea typeface="Cambria" panose="02040503050406030204" pitchFamily="18" charset="0"/>
              </a:rPr>
              <a:pPr/>
              <a:t>12/19/2025</a:t>
            </a:fld>
            <a:endParaRPr lang="en-US" sz="1400" dirty="0">
              <a:solidFill>
                <a:srgbClr val="0070C0"/>
              </a:solidFill>
              <a:ea typeface="Cambria" panose="02040503050406030204" pitchFamily="18" charset="0"/>
            </a:endParaRPr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AB594B7C-2AB2-0ACA-B899-23D4C28B465B}"/>
              </a:ext>
            </a:extLst>
          </p:cNvPr>
          <p:cNvSpPr txBox="1">
            <a:spLocks/>
          </p:cNvSpPr>
          <p:nvPr/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ES" sz="1400" dirty="0">
                <a:solidFill>
                  <a:srgbClr val="0070C0"/>
                </a:solidFill>
                <a:ea typeface="Cambria" panose="02040503050406030204" pitchFamily="18" charset="0"/>
              </a:rPr>
              <a:t>EE/CPE584 </a:t>
            </a:r>
            <a:r>
              <a:rPr lang="es-ES" sz="1400" dirty="0" err="1">
                <a:solidFill>
                  <a:srgbClr val="0070C0"/>
                </a:solidFill>
                <a:ea typeface="Cambria" panose="02040503050406030204" pitchFamily="18" charset="0"/>
              </a:rPr>
              <a:t>Intro</a:t>
            </a:r>
            <a:r>
              <a:rPr lang="es-ES" sz="1400" dirty="0">
                <a:solidFill>
                  <a:srgbClr val="0070C0"/>
                </a:solidFill>
                <a:ea typeface="Cambria" panose="02040503050406030204" pitchFamily="18" charset="0"/>
              </a:rPr>
              <a:t> </a:t>
            </a:r>
            <a:r>
              <a:rPr lang="es-ES" sz="1400" dirty="0" err="1">
                <a:solidFill>
                  <a:srgbClr val="0070C0"/>
                </a:solidFill>
                <a:ea typeface="Cambria" panose="02040503050406030204" pitchFamily="18" charset="0"/>
              </a:rPr>
              <a:t>to</a:t>
            </a:r>
            <a:r>
              <a:rPr lang="es-ES" sz="1400" dirty="0">
                <a:solidFill>
                  <a:srgbClr val="0070C0"/>
                </a:solidFill>
                <a:ea typeface="Cambria" panose="02040503050406030204" pitchFamily="18" charset="0"/>
              </a:rPr>
              <a:t> VLSI</a:t>
            </a:r>
            <a:endParaRPr lang="en-US" sz="1400" dirty="0">
              <a:solidFill>
                <a:srgbClr val="0070C0"/>
              </a:solidFill>
              <a:ea typeface="Cambria" panose="02040503050406030204" pitchFamily="18" charset="0"/>
            </a:endParaRP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3E0F4BB6-15F8-C54E-1D57-4CDFEB9CDAFF}"/>
              </a:ext>
            </a:extLst>
          </p:cNvPr>
          <p:cNvSpPr txBox="1">
            <a:spLocks/>
          </p:cNvSpPr>
          <p:nvPr/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D08A6112-8193-45F5-863E-CC8218595965}" type="slidenum">
              <a:rPr lang="en-US" sz="1400" smtClean="0">
                <a:solidFill>
                  <a:srgbClr val="0070C0"/>
                </a:solidFill>
                <a:ea typeface="Cambria" panose="02040503050406030204" pitchFamily="18" charset="0"/>
              </a:rPr>
              <a:pPr algn="r"/>
              <a:t>50</a:t>
            </a:fld>
            <a:endParaRPr lang="en-US" sz="1400" dirty="0">
              <a:solidFill>
                <a:srgbClr val="0070C0"/>
              </a:solidFill>
              <a:ea typeface="Cambria" panose="02040503050406030204" pitchFamily="18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FB16356-E406-FD1D-B22D-EAF70AEB3284}"/>
              </a:ext>
            </a:extLst>
          </p:cNvPr>
          <p:cNvSpPr txBox="1"/>
          <p:nvPr/>
        </p:nvSpPr>
        <p:spPr>
          <a:xfrm>
            <a:off x="7662441" y="681034"/>
            <a:ext cx="4205094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800" b="1" dirty="0"/>
              <a:t>Keyword Highlighting: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800" i="0" u="none" strike="noStrike" baseline="0" dirty="0">
                <a:highlight>
                  <a:srgbClr val="00FF00"/>
                </a:highlight>
              </a:rPr>
              <a:t>Only in LEF files</a:t>
            </a:r>
          </a:p>
          <a:p>
            <a:r>
              <a:rPr lang="en-US" sz="1800" dirty="0"/>
              <a:t>No highlighting - In both script and LEF files</a:t>
            </a:r>
          </a:p>
        </p:txBody>
      </p:sp>
    </p:spTree>
    <p:extLst>
      <p:ext uri="{BB962C8B-B14F-4D97-AF65-F5344CB8AC3E}">
        <p14:creationId xmlns:p14="http://schemas.microsoft.com/office/powerpoint/2010/main" val="2063480436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992E7EE-4D24-4884-B919-D905FCEA1627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b="0" dirty="0">
                <a:latin typeface="+mn-lt"/>
              </a:rPr>
              <a:t>Updated Keyword Discrepancies</a:t>
            </a:r>
          </a:p>
        </p:txBody>
      </p:sp>
      <p:sp>
        <p:nvSpPr>
          <p:cNvPr id="44" name="Content Placeholder 1">
            <a:extLst>
              <a:ext uri="{FF2B5EF4-FFF2-40B4-BE49-F238E27FC236}">
                <a16:creationId xmlns:a16="http://schemas.microsoft.com/office/drawing/2014/main" id="{D2E4A8D4-31BD-4144-9070-934F1B008A6B}"/>
              </a:ext>
            </a:extLst>
          </p:cNvPr>
          <p:cNvSpPr txBox="1">
            <a:spLocks/>
          </p:cNvSpPr>
          <p:nvPr/>
        </p:nvSpPr>
        <p:spPr>
          <a:xfrm>
            <a:off x="324465" y="681036"/>
            <a:ext cx="10587949" cy="5788775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500" i="0" u="none" strike="noStrike" baseline="0" dirty="0"/>
              <a:t>[</a:t>
            </a:r>
            <a:r>
              <a:rPr lang="en-US" sz="1500" b="1" i="0" u="none" strike="noStrike" baseline="0" dirty="0"/>
              <a:t>OBS</a:t>
            </a:r>
            <a:endParaRPr lang="en-US" sz="1500" i="1" dirty="0"/>
          </a:p>
          <a:p>
            <a:pPr marL="233363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500" b="0" i="0" u="none" strike="noStrike" baseline="0" dirty="0"/>
              <a:t>{</a:t>
            </a:r>
            <a:r>
              <a:rPr lang="en-US" sz="1500" b="1" i="0" u="none" strike="noStrike" baseline="0" dirty="0"/>
              <a:t>LAYER</a:t>
            </a:r>
            <a:r>
              <a:rPr lang="en-US" sz="1500" b="0" i="0" u="none" strike="noStrike" baseline="0" dirty="0"/>
              <a:t> </a:t>
            </a:r>
            <a:r>
              <a:rPr lang="en-US" sz="1500" b="0" i="1" u="none" strike="noStrike" baseline="0" dirty="0" err="1"/>
              <a:t>layerName</a:t>
            </a:r>
            <a:endParaRPr lang="en-US" sz="1500" i="1" dirty="0"/>
          </a:p>
          <a:p>
            <a:pPr marL="45720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500" b="0" i="0" u="none" strike="noStrike" baseline="0" dirty="0"/>
              <a:t>[</a:t>
            </a:r>
            <a:r>
              <a:rPr lang="en-US" sz="1500" b="1" i="0" u="none" strike="noStrike" baseline="0" dirty="0">
                <a:highlight>
                  <a:srgbClr val="00FF00"/>
                </a:highlight>
              </a:rPr>
              <a:t>EXCEPTPGNET</a:t>
            </a:r>
            <a:r>
              <a:rPr lang="en-US" sz="1500" b="0" i="0" u="none" strike="noStrike" baseline="0" dirty="0"/>
              <a:t>]</a:t>
            </a:r>
          </a:p>
          <a:p>
            <a:pPr marL="45720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500" b="0" i="0" u="none" strike="noStrike" baseline="0" dirty="0"/>
              <a:t>[</a:t>
            </a:r>
            <a:r>
              <a:rPr lang="en-US" sz="1500" b="1" i="0" u="none" strike="noStrike" baseline="0" dirty="0">
                <a:highlight>
                  <a:srgbClr val="00FF00"/>
                </a:highlight>
              </a:rPr>
              <a:t>SPACING</a:t>
            </a:r>
            <a:r>
              <a:rPr lang="en-US" sz="1500" b="0" i="0" u="none" strike="noStrike" baseline="0" dirty="0"/>
              <a:t> </a:t>
            </a:r>
            <a:r>
              <a:rPr lang="en-US" sz="1500" b="0" i="1" u="none" strike="noStrike" baseline="0" dirty="0" err="1"/>
              <a:t>minSpacing</a:t>
            </a:r>
            <a:r>
              <a:rPr lang="en-US" sz="1500" b="0" i="1" u="none" strike="noStrike" baseline="0" dirty="0"/>
              <a:t> </a:t>
            </a:r>
            <a:r>
              <a:rPr lang="en-US" sz="1500" b="0" i="0" u="none" strike="noStrike" baseline="0" dirty="0"/>
              <a:t>| </a:t>
            </a:r>
            <a:r>
              <a:rPr lang="en-US" sz="1500" b="1" i="0" u="none" strike="noStrike" baseline="0" dirty="0">
                <a:highlight>
                  <a:srgbClr val="00FF00"/>
                </a:highlight>
              </a:rPr>
              <a:t>DESIGNRULEWIDTH</a:t>
            </a:r>
            <a:r>
              <a:rPr lang="en-US" sz="1500" b="0" i="0" u="none" strike="noStrike" baseline="0" dirty="0"/>
              <a:t> </a:t>
            </a:r>
            <a:r>
              <a:rPr lang="en-US" sz="1500" b="0" i="1" u="none" strike="noStrike" baseline="0" dirty="0"/>
              <a:t>value</a:t>
            </a:r>
            <a:r>
              <a:rPr lang="en-US" sz="1500" b="0" i="0" u="none" strike="noStrike" baseline="0" dirty="0"/>
              <a:t>] ;</a:t>
            </a:r>
          </a:p>
          <a:p>
            <a:pPr marL="45720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500" b="0" i="0" u="none" strike="noStrike" baseline="0" dirty="0"/>
              <a:t>[</a:t>
            </a:r>
            <a:r>
              <a:rPr lang="en-US" sz="1500" b="1" i="0" u="none" strike="noStrike" baseline="0" dirty="0">
                <a:highlight>
                  <a:srgbClr val="00FF00"/>
                </a:highlight>
              </a:rPr>
              <a:t>WIDTH</a:t>
            </a:r>
            <a:r>
              <a:rPr lang="en-US" sz="1500" b="0" i="0" u="none" strike="noStrike" baseline="0" dirty="0"/>
              <a:t> </a:t>
            </a:r>
            <a:r>
              <a:rPr lang="en-US" sz="1500" b="0" i="1" u="none" strike="noStrike" baseline="0" dirty="0" err="1"/>
              <a:t>width</a:t>
            </a:r>
            <a:r>
              <a:rPr lang="en-US" sz="1500" b="0" i="1" u="none" strike="noStrike" baseline="0" dirty="0"/>
              <a:t> </a:t>
            </a:r>
            <a:r>
              <a:rPr lang="en-US" sz="1500" b="0" i="0" u="none" strike="noStrike" baseline="0" dirty="0"/>
              <a:t>;]</a:t>
            </a:r>
          </a:p>
          <a:p>
            <a:pPr marL="45720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500" b="0" i="0" u="none" strike="noStrike" baseline="0" dirty="0"/>
              <a:t>{ </a:t>
            </a:r>
            <a:r>
              <a:rPr lang="en-US" sz="1500" b="1" i="0" u="none" strike="noStrike" baseline="0" dirty="0">
                <a:highlight>
                  <a:srgbClr val="00FF00"/>
                </a:highlight>
              </a:rPr>
              <a:t>PATH</a:t>
            </a:r>
            <a:r>
              <a:rPr lang="en-US" sz="1500" b="0" i="0" u="none" strike="noStrike" baseline="0" dirty="0"/>
              <a:t> </a:t>
            </a:r>
            <a:r>
              <a:rPr lang="en-US" sz="1500" b="0" i="1" u="none" strike="noStrike" baseline="0" dirty="0"/>
              <a:t>pt </a:t>
            </a:r>
            <a:r>
              <a:rPr lang="en-US" sz="1500" b="0" i="0" u="none" strike="noStrike" baseline="0" dirty="0"/>
              <a:t>... ;</a:t>
            </a:r>
          </a:p>
          <a:p>
            <a:pPr marL="45720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500" b="0" i="0" u="none" strike="noStrike" baseline="0" dirty="0"/>
              <a:t>| </a:t>
            </a:r>
            <a:r>
              <a:rPr lang="en-US" sz="1500" b="1" i="0" u="none" strike="noStrike" baseline="0" dirty="0">
                <a:highlight>
                  <a:srgbClr val="00FF00"/>
                </a:highlight>
              </a:rPr>
              <a:t>PATH</a:t>
            </a:r>
            <a:r>
              <a:rPr lang="en-US" sz="1500" b="0" i="0" u="none" strike="noStrike" baseline="0" dirty="0"/>
              <a:t> </a:t>
            </a:r>
            <a:r>
              <a:rPr lang="en-US" sz="1500" b="1" i="0" u="none" strike="noStrike" baseline="0" dirty="0">
                <a:highlight>
                  <a:srgbClr val="00FF00"/>
                </a:highlight>
              </a:rPr>
              <a:t>ITERATE</a:t>
            </a:r>
            <a:r>
              <a:rPr lang="en-US" sz="1500" b="0" i="0" u="none" strike="noStrike" baseline="0" dirty="0"/>
              <a:t> </a:t>
            </a:r>
            <a:r>
              <a:rPr lang="en-US" sz="1500" b="0" i="1" u="none" strike="noStrike" baseline="0" dirty="0"/>
              <a:t>pt </a:t>
            </a:r>
            <a:r>
              <a:rPr lang="en-US" sz="1500" b="0" i="0" u="none" strike="noStrike" baseline="0" dirty="0"/>
              <a:t>... </a:t>
            </a:r>
            <a:r>
              <a:rPr lang="en-US" sz="1500" b="0" i="1" u="none" strike="noStrike" baseline="0" dirty="0" err="1"/>
              <a:t>stepPattern</a:t>
            </a:r>
            <a:r>
              <a:rPr lang="en-US" sz="1500" b="0" i="1" u="none" strike="noStrike" baseline="0" dirty="0"/>
              <a:t> </a:t>
            </a:r>
            <a:r>
              <a:rPr lang="en-US" sz="1500" b="0" i="0" u="none" strike="noStrike" baseline="0" dirty="0"/>
              <a:t>;</a:t>
            </a:r>
          </a:p>
          <a:p>
            <a:pPr marL="45720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500" b="0" i="0" u="none" strike="noStrike" baseline="0" dirty="0"/>
              <a:t>| </a:t>
            </a:r>
            <a:r>
              <a:rPr lang="en-US" sz="1500" b="1" i="0" u="none" strike="noStrike" baseline="0" dirty="0"/>
              <a:t>RECT</a:t>
            </a:r>
            <a:r>
              <a:rPr lang="en-US" sz="1500" b="0" i="0" u="none" strike="noStrike" baseline="0" dirty="0"/>
              <a:t> </a:t>
            </a:r>
            <a:r>
              <a:rPr lang="en-US" sz="1500" b="0" i="1" u="none" strike="noStrike" baseline="0" dirty="0"/>
              <a:t>pt </a:t>
            </a:r>
            <a:r>
              <a:rPr lang="en-US" sz="1500" b="0" i="1" u="none" strike="noStrike" baseline="0" dirty="0" err="1"/>
              <a:t>pt</a:t>
            </a:r>
            <a:r>
              <a:rPr lang="en-US" sz="1500" b="0" i="1" u="none" strike="noStrike" baseline="0" dirty="0"/>
              <a:t> </a:t>
            </a:r>
            <a:r>
              <a:rPr lang="en-US" sz="1500" b="0" i="0" u="none" strike="noStrike" baseline="0" dirty="0"/>
              <a:t>;</a:t>
            </a:r>
          </a:p>
          <a:p>
            <a:pPr marL="45720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500" b="0" i="0" u="none" strike="noStrike" baseline="0" dirty="0"/>
              <a:t>| </a:t>
            </a:r>
            <a:r>
              <a:rPr lang="en-US" sz="1500" b="1" i="0" u="none" strike="noStrike" baseline="0" dirty="0"/>
              <a:t>RECT</a:t>
            </a:r>
            <a:r>
              <a:rPr lang="en-US" sz="1500" b="0" i="0" u="none" strike="noStrike" baseline="0" dirty="0"/>
              <a:t> </a:t>
            </a:r>
            <a:r>
              <a:rPr lang="en-US" sz="1500" b="1" i="0" u="none" strike="noStrike" baseline="0" dirty="0">
                <a:highlight>
                  <a:srgbClr val="00FF00"/>
                </a:highlight>
              </a:rPr>
              <a:t>ITERATE</a:t>
            </a:r>
            <a:r>
              <a:rPr lang="en-US" sz="1500" b="0" i="0" u="none" strike="noStrike" baseline="0" dirty="0"/>
              <a:t> </a:t>
            </a:r>
            <a:r>
              <a:rPr lang="en-US" sz="1500" b="0" i="1" u="none" strike="noStrike" baseline="0" dirty="0"/>
              <a:t>pt </a:t>
            </a:r>
            <a:r>
              <a:rPr lang="en-US" sz="1500" b="0" i="1" u="none" strike="noStrike" baseline="0" dirty="0" err="1"/>
              <a:t>pt</a:t>
            </a:r>
            <a:r>
              <a:rPr lang="en-US" sz="1500" b="0" i="1" u="none" strike="noStrike" baseline="0" dirty="0"/>
              <a:t> </a:t>
            </a:r>
            <a:r>
              <a:rPr lang="en-US" sz="1500" b="0" i="1" u="none" strike="noStrike" baseline="0" dirty="0" err="1"/>
              <a:t>stepPattern</a:t>
            </a:r>
            <a:r>
              <a:rPr lang="en-US" sz="1500" b="0" i="1" u="none" strike="noStrike" baseline="0" dirty="0"/>
              <a:t> </a:t>
            </a:r>
            <a:r>
              <a:rPr lang="en-US" sz="1500" b="0" i="0" u="none" strike="noStrike" baseline="0" dirty="0"/>
              <a:t>;</a:t>
            </a:r>
          </a:p>
          <a:p>
            <a:pPr marL="45720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500" b="0" i="0" u="none" strike="noStrike" baseline="0" dirty="0"/>
              <a:t>| </a:t>
            </a:r>
            <a:r>
              <a:rPr lang="en-US" sz="1500" b="1" i="0" u="none" strike="noStrike" baseline="0" dirty="0">
                <a:highlight>
                  <a:srgbClr val="00FF00"/>
                </a:highlight>
              </a:rPr>
              <a:t>POLYGON</a:t>
            </a:r>
            <a:r>
              <a:rPr lang="en-US" sz="1500" b="0" i="0" u="none" strike="noStrike" baseline="0" dirty="0"/>
              <a:t> </a:t>
            </a:r>
            <a:r>
              <a:rPr lang="en-US" sz="1500" b="0" i="1" u="none" strike="noStrike" baseline="0" dirty="0"/>
              <a:t>pt </a:t>
            </a:r>
            <a:r>
              <a:rPr lang="en-US" sz="1500" b="0" i="1" u="none" strike="noStrike" baseline="0" dirty="0" err="1"/>
              <a:t>pt</a:t>
            </a:r>
            <a:r>
              <a:rPr lang="en-US" sz="1500" b="0" i="1" u="none" strike="noStrike" baseline="0" dirty="0"/>
              <a:t> </a:t>
            </a:r>
            <a:r>
              <a:rPr lang="en-US" sz="1500" b="0" i="1" u="none" strike="noStrike" baseline="0" dirty="0" err="1"/>
              <a:t>pt</a:t>
            </a:r>
            <a:r>
              <a:rPr lang="en-US" sz="1500" b="0" i="1" u="none" strike="noStrike" baseline="0" dirty="0"/>
              <a:t> </a:t>
            </a:r>
            <a:r>
              <a:rPr lang="en-US" sz="1500" b="0" i="1" u="none" strike="noStrike" baseline="0" dirty="0" err="1"/>
              <a:t>pt</a:t>
            </a:r>
            <a:r>
              <a:rPr lang="en-US" sz="1500" b="0" i="1" u="none" strike="noStrike" baseline="0" dirty="0"/>
              <a:t> </a:t>
            </a:r>
            <a:r>
              <a:rPr lang="en-US" sz="1500" b="0" i="0" u="none" strike="noStrike" baseline="0" dirty="0"/>
              <a:t>... ;</a:t>
            </a:r>
          </a:p>
          <a:p>
            <a:pPr marL="45720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500" b="0" i="0" u="none" strike="noStrike" baseline="0" dirty="0"/>
              <a:t>| </a:t>
            </a:r>
            <a:r>
              <a:rPr lang="en-US" sz="1500" b="1" i="0" u="none" strike="noStrike" baseline="0" dirty="0">
                <a:highlight>
                  <a:srgbClr val="00FF00"/>
                </a:highlight>
              </a:rPr>
              <a:t>POLYGON</a:t>
            </a:r>
            <a:r>
              <a:rPr lang="en-US" sz="1500" b="0" i="0" u="none" strike="noStrike" baseline="0" dirty="0"/>
              <a:t> </a:t>
            </a:r>
            <a:r>
              <a:rPr lang="en-US" sz="1500" b="1" i="0" u="none" strike="noStrike" baseline="0" dirty="0">
                <a:highlight>
                  <a:srgbClr val="00FF00"/>
                </a:highlight>
              </a:rPr>
              <a:t>ITERATE</a:t>
            </a:r>
            <a:r>
              <a:rPr lang="en-US" sz="1500" b="0" i="0" u="none" strike="noStrike" baseline="0" dirty="0"/>
              <a:t> </a:t>
            </a:r>
            <a:r>
              <a:rPr lang="en-US" sz="1500" b="0" i="1" u="none" strike="noStrike" baseline="0" dirty="0"/>
              <a:t>pt </a:t>
            </a:r>
            <a:r>
              <a:rPr lang="en-US" sz="1500" b="0" i="1" u="none" strike="noStrike" baseline="0" dirty="0" err="1"/>
              <a:t>pt</a:t>
            </a:r>
            <a:r>
              <a:rPr lang="en-US" sz="1500" b="0" i="1" u="none" strike="noStrike" baseline="0" dirty="0"/>
              <a:t> </a:t>
            </a:r>
            <a:r>
              <a:rPr lang="en-US" sz="1500" b="0" i="1" u="none" strike="noStrike" baseline="0" dirty="0" err="1"/>
              <a:t>pt</a:t>
            </a:r>
            <a:r>
              <a:rPr lang="en-US" sz="1500" b="0" i="1" u="none" strike="noStrike" baseline="0" dirty="0"/>
              <a:t> </a:t>
            </a:r>
            <a:r>
              <a:rPr lang="en-US" sz="1500" b="0" i="1" u="none" strike="noStrike" baseline="0" dirty="0" err="1"/>
              <a:t>pt</a:t>
            </a:r>
            <a:r>
              <a:rPr lang="en-US" sz="1500" b="0" i="1" u="none" strike="noStrike" baseline="0" dirty="0"/>
              <a:t> </a:t>
            </a:r>
            <a:r>
              <a:rPr lang="en-US" sz="1500" b="0" i="0" u="none" strike="noStrike" baseline="0" dirty="0"/>
              <a:t>... </a:t>
            </a:r>
            <a:r>
              <a:rPr lang="en-US" sz="1500" b="0" i="1" u="none" strike="noStrike" baseline="0" dirty="0" err="1"/>
              <a:t>stepPattern</a:t>
            </a:r>
            <a:r>
              <a:rPr lang="en-US" sz="1500" b="0" i="1" u="none" strike="noStrike" baseline="0" dirty="0"/>
              <a:t> </a:t>
            </a:r>
            <a:r>
              <a:rPr lang="en-US" sz="1500" b="0" i="0" u="none" strike="noStrike" baseline="0" dirty="0"/>
              <a:t>;</a:t>
            </a:r>
          </a:p>
          <a:p>
            <a:pPr marL="45720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500" b="0" i="0" u="none" strike="noStrike" baseline="0" dirty="0"/>
              <a:t>} ...</a:t>
            </a:r>
          </a:p>
          <a:p>
            <a:pPr marL="233363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500" b="0" i="0" u="none" strike="noStrike" baseline="0" dirty="0"/>
              <a:t>| </a:t>
            </a:r>
            <a:r>
              <a:rPr lang="en-US" sz="1500" b="1" i="0" u="none" strike="noStrike" baseline="0" dirty="0">
                <a:highlight>
                  <a:srgbClr val="00FF00"/>
                </a:highlight>
              </a:rPr>
              <a:t>VIA</a:t>
            </a:r>
            <a:r>
              <a:rPr lang="en-US" sz="1500" b="0" i="0" u="none" strike="noStrike" baseline="0" dirty="0"/>
              <a:t> </a:t>
            </a:r>
            <a:r>
              <a:rPr lang="en-US" sz="1500" b="0" i="1" u="none" strike="noStrike" baseline="0" dirty="0"/>
              <a:t>pt </a:t>
            </a:r>
            <a:r>
              <a:rPr lang="en-US" sz="1500" b="0" i="1" u="none" strike="noStrike" baseline="0" dirty="0" err="1"/>
              <a:t>viaName</a:t>
            </a:r>
            <a:r>
              <a:rPr lang="en-US" sz="1500" b="0" i="1" u="none" strike="noStrike" baseline="0" dirty="0"/>
              <a:t> </a:t>
            </a:r>
            <a:r>
              <a:rPr lang="en-US" sz="1500" b="0" i="0" u="none" strike="noStrike" baseline="0" dirty="0"/>
              <a:t>;</a:t>
            </a:r>
          </a:p>
          <a:p>
            <a:pPr marL="233363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500" b="0" i="0" u="none" strike="noStrike" baseline="0" dirty="0"/>
              <a:t>| </a:t>
            </a:r>
            <a:r>
              <a:rPr lang="en-US" sz="1500" b="1" i="0" u="none" strike="noStrike" baseline="0" dirty="0">
                <a:highlight>
                  <a:srgbClr val="00FF00"/>
                </a:highlight>
              </a:rPr>
              <a:t>VIA</a:t>
            </a:r>
            <a:r>
              <a:rPr lang="en-US" sz="1500" b="0" i="0" u="none" strike="noStrike" baseline="0" dirty="0"/>
              <a:t> </a:t>
            </a:r>
            <a:r>
              <a:rPr lang="en-US" sz="1500" b="1" i="0" u="none" strike="noStrike" baseline="0" dirty="0">
                <a:highlight>
                  <a:srgbClr val="00FF00"/>
                </a:highlight>
              </a:rPr>
              <a:t>ITERATE</a:t>
            </a:r>
            <a:r>
              <a:rPr lang="en-US" sz="1500" b="0" i="0" u="none" strike="noStrike" baseline="0" dirty="0"/>
              <a:t> </a:t>
            </a:r>
            <a:r>
              <a:rPr lang="en-US" sz="1500" b="0" i="1" u="none" strike="noStrike" baseline="0" dirty="0"/>
              <a:t>pt </a:t>
            </a:r>
            <a:r>
              <a:rPr lang="en-US" sz="1500" b="0" i="1" u="none" strike="noStrike" baseline="0" dirty="0" err="1"/>
              <a:t>viaName</a:t>
            </a:r>
            <a:r>
              <a:rPr lang="en-US" sz="1500" b="0" i="1" u="none" strike="noStrike" baseline="0" dirty="0"/>
              <a:t> </a:t>
            </a:r>
            <a:r>
              <a:rPr lang="en-US" sz="1500" b="0" i="1" u="none" strike="noStrike" baseline="0" dirty="0" err="1"/>
              <a:t>stepPattern</a:t>
            </a:r>
            <a:r>
              <a:rPr lang="en-US" sz="1500" b="0" i="1" u="none" strike="noStrike" baseline="0" dirty="0"/>
              <a:t> </a:t>
            </a:r>
            <a:r>
              <a:rPr lang="en-US" sz="1500" b="0" i="0" u="none" strike="noStrike" baseline="0" dirty="0"/>
              <a:t>;</a:t>
            </a:r>
          </a:p>
          <a:p>
            <a:pPr marL="233363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500" b="0" i="0" u="none" strike="noStrike" baseline="0" dirty="0"/>
              <a:t>} ... 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500" b="1" i="0" u="none" strike="noStrike" baseline="0" dirty="0"/>
              <a:t>END</a:t>
            </a:r>
            <a:r>
              <a:rPr lang="en-US" sz="1500" b="0" u="none" strike="noStrike" baseline="0" dirty="0"/>
              <a:t>]</a:t>
            </a:r>
            <a:endParaRPr lang="en-US" sz="1500" dirty="0"/>
          </a:p>
        </p:txBody>
      </p:sp>
      <p:sp>
        <p:nvSpPr>
          <p:cNvPr id="2" name="Date Placeholder 3">
            <a:extLst>
              <a:ext uri="{FF2B5EF4-FFF2-40B4-BE49-F238E27FC236}">
                <a16:creationId xmlns:a16="http://schemas.microsoft.com/office/drawing/2014/main" id="{363ADCB8-20C0-4493-DD12-B3BB64D49654}"/>
              </a:ext>
            </a:extLst>
          </p:cNvPr>
          <p:cNvSpPr txBox="1">
            <a:spLocks/>
          </p:cNvSpPr>
          <p:nvPr/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16D28ED-750A-4DFC-A458-38B3E79E4C7D}" type="datetime1">
              <a:rPr lang="en-US" sz="1400" smtClean="0">
                <a:solidFill>
                  <a:srgbClr val="0070C0"/>
                </a:solidFill>
                <a:ea typeface="Cambria" panose="02040503050406030204" pitchFamily="18" charset="0"/>
              </a:rPr>
              <a:pPr/>
              <a:t>12/19/2025</a:t>
            </a:fld>
            <a:endParaRPr lang="en-US" sz="1400" dirty="0">
              <a:solidFill>
                <a:srgbClr val="0070C0"/>
              </a:solidFill>
              <a:ea typeface="Cambria" panose="02040503050406030204" pitchFamily="18" charset="0"/>
            </a:endParaRPr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0302E2F8-49F7-30B4-0335-A3F727BE1D27}"/>
              </a:ext>
            </a:extLst>
          </p:cNvPr>
          <p:cNvSpPr txBox="1">
            <a:spLocks/>
          </p:cNvSpPr>
          <p:nvPr/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ES" sz="1400" dirty="0">
                <a:solidFill>
                  <a:srgbClr val="0070C0"/>
                </a:solidFill>
                <a:ea typeface="Cambria" panose="02040503050406030204" pitchFamily="18" charset="0"/>
              </a:rPr>
              <a:t>EE/CPE584 </a:t>
            </a:r>
            <a:r>
              <a:rPr lang="es-ES" sz="1400" dirty="0" err="1">
                <a:solidFill>
                  <a:srgbClr val="0070C0"/>
                </a:solidFill>
                <a:ea typeface="Cambria" panose="02040503050406030204" pitchFamily="18" charset="0"/>
              </a:rPr>
              <a:t>Intro</a:t>
            </a:r>
            <a:r>
              <a:rPr lang="es-ES" sz="1400" dirty="0">
                <a:solidFill>
                  <a:srgbClr val="0070C0"/>
                </a:solidFill>
                <a:ea typeface="Cambria" panose="02040503050406030204" pitchFamily="18" charset="0"/>
              </a:rPr>
              <a:t> </a:t>
            </a:r>
            <a:r>
              <a:rPr lang="es-ES" sz="1400" dirty="0" err="1">
                <a:solidFill>
                  <a:srgbClr val="0070C0"/>
                </a:solidFill>
                <a:ea typeface="Cambria" panose="02040503050406030204" pitchFamily="18" charset="0"/>
              </a:rPr>
              <a:t>to</a:t>
            </a:r>
            <a:r>
              <a:rPr lang="es-ES" sz="1400" dirty="0">
                <a:solidFill>
                  <a:srgbClr val="0070C0"/>
                </a:solidFill>
                <a:ea typeface="Cambria" panose="02040503050406030204" pitchFamily="18" charset="0"/>
              </a:rPr>
              <a:t> VLSI</a:t>
            </a:r>
            <a:endParaRPr lang="en-US" sz="1400" dirty="0">
              <a:solidFill>
                <a:srgbClr val="0070C0"/>
              </a:solidFill>
              <a:ea typeface="Cambria" panose="02040503050406030204" pitchFamily="18" charset="0"/>
            </a:endParaRP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3AB16582-90B7-8DC7-F9AB-5606412766CF}"/>
              </a:ext>
            </a:extLst>
          </p:cNvPr>
          <p:cNvSpPr txBox="1">
            <a:spLocks/>
          </p:cNvSpPr>
          <p:nvPr/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D08A6112-8193-45F5-863E-CC8218595965}" type="slidenum">
              <a:rPr lang="en-US" sz="1400" smtClean="0">
                <a:solidFill>
                  <a:srgbClr val="0070C0"/>
                </a:solidFill>
                <a:ea typeface="Cambria" panose="02040503050406030204" pitchFamily="18" charset="0"/>
              </a:rPr>
              <a:pPr algn="r"/>
              <a:t>51</a:t>
            </a:fld>
            <a:endParaRPr lang="en-US" sz="1400" dirty="0">
              <a:solidFill>
                <a:srgbClr val="0070C0"/>
              </a:solidFill>
              <a:ea typeface="Cambria" panose="02040503050406030204" pitchFamily="18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6791B45-4F0E-7431-4A49-6E86BEED26C9}"/>
              </a:ext>
            </a:extLst>
          </p:cNvPr>
          <p:cNvSpPr txBox="1"/>
          <p:nvPr/>
        </p:nvSpPr>
        <p:spPr>
          <a:xfrm>
            <a:off x="7662441" y="681034"/>
            <a:ext cx="4205094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800" b="1" dirty="0"/>
              <a:t>Keyword Highlighting: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800" i="0" u="none" strike="noStrike" baseline="0" dirty="0">
                <a:highlight>
                  <a:srgbClr val="00FF00"/>
                </a:highlight>
              </a:rPr>
              <a:t>Only in LEF files</a:t>
            </a:r>
          </a:p>
          <a:p>
            <a:r>
              <a:rPr lang="en-US" sz="1800" dirty="0"/>
              <a:t>No highlighting - In both script and LEF files</a:t>
            </a:r>
          </a:p>
        </p:txBody>
      </p:sp>
    </p:spTree>
    <p:extLst>
      <p:ext uri="{BB962C8B-B14F-4D97-AF65-F5344CB8AC3E}">
        <p14:creationId xmlns:p14="http://schemas.microsoft.com/office/powerpoint/2010/main" val="1449229413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B7E7EE-E19D-C5DF-2118-9B1081C72D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Content Placeholder 2">
            <a:extLst>
              <a:ext uri="{FF2B5EF4-FFF2-40B4-BE49-F238E27FC236}">
                <a16:creationId xmlns:a16="http://schemas.microsoft.com/office/drawing/2014/main" id="{3F13052E-A0E0-45E1-3927-4150988D75CF}"/>
              </a:ext>
            </a:extLst>
          </p:cNvPr>
          <p:cNvSpPr txBox="1">
            <a:spLocks/>
          </p:cNvSpPr>
          <p:nvPr/>
        </p:nvSpPr>
        <p:spPr>
          <a:xfrm>
            <a:off x="625375" y="1122362"/>
            <a:ext cx="11226800" cy="461327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dirty="0">
                <a:ea typeface="Cambria" panose="02040503050406030204" pitchFamily="18" charset="0"/>
              </a:rPr>
              <a:t>Fallback patterns used for Cut and Routing layers:</a:t>
            </a:r>
            <a:br>
              <a:rPr lang="en-US" dirty="0">
                <a:ea typeface="Cambria" panose="02040503050406030204" pitchFamily="18" charset="0"/>
              </a:rPr>
            </a:br>
            <a:endParaRPr lang="en-US" dirty="0">
              <a:ea typeface="Cambria" panose="02040503050406030204" pitchFamily="18" charset="0"/>
            </a:endParaRPr>
          </a:p>
          <a:p>
            <a:endParaRPr lang="en-US" dirty="0">
              <a:ea typeface="Cambria" panose="02040503050406030204" pitchFamily="18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US" dirty="0">
              <a:ea typeface="Cambria" panose="02040503050406030204" pitchFamily="18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US" dirty="0">
              <a:ea typeface="Cambria" panose="02040503050406030204" pitchFamily="18" charset="0"/>
            </a:endParaRP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A00BA891-9CC3-3186-1528-ACFDCFEBD16A}"/>
              </a:ext>
            </a:extLst>
          </p:cNvPr>
          <p:cNvSpPr txBox="1">
            <a:spLocks/>
          </p:cNvSpPr>
          <p:nvPr/>
        </p:nvSpPr>
        <p:spPr>
          <a:xfrm>
            <a:off x="482600" y="1354931"/>
            <a:ext cx="11226800" cy="461327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br>
              <a:rPr lang="en-US">
                <a:ea typeface="Cambria" panose="02040503050406030204" pitchFamily="18" charset="0"/>
              </a:rPr>
            </a:br>
            <a:endParaRPr lang="en-US">
              <a:ea typeface="Cambria" panose="02040503050406030204" pitchFamily="18" charset="0"/>
            </a:endParaRPr>
          </a:p>
          <a:p>
            <a:endParaRPr lang="en-US">
              <a:ea typeface="Cambria" panose="02040503050406030204" pitchFamily="18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US">
              <a:ea typeface="Cambria" panose="02040503050406030204" pitchFamily="18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US">
              <a:ea typeface="Cambria" panose="02040503050406030204" pitchFamily="18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4007B4F-30BC-07E8-423F-7F90FD31FB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9368"/>
            <a:ext cx="10515600" cy="1325563"/>
          </a:xfrm>
        </p:spPr>
        <p:txBody>
          <a:bodyPr>
            <a:normAutofit/>
          </a:bodyPr>
          <a:lstStyle/>
          <a:p>
            <a:r>
              <a:rPr lang="en-US" sz="4000">
                <a:solidFill>
                  <a:srgbClr val="0070C0"/>
                </a:solidFill>
                <a:latin typeface="+mn-lt"/>
                <a:ea typeface="Cambria" panose="02040503050406030204" pitchFamily="18" charset="0"/>
              </a:rPr>
              <a:t>VIA Obstructions Fallback Patterns Part 1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B2F7D31-A686-5E8D-291E-0CC07CF62C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6D28ED-750A-4DFC-A458-38B3E79E4C7D}" type="datetime1">
              <a:rPr lang="en-US" sz="1400" smtClean="0">
                <a:solidFill>
                  <a:srgbClr val="0070C0"/>
                </a:solidFill>
                <a:ea typeface="Cambria" panose="02040503050406030204" pitchFamily="18" charset="0"/>
              </a:rPr>
              <a:t>12/19/2025</a:t>
            </a:fld>
            <a:endParaRPr lang="en-US" sz="1400">
              <a:solidFill>
                <a:srgbClr val="0070C0"/>
              </a:solidFill>
              <a:ea typeface="Cambria" panose="02040503050406030204" pitchFamily="18" charset="0"/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3B93AC8-9353-EA25-020B-F6577FB799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 sz="1400">
                <a:solidFill>
                  <a:srgbClr val="0070C0"/>
                </a:solidFill>
                <a:ea typeface="Cambria" panose="02040503050406030204" pitchFamily="18" charset="0"/>
              </a:rPr>
              <a:t>EE/CPE584 </a:t>
            </a:r>
            <a:r>
              <a:rPr lang="es-ES" sz="1400" err="1">
                <a:solidFill>
                  <a:srgbClr val="0070C0"/>
                </a:solidFill>
                <a:ea typeface="Cambria" panose="02040503050406030204" pitchFamily="18" charset="0"/>
              </a:rPr>
              <a:t>Intro</a:t>
            </a:r>
            <a:r>
              <a:rPr lang="es-ES" sz="1400">
                <a:solidFill>
                  <a:srgbClr val="0070C0"/>
                </a:solidFill>
                <a:ea typeface="Cambria" panose="02040503050406030204" pitchFamily="18" charset="0"/>
              </a:rPr>
              <a:t> </a:t>
            </a:r>
            <a:r>
              <a:rPr lang="es-ES" sz="1400" err="1">
                <a:solidFill>
                  <a:srgbClr val="0070C0"/>
                </a:solidFill>
                <a:ea typeface="Cambria" panose="02040503050406030204" pitchFamily="18" charset="0"/>
              </a:rPr>
              <a:t>to</a:t>
            </a:r>
            <a:r>
              <a:rPr lang="es-ES" sz="1400">
                <a:solidFill>
                  <a:srgbClr val="0070C0"/>
                </a:solidFill>
                <a:ea typeface="Cambria" panose="02040503050406030204" pitchFamily="18" charset="0"/>
              </a:rPr>
              <a:t> VLSI</a:t>
            </a:r>
            <a:endParaRPr lang="en-US" sz="1400">
              <a:solidFill>
                <a:srgbClr val="0070C0"/>
              </a:solidFill>
              <a:ea typeface="Cambria" panose="02040503050406030204" pitchFamily="18" charset="0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68590B2-E321-4794-B4FF-872516D74A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8A6112-8193-45F5-863E-CC8218595965}" type="slidenum">
              <a:rPr lang="en-US" sz="1400" smtClean="0">
                <a:solidFill>
                  <a:srgbClr val="0070C0"/>
                </a:solidFill>
                <a:ea typeface="Cambria" panose="02040503050406030204" pitchFamily="18" charset="0"/>
              </a:rPr>
              <a:t>52</a:t>
            </a:fld>
            <a:endParaRPr lang="en-US" sz="1400">
              <a:solidFill>
                <a:srgbClr val="0070C0"/>
              </a:solidFill>
              <a:ea typeface="Cambria" panose="02040503050406030204" pitchFamily="18" charset="0"/>
            </a:endParaRPr>
          </a:p>
        </p:txBody>
      </p:sp>
      <p:graphicFrame>
        <p:nvGraphicFramePr>
          <p:cNvPr id="35" name="Table 34">
            <a:extLst>
              <a:ext uri="{FF2B5EF4-FFF2-40B4-BE49-F238E27FC236}">
                <a16:creationId xmlns:a16="http://schemas.microsoft.com/office/drawing/2014/main" id="{1488C6D1-D0E3-9E83-65EB-94BAC3D8DCE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47493592"/>
              </p:ext>
            </p:extLst>
          </p:nvPr>
        </p:nvGraphicFramePr>
        <p:xfrm>
          <a:off x="838200" y="1794709"/>
          <a:ext cx="4065338" cy="345760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2669">
                  <a:extLst>
                    <a:ext uri="{9D8B030D-6E8A-4147-A177-3AD203B41FA5}">
                      <a16:colId xmlns:a16="http://schemas.microsoft.com/office/drawing/2014/main" val="2151172242"/>
                    </a:ext>
                  </a:extLst>
                </a:gridCol>
                <a:gridCol w="2032669">
                  <a:extLst>
                    <a:ext uri="{9D8B030D-6E8A-4147-A177-3AD203B41FA5}">
                      <a16:colId xmlns:a16="http://schemas.microsoft.com/office/drawing/2014/main" val="9102899"/>
                    </a:ext>
                  </a:extLst>
                </a:gridCol>
              </a:tblGrid>
              <a:tr h="379494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+mn-lt"/>
                          <a:ea typeface="Cambria" panose="02040503050406030204" pitchFamily="18" charset="0"/>
                        </a:rPr>
                        <a:t>Cut Pattern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latin typeface="+mn-lt"/>
                          <a:ea typeface="Cambria" panose="02040503050406030204" pitchFamily="18" charset="0"/>
                        </a:rPr>
                        <a:t>Example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97385426"/>
                  </a:ext>
                </a:extLst>
              </a:tr>
              <a:tr h="384764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+mn-lt"/>
                          <a:ea typeface="Cambria" panose="02040503050406030204" pitchFamily="18" charset="0"/>
                        </a:rPr>
                        <a:t>/^VI\d*$/</a:t>
                      </a:r>
                      <a:r>
                        <a:rPr lang="en-US" dirty="0" err="1">
                          <a:latin typeface="+mn-lt"/>
                          <a:ea typeface="Cambria" panose="02040503050406030204" pitchFamily="18" charset="0"/>
                        </a:rPr>
                        <a:t>i</a:t>
                      </a:r>
                      <a:endParaRPr lang="en-US" dirty="0">
                        <a:latin typeface="+mn-lt"/>
                        <a:ea typeface="Cambria" panose="020405030504060302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latin typeface="+mn-lt"/>
                          <a:ea typeface="Cambria" panose="02040503050406030204" pitchFamily="18" charset="0"/>
                        </a:rPr>
                        <a:t>VI, VI1, VI2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88105209"/>
                  </a:ext>
                </a:extLst>
              </a:tr>
              <a:tr h="384764"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latin typeface="+mn-lt"/>
                          <a:ea typeface="Cambria" panose="02040503050406030204" pitchFamily="18" charset="0"/>
                        </a:rPr>
                        <a:t>/^VIA\d*$/</a:t>
                      </a:r>
                      <a:r>
                        <a:rPr lang="en-US" err="1">
                          <a:latin typeface="+mn-lt"/>
                          <a:ea typeface="Cambria" panose="02040503050406030204" pitchFamily="18" charset="0"/>
                        </a:rPr>
                        <a:t>i</a:t>
                      </a:r>
                      <a:endParaRPr lang="en-US">
                        <a:latin typeface="+mn-lt"/>
                        <a:ea typeface="Cambria" panose="020405030504060302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+mn-lt"/>
                          <a:ea typeface="Cambria" panose="02040503050406030204" pitchFamily="18" charset="0"/>
                        </a:rPr>
                        <a:t>VIA, VIA1, VIA2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52629011"/>
                  </a:ext>
                </a:extLst>
              </a:tr>
              <a:tr h="384764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+mn-lt"/>
                          <a:ea typeface="Cambria" panose="02040503050406030204" pitchFamily="18" charset="0"/>
                        </a:rPr>
                        <a:t>/^V\d+$/</a:t>
                      </a:r>
                      <a:r>
                        <a:rPr lang="en-US" dirty="0" err="1">
                          <a:latin typeface="+mn-lt"/>
                          <a:ea typeface="Cambria" panose="02040503050406030204" pitchFamily="18" charset="0"/>
                        </a:rPr>
                        <a:t>i</a:t>
                      </a:r>
                      <a:endParaRPr lang="en-US" dirty="0">
                        <a:latin typeface="+mn-lt"/>
                        <a:ea typeface="Cambria" panose="020405030504060302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+mn-lt"/>
                          <a:ea typeface="Cambria" panose="02040503050406030204" pitchFamily="18" charset="0"/>
                        </a:rPr>
                        <a:t>V1, V2, V12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05128961"/>
                  </a:ext>
                </a:extLst>
              </a:tr>
              <a:tr h="384764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+mn-lt"/>
                          <a:ea typeface="Cambria" panose="02040503050406030204" pitchFamily="18" charset="0"/>
                        </a:rPr>
                        <a:t>/^CUT\d*$/</a:t>
                      </a:r>
                      <a:r>
                        <a:rPr lang="en-US" dirty="0" err="1">
                          <a:latin typeface="+mn-lt"/>
                          <a:ea typeface="Cambria" panose="02040503050406030204" pitchFamily="18" charset="0"/>
                        </a:rPr>
                        <a:t>i</a:t>
                      </a:r>
                      <a:endParaRPr lang="en-US" dirty="0">
                        <a:latin typeface="+mn-lt"/>
                        <a:ea typeface="Cambria" panose="020405030504060302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latin typeface="+mn-lt"/>
                          <a:ea typeface="Cambria" panose="02040503050406030204" pitchFamily="18" charset="0"/>
                        </a:rPr>
                        <a:t>CUT, CUT1, CUT2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62737332"/>
                  </a:ext>
                </a:extLst>
              </a:tr>
              <a:tr h="384764"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latin typeface="+mn-lt"/>
                          <a:ea typeface="Cambria" panose="02040503050406030204" pitchFamily="18" charset="0"/>
                        </a:rPr>
                        <a:t>/^CONT$/</a:t>
                      </a:r>
                      <a:r>
                        <a:rPr lang="en-US" err="1">
                          <a:latin typeface="+mn-lt"/>
                          <a:ea typeface="Cambria" panose="02040503050406030204" pitchFamily="18" charset="0"/>
                        </a:rPr>
                        <a:t>i</a:t>
                      </a:r>
                      <a:endParaRPr lang="en-US">
                        <a:latin typeface="+mn-lt"/>
                        <a:ea typeface="Cambria" panose="020405030504060302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+mn-lt"/>
                          <a:ea typeface="Cambria" panose="02040503050406030204" pitchFamily="18" charset="0"/>
                        </a:rPr>
                        <a:t>CONT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22854442"/>
                  </a:ext>
                </a:extLst>
              </a:tr>
              <a:tr h="384764"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latin typeface="+mn-lt"/>
                          <a:ea typeface="Cambria" panose="02040503050406030204" pitchFamily="18" charset="0"/>
                        </a:rPr>
                        <a:t>/^MCON$/</a:t>
                      </a:r>
                      <a:r>
                        <a:rPr lang="en-US" err="1">
                          <a:latin typeface="+mn-lt"/>
                          <a:ea typeface="Cambria" panose="02040503050406030204" pitchFamily="18" charset="0"/>
                        </a:rPr>
                        <a:t>i</a:t>
                      </a:r>
                      <a:endParaRPr lang="en-US">
                        <a:latin typeface="+mn-lt"/>
                        <a:ea typeface="Cambria" panose="020405030504060302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+mn-lt"/>
                          <a:ea typeface="Cambria" panose="02040503050406030204" pitchFamily="18" charset="0"/>
                        </a:rPr>
                        <a:t>MCON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97099179"/>
                  </a:ext>
                </a:extLst>
              </a:tr>
              <a:tr h="384764"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latin typeface="+mn-lt"/>
                          <a:ea typeface="Cambria" panose="02040503050406030204" pitchFamily="18" charset="0"/>
                        </a:rPr>
                        <a:t>/^CONTACT$/</a:t>
                      </a:r>
                      <a:r>
                        <a:rPr lang="en-US" err="1">
                          <a:latin typeface="+mn-lt"/>
                          <a:ea typeface="Cambria" panose="02040503050406030204" pitchFamily="18" charset="0"/>
                        </a:rPr>
                        <a:t>i</a:t>
                      </a:r>
                      <a:endParaRPr lang="en-US">
                        <a:latin typeface="+mn-lt"/>
                        <a:ea typeface="Cambria" panose="020405030504060302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+mn-lt"/>
                          <a:ea typeface="Cambria" panose="02040503050406030204" pitchFamily="18" charset="0"/>
                        </a:rPr>
                        <a:t>CONTACT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59359865"/>
                  </a:ext>
                </a:extLst>
              </a:tr>
              <a:tr h="384764"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latin typeface="+mn-lt"/>
                          <a:ea typeface="Cambria" panose="02040503050406030204" pitchFamily="18" charset="0"/>
                        </a:rPr>
                        <a:t>/^CO$/</a:t>
                      </a:r>
                      <a:r>
                        <a:rPr lang="en-US" err="1">
                          <a:latin typeface="+mn-lt"/>
                          <a:ea typeface="Cambria" panose="02040503050406030204" pitchFamily="18" charset="0"/>
                        </a:rPr>
                        <a:t>i</a:t>
                      </a:r>
                      <a:endParaRPr lang="en-US">
                        <a:latin typeface="+mn-lt"/>
                        <a:ea typeface="Cambria" panose="020405030504060302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+mn-lt"/>
                          <a:ea typeface="Cambria" panose="02040503050406030204" pitchFamily="18" charset="0"/>
                        </a:rPr>
                        <a:t>CO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34469813"/>
                  </a:ext>
                </a:extLst>
              </a:tr>
            </a:tbl>
          </a:graphicData>
        </a:graphic>
      </p:graphicFrame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7FA4FD6F-7DA9-20AB-02F1-912E5E0E00C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27440005"/>
              </p:ext>
            </p:extLst>
          </p:nvPr>
        </p:nvGraphicFramePr>
        <p:xfrm>
          <a:off x="6402136" y="2112724"/>
          <a:ext cx="4951664" cy="2865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75832">
                  <a:extLst>
                    <a:ext uri="{9D8B030D-6E8A-4147-A177-3AD203B41FA5}">
                      <a16:colId xmlns:a16="http://schemas.microsoft.com/office/drawing/2014/main" val="568070680"/>
                    </a:ext>
                  </a:extLst>
                </a:gridCol>
                <a:gridCol w="2475832">
                  <a:extLst>
                    <a:ext uri="{9D8B030D-6E8A-4147-A177-3AD203B41FA5}">
                      <a16:colId xmlns:a16="http://schemas.microsoft.com/office/drawing/2014/main" val="16280918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+mn-lt"/>
                          <a:ea typeface="Cambria" panose="02040503050406030204" pitchFamily="18" charset="0"/>
                        </a:rPr>
                        <a:t>Routing Pattern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latin typeface="+mn-lt"/>
                          <a:ea typeface="Cambria" panose="02040503050406030204" pitchFamily="18" charset="0"/>
                        </a:rPr>
                        <a:t>Example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9696471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+mn-lt"/>
                          <a:ea typeface="Cambria" panose="02040503050406030204" pitchFamily="18" charset="0"/>
                        </a:rPr>
                        <a:t>/^ME\d+$/</a:t>
                      </a:r>
                      <a:r>
                        <a:rPr lang="en-US" dirty="0" err="1">
                          <a:latin typeface="+mn-lt"/>
                          <a:ea typeface="Cambria" panose="02040503050406030204" pitchFamily="18" charset="0"/>
                        </a:rPr>
                        <a:t>i</a:t>
                      </a:r>
                      <a:endParaRPr lang="en-US" dirty="0">
                        <a:latin typeface="+mn-lt"/>
                        <a:ea typeface="Cambria" panose="020405030504060302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latin typeface="+mn-lt"/>
                          <a:ea typeface="Cambria" panose="02040503050406030204" pitchFamily="18" charset="0"/>
                        </a:rPr>
                        <a:t>ME1, ME2, ME12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7566768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+mn-lt"/>
                          <a:ea typeface="Cambria" panose="02040503050406030204" pitchFamily="18" charset="0"/>
                        </a:rPr>
                        <a:t>/^MET\d+$/</a:t>
                      </a:r>
                      <a:r>
                        <a:rPr lang="en-US" dirty="0" err="1">
                          <a:latin typeface="+mn-lt"/>
                          <a:ea typeface="Cambria" panose="02040503050406030204" pitchFamily="18" charset="0"/>
                        </a:rPr>
                        <a:t>i</a:t>
                      </a:r>
                      <a:endParaRPr lang="en-US" dirty="0">
                        <a:latin typeface="+mn-lt"/>
                        <a:ea typeface="Cambria" panose="020405030504060302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latin typeface="+mn-lt"/>
                          <a:ea typeface="Cambria" panose="02040503050406030204" pitchFamily="18" charset="0"/>
                        </a:rPr>
                        <a:t>MET1, MET2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7761791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latin typeface="+mn-lt"/>
                          <a:ea typeface="Cambria" panose="02040503050406030204" pitchFamily="18" charset="0"/>
                        </a:rPr>
                        <a:t>/^METAL\d*$/</a:t>
                      </a:r>
                      <a:r>
                        <a:rPr lang="en-US" err="1">
                          <a:latin typeface="+mn-lt"/>
                          <a:ea typeface="Cambria" panose="02040503050406030204" pitchFamily="18" charset="0"/>
                        </a:rPr>
                        <a:t>i</a:t>
                      </a:r>
                      <a:endParaRPr lang="en-US">
                        <a:latin typeface="+mn-lt"/>
                        <a:ea typeface="Cambria" panose="020405030504060302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+mn-lt"/>
                          <a:ea typeface="Cambria" panose="02040503050406030204" pitchFamily="18" charset="0"/>
                        </a:rPr>
                        <a:t>METAL, METAL1, METAL2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6333881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latin typeface="+mn-lt"/>
                          <a:ea typeface="Cambria" panose="02040503050406030204" pitchFamily="18" charset="0"/>
                        </a:rPr>
                        <a:t>/^M\d+$/</a:t>
                      </a:r>
                      <a:r>
                        <a:rPr lang="en-US" err="1">
                          <a:latin typeface="+mn-lt"/>
                          <a:ea typeface="Cambria" panose="02040503050406030204" pitchFamily="18" charset="0"/>
                        </a:rPr>
                        <a:t>i</a:t>
                      </a:r>
                      <a:endParaRPr lang="en-US">
                        <a:latin typeface="+mn-lt"/>
                        <a:ea typeface="Cambria" panose="020405030504060302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+mn-lt"/>
                          <a:ea typeface="Cambria" panose="02040503050406030204" pitchFamily="18" charset="0"/>
                        </a:rPr>
                        <a:t>M1, M2, M9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6995360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latin typeface="+mn-lt"/>
                          <a:ea typeface="Cambria" panose="02040503050406030204" pitchFamily="18" charset="0"/>
                        </a:rPr>
                        <a:t>/^LI\d*$/</a:t>
                      </a:r>
                      <a:r>
                        <a:rPr lang="en-US" err="1">
                          <a:latin typeface="+mn-lt"/>
                          <a:ea typeface="Cambria" panose="02040503050406030204" pitchFamily="18" charset="0"/>
                        </a:rPr>
                        <a:t>i</a:t>
                      </a:r>
                      <a:endParaRPr lang="en-US">
                        <a:latin typeface="+mn-lt"/>
                        <a:ea typeface="Cambria" panose="020405030504060302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+mn-lt"/>
                          <a:ea typeface="Cambria" panose="02040503050406030204" pitchFamily="18" charset="0"/>
                        </a:rPr>
                        <a:t>LI, LI1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5763761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latin typeface="+mn-lt"/>
                          <a:ea typeface="Cambria" panose="02040503050406030204" pitchFamily="18" charset="0"/>
                        </a:rPr>
                        <a:t>/^AP\d*$/</a:t>
                      </a:r>
                      <a:r>
                        <a:rPr lang="en-US" err="1">
                          <a:latin typeface="+mn-lt"/>
                          <a:ea typeface="Cambria" panose="02040503050406030204" pitchFamily="18" charset="0"/>
                        </a:rPr>
                        <a:t>i</a:t>
                      </a:r>
                      <a:endParaRPr lang="en-US">
                        <a:latin typeface="+mn-lt"/>
                        <a:ea typeface="Cambria" panose="020405030504060302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+mn-lt"/>
                          <a:ea typeface="Cambria" panose="02040503050406030204" pitchFamily="18" charset="0"/>
                        </a:rPr>
                        <a:t>AP, AP1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3176610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204905492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D0E1B6-BCE2-7AC0-76DA-419666E5AD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Content Placeholder 2">
            <a:extLst>
              <a:ext uri="{FF2B5EF4-FFF2-40B4-BE49-F238E27FC236}">
                <a16:creationId xmlns:a16="http://schemas.microsoft.com/office/drawing/2014/main" id="{C3CA53F8-2794-576A-B53A-53BB9FB39B27}"/>
              </a:ext>
            </a:extLst>
          </p:cNvPr>
          <p:cNvSpPr txBox="1">
            <a:spLocks/>
          </p:cNvSpPr>
          <p:nvPr/>
        </p:nvSpPr>
        <p:spPr>
          <a:xfrm>
            <a:off x="625375" y="1122362"/>
            <a:ext cx="11226800" cy="461327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>
                <a:ea typeface="Cambria" panose="02040503050406030204" pitchFamily="18" charset="0"/>
              </a:rPr>
              <a:t>The warning comment if no TLEF file is passed:</a:t>
            </a:r>
          </a:p>
          <a:p>
            <a:pPr marL="0" indent="0">
              <a:buNone/>
            </a:pPr>
            <a:br>
              <a:rPr lang="en-US">
                <a:ea typeface="Cambria" panose="02040503050406030204" pitchFamily="18" charset="0"/>
              </a:rPr>
            </a:br>
            <a:endParaRPr lang="en-US">
              <a:ea typeface="Cambria" panose="02040503050406030204" pitchFamily="18" charset="0"/>
            </a:endParaRPr>
          </a:p>
          <a:p>
            <a:endParaRPr lang="en-US">
              <a:ea typeface="Cambria" panose="02040503050406030204" pitchFamily="18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US">
              <a:ea typeface="Cambria" panose="02040503050406030204" pitchFamily="18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US">
              <a:ea typeface="Cambria" panose="02040503050406030204" pitchFamily="18" charset="0"/>
            </a:endParaRP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D0D5FF4D-28E6-EE44-3744-E9ECD3704523}"/>
              </a:ext>
            </a:extLst>
          </p:cNvPr>
          <p:cNvSpPr txBox="1">
            <a:spLocks/>
          </p:cNvSpPr>
          <p:nvPr/>
        </p:nvSpPr>
        <p:spPr>
          <a:xfrm>
            <a:off x="482600" y="1354931"/>
            <a:ext cx="11226800" cy="461327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br>
              <a:rPr lang="en-US">
                <a:ea typeface="Cambria" panose="02040503050406030204" pitchFamily="18" charset="0"/>
              </a:rPr>
            </a:br>
            <a:endParaRPr lang="en-US">
              <a:ea typeface="Cambria" panose="02040503050406030204" pitchFamily="18" charset="0"/>
            </a:endParaRPr>
          </a:p>
          <a:p>
            <a:endParaRPr lang="en-US">
              <a:ea typeface="Cambria" panose="02040503050406030204" pitchFamily="18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US">
              <a:ea typeface="Cambria" panose="02040503050406030204" pitchFamily="18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US">
              <a:ea typeface="Cambria" panose="02040503050406030204" pitchFamily="18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C6BF744-BC10-DA40-EE31-B095BA674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9368"/>
            <a:ext cx="10515600" cy="1325563"/>
          </a:xfrm>
        </p:spPr>
        <p:txBody>
          <a:bodyPr>
            <a:normAutofit/>
          </a:bodyPr>
          <a:lstStyle/>
          <a:p>
            <a:r>
              <a:rPr lang="en-US" sz="4000">
                <a:solidFill>
                  <a:srgbClr val="0070C0"/>
                </a:solidFill>
                <a:latin typeface="+mn-lt"/>
                <a:ea typeface="Cambria" panose="02040503050406030204" pitchFamily="18" charset="0"/>
              </a:rPr>
              <a:t>VIA Obstructions Fallback Patterns Part 2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918F757-B699-A9F0-87A1-B87E1F7A08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6D28ED-750A-4DFC-A458-38B3E79E4C7D}" type="datetime1">
              <a:rPr lang="en-US" sz="1400" smtClean="0">
                <a:solidFill>
                  <a:srgbClr val="0070C0"/>
                </a:solidFill>
                <a:ea typeface="Cambria" panose="02040503050406030204" pitchFamily="18" charset="0"/>
              </a:rPr>
              <a:t>12/19/2025</a:t>
            </a:fld>
            <a:endParaRPr lang="en-US" sz="1400">
              <a:solidFill>
                <a:srgbClr val="0070C0"/>
              </a:solidFill>
              <a:ea typeface="Cambria" panose="02040503050406030204" pitchFamily="18" charset="0"/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05FA6A0-209C-29F7-5DCA-DB50F4BEE6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 sz="1400">
                <a:solidFill>
                  <a:srgbClr val="0070C0"/>
                </a:solidFill>
                <a:ea typeface="Cambria" panose="02040503050406030204" pitchFamily="18" charset="0"/>
              </a:rPr>
              <a:t>EE/CPE584 </a:t>
            </a:r>
            <a:r>
              <a:rPr lang="es-ES" sz="1400" err="1">
                <a:solidFill>
                  <a:srgbClr val="0070C0"/>
                </a:solidFill>
                <a:ea typeface="Cambria" panose="02040503050406030204" pitchFamily="18" charset="0"/>
              </a:rPr>
              <a:t>Intro</a:t>
            </a:r>
            <a:r>
              <a:rPr lang="es-ES" sz="1400">
                <a:solidFill>
                  <a:srgbClr val="0070C0"/>
                </a:solidFill>
                <a:ea typeface="Cambria" panose="02040503050406030204" pitchFamily="18" charset="0"/>
              </a:rPr>
              <a:t> </a:t>
            </a:r>
            <a:r>
              <a:rPr lang="es-ES" sz="1400" err="1">
                <a:solidFill>
                  <a:srgbClr val="0070C0"/>
                </a:solidFill>
                <a:ea typeface="Cambria" panose="02040503050406030204" pitchFamily="18" charset="0"/>
              </a:rPr>
              <a:t>to</a:t>
            </a:r>
            <a:r>
              <a:rPr lang="es-ES" sz="1400">
                <a:solidFill>
                  <a:srgbClr val="0070C0"/>
                </a:solidFill>
                <a:ea typeface="Cambria" panose="02040503050406030204" pitchFamily="18" charset="0"/>
              </a:rPr>
              <a:t> VLSI</a:t>
            </a:r>
            <a:endParaRPr lang="en-US" sz="1400">
              <a:solidFill>
                <a:srgbClr val="0070C0"/>
              </a:solidFill>
              <a:ea typeface="Cambria" panose="02040503050406030204" pitchFamily="18" charset="0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43AB881-81DF-0B7D-8A18-3587DE67EC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8A6112-8193-45F5-863E-CC8218595965}" type="slidenum">
              <a:rPr lang="en-US" sz="1400" smtClean="0">
                <a:solidFill>
                  <a:srgbClr val="0070C0"/>
                </a:solidFill>
                <a:ea typeface="Cambria" panose="02040503050406030204" pitchFamily="18" charset="0"/>
              </a:rPr>
              <a:t>53</a:t>
            </a:fld>
            <a:endParaRPr lang="en-US" sz="1400">
              <a:solidFill>
                <a:srgbClr val="0070C0"/>
              </a:solidFill>
              <a:ea typeface="Cambria" panose="02040503050406030204" pitchFamily="18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9BC7374C-7621-BF0F-D0AD-5689A641A77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2600" y="2783178"/>
            <a:ext cx="11155332" cy="7621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8366191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62</TotalTime>
  <Words>4594</Words>
  <Application>Microsoft Office PowerPoint</Application>
  <PresentationFormat>Widescreen</PresentationFormat>
  <Paragraphs>919</Paragraphs>
  <Slides>53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53</vt:i4>
      </vt:variant>
    </vt:vector>
  </HeadingPairs>
  <TitlesOfParts>
    <vt:vector size="61" baseType="lpstr">
      <vt:lpstr>Arial</vt:lpstr>
      <vt:lpstr>Aptos</vt:lpstr>
      <vt:lpstr>Wingdings</vt:lpstr>
      <vt:lpstr>Cambria</vt:lpstr>
      <vt:lpstr>Times New Roman</vt:lpstr>
      <vt:lpstr>Courier New</vt:lpstr>
      <vt:lpstr>Aptos Display</vt:lpstr>
      <vt:lpstr>Office Theme</vt:lpstr>
      <vt:lpstr>LEF Quality Assurance Tool</vt:lpstr>
      <vt:lpstr>PowerPoint Presentation</vt:lpstr>
      <vt:lpstr>PowerPoint Presentation</vt:lpstr>
      <vt:lpstr>PowerPoint Presentation</vt:lpstr>
      <vt:lpstr>PowerPoint Presentation</vt:lpstr>
      <vt:lpstr>Provided Script</vt:lpstr>
      <vt:lpstr>Script Command Lines</vt:lpstr>
      <vt:lpstr>Script Output</vt:lpstr>
      <vt:lpstr>Script Output</vt:lpstr>
      <vt:lpstr>PowerPoint Presentation</vt:lpstr>
      <vt:lpstr>PowerPoint Presentation</vt:lpstr>
      <vt:lpstr>Script Flowchart Part 1</vt:lpstr>
      <vt:lpstr>Script Flowchart Part 2</vt:lpstr>
      <vt:lpstr>Problem Statement</vt:lpstr>
      <vt:lpstr>LEF-LIB Compare</vt:lpstr>
      <vt:lpstr>Previous Script Outline</vt:lpstr>
      <vt:lpstr>Previous Script’s Error file showing Pins Missing Errors</vt:lpstr>
      <vt:lpstr>Cause of Issue for the Pin Missing Errors</vt:lpstr>
      <vt:lpstr>Solution to Issue for Pins Missing Errors</vt:lpstr>
      <vt:lpstr>Updated Script’s Error File after uppercase correction</vt:lpstr>
      <vt:lpstr>Previous Script Showed a lack of detail on why the liberty incorrect pin property failed</vt:lpstr>
      <vt:lpstr>Initial Implementations for Property Comparison  </vt:lpstr>
      <vt:lpstr>New Implementations</vt:lpstr>
      <vt:lpstr>New Implementation Flowchart</vt:lpstr>
      <vt:lpstr>New Implementation Flowchart</vt:lpstr>
      <vt:lpstr>New Implementation Flowchart</vt:lpstr>
      <vt:lpstr>New Implementation Flowchart</vt:lpstr>
      <vt:lpstr>New Implementation Flowchart</vt:lpstr>
      <vt:lpstr>New Implementation Error File</vt:lpstr>
      <vt:lpstr>VIA Obstructions</vt:lpstr>
      <vt:lpstr>VIA Obstructions</vt:lpstr>
      <vt:lpstr>VIA Obstructions TLEF file</vt:lpstr>
      <vt:lpstr>VIA Obstructions LEF file</vt:lpstr>
      <vt:lpstr>VIA Obstructions Flowchart Part 1</vt:lpstr>
      <vt:lpstr>VIA Obstructions Flowchart Part 2</vt:lpstr>
      <vt:lpstr>VIA Obstructions Output Part 1</vt:lpstr>
      <vt:lpstr>VIA Obstructions Output Part 2</vt:lpstr>
      <vt:lpstr>VIA Obstructions Output Part 3</vt:lpstr>
      <vt:lpstr>Code Readability</vt:lpstr>
      <vt:lpstr>PowerPoint Presentation</vt:lpstr>
      <vt:lpstr>PowerPoint Presentation</vt:lpstr>
      <vt:lpstr>Refactoring Impact</vt:lpstr>
      <vt:lpstr>Summary</vt:lpstr>
      <vt:lpstr>Possible Future Work</vt:lpstr>
      <vt:lpstr>PowerPoint Presentation</vt:lpstr>
      <vt:lpstr>Possible Future Work - SOURCE USER Syntax</vt:lpstr>
      <vt:lpstr>Possible Future Work - SI2 LEF/DEF APIs</vt:lpstr>
      <vt:lpstr>PowerPoint Presentation</vt:lpstr>
      <vt:lpstr>PowerPoint Presentation</vt:lpstr>
      <vt:lpstr>PowerPoint Presentation</vt:lpstr>
      <vt:lpstr>PowerPoint Presentation</vt:lpstr>
      <vt:lpstr>VIA Obstructions Fallback Patterns Part 1</vt:lpstr>
      <vt:lpstr>VIA Obstructions Fallback Patterns Part 2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Abrahim Hamdan</dc:creator>
  <cp:lastModifiedBy>Abrahim Hamdan</cp:lastModifiedBy>
  <cp:revision>5</cp:revision>
  <dcterms:created xsi:type="dcterms:W3CDTF">2025-12-19T15:10:35Z</dcterms:created>
  <dcterms:modified xsi:type="dcterms:W3CDTF">2025-12-19T16:46:18Z</dcterms:modified>
</cp:coreProperties>
</file>